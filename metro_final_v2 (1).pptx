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media/image5.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77" r:id="rId11"/>
    <p:sldId id="280" r:id="rId12"/>
    <p:sldId id="278" r:id="rId13"/>
    <p:sldId id="263" r:id="rId14"/>
    <p:sldId id="276" r:id="rId15"/>
    <p:sldId id="264" r:id="rId16"/>
    <p:sldId id="265" r:id="rId17"/>
    <p:sldId id="266" r:id="rId18"/>
    <p:sldId id="267" r:id="rId19"/>
    <p:sldId id="268" r:id="rId20"/>
    <p:sldId id="269" r:id="rId21"/>
    <p:sldId id="279" r:id="rId22"/>
    <p:sldId id="270" r:id="rId23"/>
    <p:sldId id="271" r:id="rId24"/>
    <p:sldId id="272" r:id="rId25"/>
    <p:sldId id="273" r:id="rId26"/>
    <p:sldId id="274" r:id="rId2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86" y="4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 TargetMode="Externa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5.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4.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8.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 TargetMode="External"/></Relationships>
</file>

<file path=ppt/charts/_rels/chart10.xml.rels><?xml version="1.0" encoding="UTF-8" standalone="yes"?>
<Relationships xmlns="http://schemas.openxmlformats.org/package/2006/relationships"><Relationship Id="rId1" Type="http://schemas.openxmlformats.org/officeDocument/2006/relationships/package" Target="../embeddings/Workbook7.xlsx"/></Relationships>
</file>

<file path=ppt/charts/_rels/chart1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package" Target="../embeddings/Workbook8.xlsx"/></Relationships>
</file>

<file path=ppt/charts/_rels/chart12.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0D1B2A"/>
                </a:solidFill>
                <a:latin typeface="Arial" panose="020B0604020202020204"/>
                <a:ea typeface="+mn-ea"/>
                <a:cs typeface="+mn-cs"/>
              </a:defRPr>
            </a:pPr>
            <a:r>
              <a:rPr lang="en-US" sz="1200" b="0" i="0" u="none" strike="noStrike">
                <a:solidFill>
                  <a:srgbClr val="0D1B2A"/>
                </a:solidFill>
                <a:latin typeface="Arial" panose="020B0604020202020204"/>
              </a:rPr>
              <a:t>Metro Punctuality Comparison (%)</a:t>
            </a:r>
            <a:endParaRPr lang="en-US" sz="1200" b="0" i="0" u="none" strike="noStrike">
              <a:solidFill>
                <a:srgbClr val="0D1B2A"/>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Punctuality %</c:v>
                </c:pt>
              </c:strCache>
            </c:strRef>
          </c:tx>
          <c:spPr>
            <a:solidFill>
              <a:srgbClr val="1A7FAD"/>
            </a:solidFill>
            <a:effectLst/>
          </c:spPr>
          <c:invertIfNegative val="0"/>
          <c:dPt>
            <c:idx val="0"/>
            <c:invertIfNegative val="0"/>
            <c:bubble3D val="0"/>
          </c:dPt>
          <c:dPt>
            <c:idx val="1"/>
            <c:invertIfNegative val="0"/>
            <c:bubble3D val="0"/>
            <c:spPr>
              <a:solidFill>
                <a:srgbClr val="2EB8E6"/>
              </a:solidFill>
              <a:effectLst/>
            </c:spPr>
          </c:dPt>
          <c:dPt>
            <c:idx val="2"/>
            <c:invertIfNegative val="0"/>
            <c:bubble3D val="0"/>
            <c:spPr>
              <a:solidFill>
                <a:srgbClr val="E8873A"/>
              </a:solidFill>
              <a:effectLst/>
            </c:spPr>
          </c:dPt>
          <c:dPt>
            <c:idx val="3"/>
            <c:invertIfNegative val="0"/>
            <c:bubble3D val="0"/>
            <c:spPr>
              <a:solidFill>
                <a:srgbClr val="27AE60"/>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1100" b="1" i="0" u="none" strike="noStrike" kern="1200" baseline="0">
                    <a:solidFill>
                      <a:srgbClr val="1E293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Nagpur Metro</c:v>
                </c:pt>
                <c:pt idx="1">
                  <c:v>Bangalore Metro</c:v>
                </c:pt>
                <c:pt idx="2">
                  <c:v>Delhi Metro</c:v>
                </c:pt>
                <c:pt idx="3">
                  <c:v>Tokyo Metro</c:v>
                </c:pt>
              </c:strCache>
            </c:strRef>
          </c:cat>
          <c:val>
            <c:numRef>
              <c:f>Sheet1!$B$2:$B$5</c:f>
              <c:numCache>
                <c:formatCode>General</c:formatCode>
                <c:ptCount val="4"/>
                <c:pt idx="0">
                  <c:v>90</c:v>
                </c:pt>
                <c:pt idx="1">
                  <c:v>92</c:v>
                </c:pt>
                <c:pt idx="2">
                  <c:v>95</c:v>
                </c:pt>
                <c:pt idx="3">
                  <c:v>98</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6474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min val="85"/>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16a48f93-b83b-4271-b62b-3e345b0b12dc}"/>
      </c:ext>
    </c:extLst>
  </c:chart>
  <c:spPr>
    <a:solidFill>
      <a:srgbClr val="FFFFFF"/>
    </a:solid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span"/>
    <c:showDLblsOverMax val="1"/>
    <c:extLst>
      <c:ext uri="{0b15fc19-7d7d-44ad-8c2d-2c3a37ce22c3}">
        <chartProps xmlns="https://web.wps.cn/et/2018/main" chartId="{2646142f-6397-4141-99bf-22d922988a37}"/>
      </c:ext>
    </c:extLst>
  </c:chart>
  <c:spPr>
    <a:solidFill>
      <a:srgbClr val="FFFFFF"/>
    </a:solid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lang="en-US"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p>
      </c:txPr>
    </c:title>
    <c:autoTitleDeleted val="0"/>
    <c:plotArea>
      <c:layout/>
      <c:barChart>
        <c:barDir val="col"/>
        <c:grouping val="clustered"/>
        <c:varyColors val="0"/>
        <c:ser>
          <c:idx val="0"/>
          <c:order val="0"/>
          <c:tx>
            <c:strRef>
              <c:f>Sheet1!$B$1</c:f>
              <c:strCache>
                <c:ptCount val="1"/>
                <c:pt idx="0">
                  <c:v>No of respondent(f)</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dLbls>
            <c:delete val="1"/>
          </c:dLbls>
          <c:cat>
            <c:strRef>
              <c:f>Sheet1!$A$2:$A$7</c:f>
              <c:strCache>
                <c:ptCount val="6"/>
                <c:pt idx="0">
                  <c:v>Education</c:v>
                </c:pt>
                <c:pt idx="1">
                  <c:v>Work/office</c:v>
                </c:pt>
                <c:pt idx="2">
                  <c:v>Leisure/personal work</c:v>
                </c:pt>
                <c:pt idx="3">
                  <c:v>Shopping</c:v>
                </c:pt>
                <c:pt idx="4">
                  <c:v>Missing/ Not answered</c:v>
                </c:pt>
                <c:pt idx="5">
                  <c:v>Total(N)</c:v>
                </c:pt>
              </c:strCache>
            </c:strRef>
          </c:cat>
          <c:val>
            <c:numRef>
              <c:f>Sheet1!$B$2:$B$7</c:f>
              <c:numCache>
                <c:formatCode>General</c:formatCode>
                <c:ptCount val="6"/>
                <c:pt idx="0">
                  <c:v>63</c:v>
                </c:pt>
                <c:pt idx="1">
                  <c:v>7</c:v>
                </c:pt>
                <c:pt idx="2">
                  <c:v>11</c:v>
                </c:pt>
                <c:pt idx="3">
                  <c:v>8</c:v>
                </c:pt>
                <c:pt idx="4">
                  <c:v>1</c:v>
                </c:pt>
                <c:pt idx="5">
                  <c:v>82</c:v>
                </c:pt>
              </c:numCache>
            </c:numRef>
          </c:val>
        </c:ser>
        <c:ser>
          <c:idx val="1"/>
          <c:order val="1"/>
          <c:tx>
            <c:strRef>
              <c:f>Sheet1!$C$1</c:f>
              <c:strCache>
                <c:ptCount val="1"/>
                <c:pt idx="0">
                  <c:v>Percentage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dLbls>
            <c:delete val="1"/>
          </c:dLbls>
          <c:cat>
            <c:strRef>
              <c:f>Sheet1!$A$2:$A$7</c:f>
              <c:strCache>
                <c:ptCount val="6"/>
                <c:pt idx="0">
                  <c:v>Education</c:v>
                </c:pt>
                <c:pt idx="1">
                  <c:v>Work/office</c:v>
                </c:pt>
                <c:pt idx="2">
                  <c:v>Leisure/personal work</c:v>
                </c:pt>
                <c:pt idx="3">
                  <c:v>Shopping</c:v>
                </c:pt>
                <c:pt idx="4">
                  <c:v>Missing/ Not answered</c:v>
                </c:pt>
                <c:pt idx="5">
                  <c:v>Total(N)</c:v>
                </c:pt>
              </c:strCache>
            </c:strRef>
          </c:cat>
          <c:val>
            <c:numRef>
              <c:f>Sheet1!$C$2:$C$7</c:f>
              <c:numCache>
                <c:formatCode>0.00%</c:formatCode>
                <c:ptCount val="6"/>
                <c:pt idx="0">
                  <c:v>0.768</c:v>
                </c:pt>
                <c:pt idx="1">
                  <c:v>0.085</c:v>
                </c:pt>
                <c:pt idx="2">
                  <c:v>0.098</c:v>
                </c:pt>
                <c:pt idx="3">
                  <c:v>0.037</c:v>
                </c:pt>
                <c:pt idx="4">
                  <c:v>0.012</c:v>
                </c:pt>
                <c:pt idx="5" c:formatCode="0%">
                  <c:v>1</c:v>
                </c:pt>
              </c:numCache>
            </c:numRef>
          </c:val>
        </c:ser>
        <c:dLbls>
          <c:showLegendKey val="0"/>
          <c:showVal val="0"/>
          <c:showCatName val="0"/>
          <c:showSerName val="0"/>
          <c:showPercent val="0"/>
          <c:showBubbleSize val="0"/>
        </c:dLbls>
        <c:gapWidth val="100"/>
        <c:overlap val="-24"/>
        <c:axId val="583595056"/>
        <c:axId val="583593808"/>
      </c:barChart>
      <c:catAx>
        <c:axId val="58359505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crossAx val="583593808"/>
        <c:crosses val="autoZero"/>
        <c:auto val="1"/>
        <c:lblAlgn val="ctr"/>
        <c:lblOffset val="100"/>
        <c:noMultiLvlLbl val="0"/>
      </c:catAx>
      <c:valAx>
        <c:axId val="58359380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crossAx val="58359505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p>
      </c:txPr>
    </c:legend>
    <c:plotVisOnly val="1"/>
    <c:dispBlanksAs val="gap"/>
    <c:showDLblsOverMax val="0"/>
    <c:extLst>
      <c:ext uri="{0b15fc19-7d7d-44ad-8c2d-2c3a37ce22c3}">
        <chartProps xmlns="https://web.wps.cn/et/2018/main" chartId="{ad243395-f087-4006-bae9-33154d89fd1b}"/>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Respondents</c:v>
                </c:pt>
              </c:strCache>
            </c:strRef>
          </c:tx>
          <c:spPr>
            <a:solidFill>
              <a:srgbClr val="2EB8E6"/>
            </a:solidFill>
            <a:effectLst/>
          </c:spPr>
          <c:invertIfNegative val="0"/>
          <c:dPt>
            <c:idx val="0"/>
            <c:invertIfNegative val="0"/>
            <c:bubble3D val="0"/>
          </c:dPt>
          <c:dPt>
            <c:idx val="1"/>
            <c:invertIfNegative val="0"/>
            <c:bubble3D val="0"/>
            <c:spPr>
              <a:solidFill>
                <a:srgbClr val="1A7FAD"/>
              </a:solidFill>
              <a:effectLst/>
            </c:spPr>
          </c:dPt>
          <c:dPt>
            <c:idx val="2"/>
            <c:invertIfNegative val="0"/>
            <c:bubble3D val="0"/>
            <c:spPr>
              <a:solidFill>
                <a:srgbClr val="0D1B2A"/>
              </a:solidFill>
              <a:effectLst/>
            </c:spPr>
          </c:dPt>
          <c:dPt>
            <c:idx val="3"/>
            <c:invertIfNegative val="0"/>
            <c:bubble3D val="0"/>
            <c:spPr>
              <a:solidFill>
                <a:srgbClr val="E8873A"/>
              </a:solidFill>
              <a:effectLst/>
            </c:spPr>
          </c:dPt>
          <c:dPt>
            <c:idx val="4"/>
            <c:invertIfNegative val="0"/>
            <c:bubble3D val="0"/>
            <c:spPr>
              <a:solidFill>
                <a:srgbClr val="9B59B6"/>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00000"/>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Below 15</c:v>
                </c:pt>
                <c:pt idx="1">
                  <c:v>15–20</c:v>
                </c:pt>
                <c:pt idx="2">
                  <c:v>21–30</c:v>
                </c:pt>
                <c:pt idx="3">
                  <c:v>31–40</c:v>
                </c:pt>
                <c:pt idx="4">
                  <c:v>41–50</c:v>
                </c:pt>
              </c:strCache>
            </c:strRef>
          </c:cat>
          <c:val>
            <c:numRef>
              <c:f>Sheet1!$B$2:$B$6</c:f>
              <c:numCache>
                <c:formatCode>General</c:formatCode>
                <c:ptCount val="5"/>
                <c:pt idx="0">
                  <c:v>1</c:v>
                </c:pt>
                <c:pt idx="1">
                  <c:v>58</c:v>
                </c:pt>
                <c:pt idx="2">
                  <c:v>18</c:v>
                </c:pt>
                <c:pt idx="3">
                  <c:v>3</c:v>
                </c:pt>
                <c:pt idx="4">
                  <c:v>2</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474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c9b13978-21a0-47a7-a5b6-25db0e97c249}"/>
      </c:ext>
    </c:extLst>
  </c:chart>
  <c:spPr>
    <a:solidFill>
      <a:srgbClr val="FFFFFF"/>
    </a:solid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Frequency</c:v>
                </c:pt>
              </c:strCache>
            </c:strRef>
          </c:tx>
          <c:spPr/>
          <c:explosion val="0"/>
          <c:dPt>
            <c:idx val="0"/>
            <c:bubble3D val="0"/>
            <c:spPr>
              <a:solidFill>
                <a:schemeClr val="accent1"/>
              </a:solidFill>
              <a:ln>
                <a:noFill/>
              </a:ln>
              <a:effectLst>
                <a:outerShdw blurRad="254000" sx="102000" sy="102000" algn="ctr" rotWithShape="0">
                  <a:prstClr val="black">
                    <a:alpha val="20000"/>
                  </a:prstClr>
                </a:outerShdw>
              </a:effectLst>
            </c:spPr>
          </c:dPt>
          <c:dPt>
            <c:idx val="1"/>
            <c:bubble3D val="0"/>
            <c:spPr>
              <a:solidFill>
                <a:schemeClr val="accent2"/>
              </a:solidFill>
              <a:ln>
                <a:noFill/>
              </a:ln>
              <a:effectLst>
                <a:outerShdw blurRad="254000" sx="102000" sy="102000" algn="ctr" rotWithShape="0">
                  <a:prstClr val="black">
                    <a:alpha val="20000"/>
                  </a:prstClr>
                </a:outerShdw>
              </a:effectLst>
            </c:spPr>
          </c:dPt>
          <c:dPt>
            <c:idx val="2"/>
            <c:bubble3D val="0"/>
            <c:spPr>
              <a:solidFill>
                <a:schemeClr val="accent3"/>
              </a:solidFill>
              <a:ln>
                <a:noFill/>
              </a:ln>
              <a:effectLst>
                <a:outerShdw blurRad="254000" sx="102000" sy="102000" algn="ctr" rotWithShape="0">
                  <a:prstClr val="black">
                    <a:alpha val="20000"/>
                  </a:prstClr>
                </a:outerShdw>
              </a:effectLst>
            </c:spPr>
          </c:dPt>
          <c:dPt>
            <c:idx val="3"/>
            <c:bubble3D val="0"/>
            <c:spPr>
              <a:solidFill>
                <a:schemeClr val="accent4"/>
              </a:solidFill>
              <a:ln>
                <a:noFill/>
              </a:ln>
              <a:effectLst>
                <a:outerShdw blurRad="254000" sx="102000" sy="102000" algn="ctr" rotWithShape="0">
                  <a:prstClr val="black">
                    <a:alpha val="20000"/>
                  </a:prstClr>
                </a:outerShdw>
              </a:effectLst>
            </c:spPr>
          </c:dPt>
          <c:dPt>
            <c:idx val="4"/>
            <c:bubble3D val="0"/>
            <c:spPr>
              <a:solidFill>
                <a:schemeClr val="accent5"/>
              </a:solidFill>
              <a:ln>
                <a:noFill/>
              </a:ln>
              <a:effectLst>
                <a:outerShdw blurRad="254000" sx="102000" sy="102000" algn="ctr" rotWithShape="0">
                  <a:prstClr val="black">
                    <a:alpha val="20000"/>
                  </a:prstClr>
                </a:outerShdw>
              </a:effectLst>
            </c:spPr>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330" b="1" i="0" u="none" strike="noStrike" kern="1200" baseline="0">
                    <a:solidFill>
                      <a:schemeClr val="lt1"/>
                    </a:solidFill>
                    <a:latin typeface="+mn-lt"/>
                    <a:ea typeface="+mn-ea"/>
                    <a:cs typeface="+mn-cs"/>
                  </a:defRPr>
                </a:pPr>
              </a:p>
            </c:txPr>
            <c:showLegendKey val="0"/>
            <c:showVal val="0"/>
            <c:showCatName val="0"/>
            <c:showSerName val="0"/>
            <c:showPercent val="1"/>
            <c:showBubbleSize val="0"/>
            <c:showLeaderLines val="0"/>
            <c:extLst>
              <c:ext xmlns:c15="http://schemas.microsoft.com/office/drawing/2012/chart" uri="{CE6537A1-D6FC-4f65-9D91-7224C49458BB}">
                <c15:layout/>
                <c15:showLeaderLines val="0"/>
                <c15:leaderLines>
                  <c:spPr>
                    <a:ln w="9525">
                      <a:solidFill>
                        <a:schemeClr val="dk1">
                          <a:lumMod val="50000"/>
                          <a:lumOff val="50000"/>
                        </a:schemeClr>
                      </a:solidFill>
                    </a:ln>
                    <a:effectLst/>
                  </c:spPr>
                </c15:leaderLines>
              </c:ext>
            </c:extLst>
          </c:dLbls>
          <c:cat>
            <c:strRef>
              <c:f>Sheet1!$A$2:$A$6</c:f>
              <c:strCache>
                <c:ptCount val="5"/>
                <c:pt idx="0">
                  <c:v>Occasionally (42.7%)</c:v>
                </c:pt>
                <c:pt idx="1">
                  <c:v>4–5x/week (23.2%)</c:v>
                </c:pt>
                <c:pt idx="2">
                  <c:v>Daily (19.5%)</c:v>
                </c:pt>
                <c:pt idx="3">
                  <c:v>2–3x/week (9.8%)</c:v>
                </c:pt>
                <c:pt idx="4">
                  <c:v>Weekly (4.9%)</c:v>
                </c:pt>
              </c:strCache>
            </c:strRef>
          </c:cat>
          <c:val>
            <c:numRef>
              <c:f>Sheet1!$B$2:$B$6</c:f>
              <c:numCache>
                <c:formatCode>General</c:formatCode>
                <c:ptCount val="5"/>
                <c:pt idx="0">
                  <c:v>35</c:v>
                </c:pt>
                <c:pt idx="1">
                  <c:v>19</c:v>
                </c:pt>
                <c:pt idx="2">
                  <c:v>16</c:v>
                </c:pt>
                <c:pt idx="3">
                  <c:v>8</c:v>
                </c:pt>
                <c:pt idx="4">
                  <c:v>4</c:v>
                </c:pt>
              </c:numCache>
            </c:numRef>
          </c:val>
        </c:ser>
        <c:dLbls>
          <c:showLegendKey val="0"/>
          <c:showVal val="0"/>
          <c:showCatName val="0"/>
          <c:showSerName val="0"/>
          <c:showPercent val="1"/>
          <c:showBubbleSize val="0"/>
          <c:showLeaderLines val="0"/>
        </c:dLbls>
        <c:firstSliceAng val="0"/>
        <c:holeSize val="50"/>
      </c:doughnutChart>
      <c:spPr>
        <a:noFill/>
        <a:ln>
          <a:noFill/>
        </a:ln>
        <a:effectLst/>
      </c:spPr>
    </c:plotArea>
    <c:legend>
      <c:legendPos val="r"/>
      <c:layout/>
      <c:overlay val="0"/>
      <c:spPr>
        <a:solidFill>
          <a:schemeClr val="lt1">
            <a:lumMod val="95000"/>
            <a:alpha val="39000"/>
          </a:schemeClr>
        </a:solidFill>
        <a:ln>
          <a:noFill/>
        </a:ln>
        <a:effectLst/>
      </c:spPr>
      <c:txPr>
        <a:bodyPr rot="0" spcFirstLastPara="1" vertOverflow="ellipsis" vert="horz" wrap="square" anchor="ctr" anchorCtr="1"/>
        <a:lstStyle/>
        <a:p>
          <a:pPr>
            <a:defRPr lang="en-US" sz="1195" b="0" i="0" u="none" strike="noStrike" kern="1200" baseline="0">
              <a:solidFill>
                <a:schemeClr val="dk1">
                  <a:lumMod val="75000"/>
                  <a:lumOff val="25000"/>
                </a:schemeClr>
              </a:solidFill>
              <a:latin typeface="+mn-lt"/>
              <a:ea typeface="+mn-ea"/>
              <a:cs typeface="+mn-cs"/>
            </a:defRPr>
          </a:pPr>
        </a:p>
      </c:txPr>
    </c:legend>
    <c:plotVisOnly val="1"/>
    <c:dispBlanksAs val="span"/>
    <c:showDLblsOverMax val="1"/>
    <c:extLst>
      <c:ext uri="{0b15fc19-7d7d-44ad-8c2d-2c3a37ce22c3}">
        <chartProps xmlns="https://web.wps.cn/et/2018/main" chartId="{544936f7-06b9-4181-8e8d-0801c63483c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Respondents</c:v>
                </c:pt>
              </c:strCache>
            </c:strRef>
          </c:tx>
          <c:spPr>
            <a:solidFill>
              <a:srgbClr val="E8873A"/>
            </a:solidFill>
            <a:effectLst/>
          </c:spPr>
          <c:invertIfNegative val="0"/>
          <c:dPt>
            <c:idx val="0"/>
            <c:invertIfNegative val="0"/>
            <c:bubble3D val="0"/>
          </c:dPt>
          <c:dPt>
            <c:idx val="1"/>
            <c:invertIfNegative val="0"/>
            <c:bubble3D val="0"/>
            <c:spPr>
              <a:solidFill>
                <a:srgbClr val="1A7FAD"/>
              </a:solidFill>
              <a:effectLst/>
            </c:spPr>
          </c:dPt>
          <c:dPt>
            <c:idx val="2"/>
            <c:invertIfNegative val="0"/>
            <c:bubble3D val="0"/>
            <c:spPr>
              <a:solidFill>
                <a:srgbClr val="2EB8E6"/>
              </a:solidFill>
              <a:effectLst/>
            </c:spPr>
          </c:dPt>
          <c:dPt>
            <c:idx val="3"/>
            <c:invertIfNegative val="0"/>
            <c:bubble3D val="0"/>
            <c:spPr>
              <a:solidFill>
                <a:srgbClr val="0D1B2A"/>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00000"/>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Morning Peak
6–10AM</c:v>
                </c:pt>
                <c:pt idx="1">
                  <c:v>Afternoon
10AM–4PM</c:v>
                </c:pt>
                <c:pt idx="2">
                  <c:v>Evening Peak
4–9PM</c:v>
                </c:pt>
                <c:pt idx="3">
                  <c:v>Night
After 9PM</c:v>
                </c:pt>
              </c:strCache>
            </c:strRef>
          </c:cat>
          <c:val>
            <c:numRef>
              <c:f>Sheet1!$B$2:$B$5</c:f>
              <c:numCache>
                <c:formatCode>General</c:formatCode>
                <c:ptCount val="4"/>
                <c:pt idx="0">
                  <c:v>23</c:v>
                </c:pt>
                <c:pt idx="1">
                  <c:v>42</c:v>
                </c:pt>
                <c:pt idx="2">
                  <c:v>13</c:v>
                </c:pt>
                <c:pt idx="3">
                  <c:v>3</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850" b="0" i="0" u="none" strike="noStrike" kern="1200" baseline="0">
                <a:solidFill>
                  <a:srgbClr val="6474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2cbc811b-6cca-4867-928a-4f145a88590d}"/>
      </c:ext>
    </c:extLst>
  </c:chart>
  <c:spPr>
    <a:solidFill>
      <a:srgbClr val="FFFFFF"/>
    </a:solidFill>
    <a:ln>
      <a:noFill/>
    </a:ln>
    <a:effectLst/>
  </c:spPr>
  <c:txPr>
    <a:bodyPr/>
    <a:lstStyle/>
    <a:p>
      <a:pPr>
        <a:defRPr lang="en-US"/>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62039688220791"/>
          <c:y val="0.0439378354732685"/>
          <c:w val="0.896018253400143"/>
          <c:h val="0.828296800737746"/>
        </c:manualLayout>
      </c:layout>
      <c:barChart>
        <c:barDir val="col"/>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6474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w="25400">
          <a:noFill/>
        </a:ln>
        <a:effectLst/>
      </c:spPr>
    </c:plotArea>
    <c:plotVisOnly val="1"/>
    <c:dispBlanksAs val="span"/>
    <c:showDLblsOverMax val="1"/>
    <c:extLst>
      <c:ext uri="{0b15fc19-7d7d-44ad-8c2d-2c3a37ce22c3}">
        <chartProps xmlns="https://web.wps.cn/et/2018/main" chartId="{0d25f5c6-47c4-482a-90ff-3b1121a9bdef}"/>
      </c:ext>
    </c:extLst>
  </c:chart>
  <c:spPr>
    <a:solidFill>
      <a:srgbClr val="FFFFFF"/>
    </a:solidFill>
    <a:ln>
      <a:noFill/>
    </a:ln>
    <a:effectLst/>
  </c:spPr>
  <c:txPr>
    <a:bodyPr/>
    <a:lstStyle/>
    <a:p>
      <a:pPr>
        <a:defRPr lang="en-US"/>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lang="en-US" sz="1995" b="1" i="0" u="none" strike="noStrike" kern="1200" cap="all" spc="100" normalizeH="0" baseline="0">
              <a:solidFill>
                <a:schemeClr val="lt1"/>
              </a:solidFill>
              <a:latin typeface="+mn-lt"/>
              <a:ea typeface="+mn-ea"/>
              <a:cs typeface="+mn-cs"/>
            </a:defRPr>
          </a:pPr>
        </a:p>
      </c:txPr>
    </c:title>
    <c:autoTitleDeleted val="0"/>
    <c:plotArea>
      <c:layout>
        <c:manualLayout>
          <c:layoutTarget val="inner"/>
          <c:xMode val="edge"/>
          <c:yMode val="edge"/>
          <c:x val="0.0638031496062992"/>
          <c:y val="0.177361111111111"/>
          <c:w val="0.902863517060367"/>
          <c:h val="0.678626421697288"/>
        </c:manualLayout>
      </c:layout>
      <c:barChart>
        <c:barDir val="col"/>
        <c:grouping val="clustered"/>
        <c:varyColors val="0"/>
        <c:ser>
          <c:idx val="0"/>
          <c:order val="0"/>
          <c:tx>
            <c:strRef>
              <c:f>Sheet1!$B$103</c:f>
              <c:strCache>
                <c:ptCount val="1"/>
                <c:pt idx="0">
                  <c:v>No. of Respondents (f)</c:v>
                </c:pt>
              </c:strCache>
            </c:strRef>
          </c:tx>
          <c:spPr>
            <a:pattFill prst="ltUpDiag">
              <a:fgClr>
                <a:schemeClr val="accent1"/>
              </a:fgClr>
              <a:bgClr>
                <a:schemeClr val="lt1"/>
              </a:bgClr>
            </a:pattFill>
            <a:ln>
              <a:noFill/>
            </a:ln>
            <a:effectLst/>
          </c:spPr>
          <c:invertIfNegative val="0"/>
          <c:dLbls>
            <c:spPr>
              <a:solidFill>
                <a:schemeClr val="accent1">
                  <a:alpha val="70000"/>
                </a:schemeClr>
              </a:solidFill>
              <a:ln>
                <a:noFill/>
              </a:ln>
              <a:effectLst/>
            </c:spPr>
            <c:txPr>
              <a:bodyPr rot="0" spcFirstLastPara="1" vertOverflow="ellipsis" vert="horz" wrap="square" lIns="38100" tIns="19050" rIns="38100" bIns="19050" anchor="ctr" anchorCtr="1">
                <a:spAutoFit/>
              </a:bodyPr>
              <a:lstStyle/>
              <a:p>
                <a:pPr>
                  <a:defRPr lang="en-US" sz="1195" b="0" i="0" u="none" strike="noStrike" kern="1200" baseline="0">
                    <a:solidFill>
                      <a:schemeClr val="lt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accent1">
                          <a:lumMod val="60000"/>
                          <a:lumOff val="40000"/>
                        </a:schemeClr>
                      </a:solidFill>
                    </a:ln>
                    <a:effectLst/>
                  </c:spPr>
                </c15:leaderLines>
              </c:ext>
            </c:extLst>
          </c:dLbls>
          <c:cat>
            <c:strRef>
              <c:f>Sheet1!$A$104:$A$108</c:f>
              <c:strCache>
                <c:ptCount val="5"/>
                <c:pt idx="0">
                  <c:v>No Delay</c:v>
                </c:pt>
                <c:pt idx="1">
                  <c:v>1 – 5 Minutes</c:v>
                </c:pt>
                <c:pt idx="2">
                  <c:v>6 – 10 Minutes</c:v>
                </c:pt>
                <c:pt idx="3">
                  <c:v>More than 10 Minutes</c:v>
                </c:pt>
                <c:pt idx="4">
                  <c:v>Total (N)</c:v>
                </c:pt>
              </c:strCache>
            </c:strRef>
          </c:cat>
          <c:val>
            <c:numRef>
              <c:f>Sheet1!$B$104:$B$108</c:f>
              <c:numCache>
                <c:formatCode>General</c:formatCode>
                <c:ptCount val="5"/>
                <c:pt idx="0">
                  <c:v>22</c:v>
                </c:pt>
                <c:pt idx="1">
                  <c:v>38</c:v>
                </c:pt>
                <c:pt idx="2">
                  <c:v>17</c:v>
                </c:pt>
                <c:pt idx="3">
                  <c:v>5</c:v>
                </c:pt>
                <c:pt idx="4">
                  <c:v>82</c:v>
                </c:pt>
              </c:numCache>
            </c:numRef>
          </c:val>
        </c:ser>
        <c:dLbls>
          <c:showLegendKey val="0"/>
          <c:showVal val="1"/>
          <c:showCatName val="0"/>
          <c:showSerName val="0"/>
          <c:showPercent val="0"/>
          <c:showBubbleSize val="0"/>
        </c:dLbls>
        <c:gapWidth val="269"/>
        <c:overlap val="-20"/>
        <c:axId val="584933136"/>
        <c:axId val="584948528"/>
      </c:barChart>
      <c:catAx>
        <c:axId val="584933136"/>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lang="en-US" sz="1065" b="0" i="0" u="none" strike="noStrike" kern="1200" cap="all" spc="150" normalizeH="0" baseline="0">
                <a:solidFill>
                  <a:schemeClr val="lt1"/>
                </a:solidFill>
                <a:latin typeface="+mn-lt"/>
                <a:ea typeface="+mn-ea"/>
                <a:cs typeface="+mn-cs"/>
              </a:defRPr>
            </a:pPr>
          </a:p>
        </c:txPr>
        <c:crossAx val="584948528"/>
        <c:crosses val="autoZero"/>
        <c:auto val="1"/>
        <c:lblAlgn val="ctr"/>
        <c:lblOffset val="100"/>
        <c:noMultiLvlLbl val="0"/>
      </c:catAx>
      <c:valAx>
        <c:axId val="5849485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lt1"/>
                </a:solidFill>
                <a:latin typeface="+mn-lt"/>
                <a:ea typeface="+mn-ea"/>
                <a:cs typeface="+mn-cs"/>
              </a:defRPr>
            </a:pPr>
          </a:p>
        </c:txPr>
        <c:crossAx val="584933136"/>
        <c:crosses val="autoZero"/>
        <c:crossBetween val="between"/>
      </c:valAx>
      <c:spPr>
        <a:noFill/>
        <a:ln>
          <a:noFill/>
        </a:ln>
        <a:effectLst/>
      </c:spPr>
    </c:plotArea>
    <c:plotVisOnly val="1"/>
    <c:dispBlanksAs val="gap"/>
    <c:showDLblsOverMax val="0"/>
    <c:extLst>
      <c:ext uri="{0b15fc19-7d7d-44ad-8c2d-2c3a37ce22c3}">
        <chartProps xmlns="https://web.wps.cn/et/2018/main" chartId="{5c67d832-d9ef-4a48-ac92-31e3f0f8f44a}"/>
      </c:ext>
    </c:extLst>
  </c:chart>
  <c:spPr>
    <a:solidFill>
      <a:schemeClr val="accent1"/>
    </a:solidFill>
    <a:ln w="9525" cap="flat" cmpd="sng" algn="ctr">
      <a:solidFill>
        <a:schemeClr val="accent1"/>
      </a:solidFill>
      <a:round/>
    </a:ln>
    <a:effectLst/>
  </c:spPr>
  <c:txPr>
    <a:bodyPr/>
    <a:lstStyle/>
    <a:p>
      <a:pPr>
        <a:defRPr lang="en-US"/>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Sheet1!$C$42</c:f>
              <c:strCache>
                <c:ptCount val="1"/>
                <c:pt idx="0">
                  <c:v>Respondents (f)</c:v>
                </c:pt>
              </c:strCache>
            </c:strRef>
          </c:tx>
          <c:spPr/>
          <c:explosion val="0"/>
          <c:dPt>
            <c:idx val="0"/>
            <c:bubble3D val="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Pt>
            <c:idx val="2"/>
            <c:bubble3D val="0"/>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Pt>
            <c:idx val="3"/>
            <c:bubble3D val="0"/>
            <c:spPr>
              <a:solidFill>
                <a:schemeClr val="accent4"/>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Pt>
            <c:idx val="4"/>
            <c:bubble3D val="0"/>
            <c:spPr>
              <a:solidFill>
                <a:schemeClr val="accent5"/>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Lbls>
            <c:dLbl>
              <c:idx val="0"/>
              <c:layout/>
              <c:numFmt formatCode="General" sourceLinked="1"/>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a:solidFill>
                        <a:schemeClr val="accent1"/>
                      </a:solidFill>
                      <a:latin typeface="+mn-lt"/>
                      <a:ea typeface="+mn-ea"/>
                      <a:cs typeface="+mn-cs"/>
                    </a:defRPr>
                  </a:pPr>
                </a:p>
              </c:txPr>
              <c:dLblPos val="outEnd"/>
              <c:showLegendKey val="0"/>
              <c:showVal val="0"/>
              <c:showCatName val="1"/>
              <c:showSerName val="0"/>
              <c:showPercent val="1"/>
              <c:showBubbleSize val="0"/>
              <c:separator>
</c:separator>
              <c:extLst>
                <c:ext xmlns:c15="http://schemas.microsoft.com/office/drawing/2012/chart" uri="{CE6537A1-D6FC-4f65-9D91-7224C49458BB}"/>
              </c:extLst>
            </c:dLbl>
            <c:dLbl>
              <c:idx val="1"/>
              <c:layout/>
              <c:numFmt formatCode="General" sourceLinked="1"/>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a:solidFill>
                        <a:schemeClr val="accent2"/>
                      </a:solidFill>
                      <a:latin typeface="+mn-lt"/>
                      <a:ea typeface="+mn-ea"/>
                      <a:cs typeface="+mn-cs"/>
                    </a:defRPr>
                  </a:pPr>
                </a:p>
              </c:txPr>
              <c:dLblPos val="outEnd"/>
              <c:showLegendKey val="0"/>
              <c:showVal val="0"/>
              <c:showCatName val="1"/>
              <c:showSerName val="0"/>
              <c:showPercent val="1"/>
              <c:showBubbleSize val="0"/>
              <c:separator>
</c:separator>
              <c:extLst>
                <c:ext xmlns:c15="http://schemas.microsoft.com/office/drawing/2012/chart" uri="{CE6537A1-D6FC-4f65-9D91-7224C49458BB}"/>
              </c:extLst>
            </c:dLbl>
            <c:dLbl>
              <c:idx val="2"/>
              <c:layout/>
              <c:numFmt formatCode="General" sourceLinked="1"/>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a:solidFill>
                        <a:schemeClr val="accent3"/>
                      </a:solidFill>
                      <a:latin typeface="+mn-lt"/>
                      <a:ea typeface="+mn-ea"/>
                      <a:cs typeface="+mn-cs"/>
                    </a:defRPr>
                  </a:pPr>
                </a:p>
              </c:txPr>
              <c:dLblPos val="outEnd"/>
              <c:showLegendKey val="0"/>
              <c:showVal val="0"/>
              <c:showCatName val="1"/>
              <c:showSerName val="0"/>
              <c:showPercent val="1"/>
              <c:showBubbleSize val="0"/>
              <c:separator>
</c:separator>
              <c:extLst>
                <c:ext xmlns:c15="http://schemas.microsoft.com/office/drawing/2012/chart" uri="{CE6537A1-D6FC-4f65-9D91-7224C49458BB}"/>
              </c:extLst>
            </c:dLbl>
            <c:dLbl>
              <c:idx val="3"/>
              <c:layout/>
              <c:numFmt formatCode="General" sourceLinked="1"/>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a:solidFill>
                        <a:schemeClr val="accent4"/>
                      </a:solidFill>
                      <a:latin typeface="+mn-lt"/>
                      <a:ea typeface="+mn-ea"/>
                      <a:cs typeface="+mn-cs"/>
                    </a:defRPr>
                  </a:pPr>
                </a:p>
              </c:txPr>
              <c:dLblPos val="outEnd"/>
              <c:showLegendKey val="0"/>
              <c:showVal val="0"/>
              <c:showCatName val="1"/>
              <c:showSerName val="0"/>
              <c:showPercent val="1"/>
              <c:showBubbleSize val="0"/>
              <c:separator>
</c:separator>
              <c:extLst>
                <c:ext xmlns:c15="http://schemas.microsoft.com/office/drawing/2012/chart" uri="{CE6537A1-D6FC-4f65-9D91-7224C49458BB}"/>
              </c:extLst>
            </c:dLbl>
            <c:dLbl>
              <c:idx val="4"/>
              <c:layout/>
              <c:numFmt formatCode="General" sourceLinked="1"/>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a:solidFill>
                        <a:schemeClr val="accent5"/>
                      </a:solidFill>
                      <a:latin typeface="+mn-lt"/>
                      <a:ea typeface="+mn-ea"/>
                      <a:cs typeface="+mn-cs"/>
                    </a:defRPr>
                  </a:pPr>
                </a:p>
              </c:txPr>
              <c:dLblPos val="outEnd"/>
              <c:showLegendKey val="0"/>
              <c:showVal val="0"/>
              <c:showCatName val="1"/>
              <c:showSerName val="0"/>
              <c:showPercent val="1"/>
              <c:showBubbleSize val="0"/>
              <c:separator>
</c:separator>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1"/>
                    </a:solidFill>
                    <a:latin typeface="+mn-lt"/>
                    <a:ea typeface="+mn-ea"/>
                    <a:cs typeface="+mn-cs"/>
                  </a:defRPr>
                </a:pPr>
              </a:p>
            </c:txPr>
            <c:dLblPos val="outEnd"/>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multiLvlStrRef>
              <c:f>Sheet1!$A$43:$B$47</c:f>
              <c:multiLvlStrCache>
                <c:ptCount val="5"/>
                <c:lvl>
                  <c:pt idx="0">
                    <c:v>Very Poor</c:v>
                  </c:pt>
                  <c:pt idx="1">
                    <c:v>Poor</c:v>
                  </c:pt>
                  <c:pt idx="2">
                    <c:v>Average / Neutral</c:v>
                  </c:pt>
                  <c:pt idx="3">
                    <c:v>Good</c:v>
                  </c:pt>
                  <c:pt idx="4">
                    <c:v>Excellent</c:v>
                  </c:pt>
                </c:lvl>
                <c:lvl>
                  <c:pt idx="0">
                    <c:v>1</c:v>
                  </c:pt>
                  <c:pt idx="1">
                    <c:v>2</c:v>
                  </c:pt>
                  <c:pt idx="2">
                    <c:v>3</c:v>
                  </c:pt>
                  <c:pt idx="3">
                    <c:v>4</c:v>
                  </c:pt>
                  <c:pt idx="4">
                    <c:v>5</c:v>
                  </c:pt>
                </c:lvl>
              </c:multiLvlStrCache>
            </c:multiLvlStrRef>
          </c:cat>
          <c:val>
            <c:numRef>
              <c:f>Sheet1!$C$43:$C$47</c:f>
              <c:numCache>
                <c:formatCode>General</c:formatCode>
                <c:ptCount val="5"/>
                <c:pt idx="0">
                  <c:v>3</c:v>
                </c:pt>
                <c:pt idx="1">
                  <c:v>6</c:v>
                </c:pt>
                <c:pt idx="2">
                  <c:v>18</c:v>
                </c:pt>
                <c:pt idx="3">
                  <c:v>30</c:v>
                </c:pt>
                <c:pt idx="4">
                  <c:v>25</c:v>
                </c:pt>
              </c:numCache>
            </c:numRef>
          </c:val>
        </c:ser>
        <c:dLbls>
          <c:showLegendKey val="0"/>
          <c:showVal val="0"/>
          <c:showCatName val="1"/>
          <c:showSerName val="0"/>
          <c:showPercent val="0"/>
          <c:showBubbleSize val="0"/>
        </c:dLbls>
      </c:pie3DChart>
      <c:spPr>
        <a:noFill/>
        <a:ln>
          <a:noFill/>
        </a:ln>
        <a:effectLst/>
      </c:spPr>
    </c:plotArea>
    <c:plotVisOnly val="1"/>
    <c:dispBlanksAs val="gap"/>
    <c:showDLblsOverMax val="0"/>
    <c:extLst>
      <c:ext uri="{0b15fc19-7d7d-44ad-8c2d-2c3a37ce22c3}">
        <chartProps xmlns="https://web.wps.cn/et/2018/main" chartId="{0f7d0d81-d9dc-43e5-ae3e-74f32b5a670e}"/>
      </c:ext>
    </c:extLst>
  </c:chart>
  <c:spPr>
    <a:noFill/>
    <a:ln>
      <a:noFill/>
    </a:ln>
    <a:effectLst/>
  </c:spPr>
  <c:txPr>
    <a:bodyPr/>
    <a:lstStyle/>
    <a:p>
      <a:pPr>
        <a:defRPr lang="en-US"/>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6474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d51c4cbc-08e8-4b18-8d9a-14550d036e22}"/>
      </c:ext>
    </c:extLst>
  </c:chart>
  <c:spPr>
    <a:solidFill>
      <a:srgbClr val="FFFFFF"/>
    </a:solidFill>
    <a:ln>
      <a:noFill/>
    </a:ln>
    <a:effectLst/>
  </c:spPr>
  <c:txPr>
    <a:bodyPr/>
    <a:lstStyle/>
    <a:p>
      <a:pPr>
        <a:defRPr lang="en-US"/>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Satisfaction</c:v>
                </c:pt>
              </c:strCache>
            </c:strRef>
          </c:tx>
          <c:spPr/>
          <c:explosion val="0"/>
          <c:dPt>
            <c:idx val="0"/>
            <c:bubble3D val="0"/>
            <c:spPr>
              <a:solidFill>
                <a:schemeClr val="accent1"/>
              </a:solidFill>
              <a:ln>
                <a:noFill/>
              </a:ln>
              <a:effectLst>
                <a:outerShdw blurRad="254000" sx="102000" sy="102000" algn="ctr" rotWithShape="0">
                  <a:prstClr val="black">
                    <a:alpha val="20000"/>
                  </a:prstClr>
                </a:outerShdw>
              </a:effectLst>
            </c:spPr>
          </c:dPt>
          <c:dPt>
            <c:idx val="1"/>
            <c:bubble3D val="0"/>
            <c:spPr>
              <a:solidFill>
                <a:schemeClr val="accent2"/>
              </a:solidFill>
              <a:ln>
                <a:noFill/>
              </a:ln>
              <a:effectLst>
                <a:outerShdw blurRad="254000" sx="102000" sy="102000" algn="ctr" rotWithShape="0">
                  <a:prstClr val="black">
                    <a:alpha val="20000"/>
                  </a:prstClr>
                </a:outerShdw>
              </a:effectLst>
            </c:spPr>
          </c:dPt>
          <c:dPt>
            <c:idx val="2"/>
            <c:bubble3D val="0"/>
            <c:spPr>
              <a:solidFill>
                <a:schemeClr val="accent3"/>
              </a:solidFill>
              <a:ln>
                <a:noFill/>
              </a:ln>
              <a:effectLst>
                <a:outerShdw blurRad="254000" sx="102000" sy="102000" algn="ctr" rotWithShape="0">
                  <a:prstClr val="black">
                    <a:alpha val="20000"/>
                  </a:prstClr>
                </a:outerShdw>
              </a:effectLst>
            </c:spPr>
          </c:dPt>
          <c:dPt>
            <c:idx val="3"/>
            <c:bubble3D val="0"/>
            <c:spPr>
              <a:solidFill>
                <a:schemeClr val="accent4"/>
              </a:solidFill>
              <a:ln>
                <a:noFill/>
              </a:ln>
              <a:effectLst>
                <a:outerShdw blurRad="254000" sx="102000" sy="102000" algn="ctr" rotWithShape="0">
                  <a:prstClr val="black">
                    <a:alpha val="20000"/>
                  </a:prstClr>
                </a:outerShdw>
              </a:effectLst>
            </c:spPr>
          </c:dPt>
          <c:dPt>
            <c:idx val="4"/>
            <c:bubble3D val="0"/>
            <c:spPr>
              <a:solidFill>
                <a:schemeClr val="accent5"/>
              </a:solidFill>
              <a:ln>
                <a:noFill/>
              </a:ln>
              <a:effectLst>
                <a:outerShdw blurRad="254000" sx="102000" sy="102000" algn="ctr" rotWithShape="0">
                  <a:prstClr val="black">
                    <a:alpha val="20000"/>
                  </a:prstClr>
                </a:outerShdw>
              </a:effectLst>
            </c:spPr>
          </c:dPt>
          <c:dLbls>
            <c:dLbl>
              <c:idx val="4"/>
              <c:layout>
                <c:manualLayout>
                  <c:x val="-0.0236472003499563"/>
                  <c:y val="0.240567761691079"/>
                </c:manualLayout>
              </c:layout>
              <c:dLblPos val="bestFit"/>
              <c:showLegendKey val="0"/>
              <c:showVal val="1"/>
              <c:showCatName val="0"/>
              <c:showSerName val="0"/>
              <c:showPercent val="1"/>
              <c:showBubbleSize val="0"/>
              <c:extLst>
                <c:ext xmlns:c15="http://schemas.microsoft.com/office/drawing/2012/chart" uri="{CE6537A1-D6FC-4f65-9D91-7224C49458BB}">
                  <c15:layout>
                    <c:manualLayout>
                      <c:w val="0.0116513560804899"/>
                      <c:h val="0.0864921118731126"/>
                    </c:manualLayout>
                  </c15:layout>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330" b="1" i="0" u="none" strike="noStrike" kern="1200" baseline="0">
                    <a:solidFill>
                      <a:schemeClr val="lt1"/>
                    </a:solidFill>
                    <a:latin typeface="+mn-lt"/>
                    <a:ea typeface="+mn-ea"/>
                    <a:cs typeface="+mn-cs"/>
                  </a:defRPr>
                </a:pPr>
              </a:p>
            </c:txPr>
            <c:dLblPos val="ctr"/>
            <c:showLegendKey val="0"/>
            <c:showVal val="1"/>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Very Satisfied (30.5%)</c:v>
                </c:pt>
                <c:pt idx="1">
                  <c:v>Satisfied (52.4%)</c:v>
                </c:pt>
                <c:pt idx="2">
                  <c:v>Neutral (13.4%)</c:v>
                </c:pt>
                <c:pt idx="3">
                  <c:v>Dissatisfied (1.2%)</c:v>
                </c:pt>
                <c:pt idx="4">
                  <c:v>Very Dissat. (1.2%)</c:v>
                </c:pt>
              </c:strCache>
            </c:strRef>
          </c:cat>
          <c:val>
            <c:numRef>
              <c:f>Sheet1!$B$2:$B$6</c:f>
              <c:numCache>
                <c:formatCode>General</c:formatCode>
                <c:ptCount val="5"/>
                <c:pt idx="0">
                  <c:v>25</c:v>
                </c:pt>
                <c:pt idx="1">
                  <c:v>43</c:v>
                </c:pt>
                <c:pt idx="2">
                  <c:v>11</c:v>
                </c:pt>
                <c:pt idx="3">
                  <c:v>1</c:v>
                </c:pt>
                <c:pt idx="4">
                  <c:v>1</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r"/>
      <c:layout/>
      <c:overlay val="0"/>
      <c:spPr>
        <a:solidFill>
          <a:schemeClr val="lt1">
            <a:lumMod val="95000"/>
            <a:alpha val="39000"/>
          </a:schemeClr>
        </a:solidFill>
        <a:ln>
          <a:noFill/>
        </a:ln>
        <a:effectLst/>
      </c:spPr>
      <c:txPr>
        <a:bodyPr rot="0" spcFirstLastPara="1" vertOverflow="ellipsis" vert="horz" wrap="square" anchor="ctr" anchorCtr="1"/>
        <a:lstStyle/>
        <a:p>
          <a:pPr>
            <a:defRPr lang="en-US" sz="1195" b="0" i="0" u="none" strike="noStrike" kern="1200" baseline="0">
              <a:solidFill>
                <a:schemeClr val="dk1">
                  <a:lumMod val="75000"/>
                  <a:lumOff val="25000"/>
                </a:schemeClr>
              </a:solidFill>
              <a:latin typeface="+mn-lt"/>
              <a:ea typeface="+mn-ea"/>
              <a:cs typeface="+mn-cs"/>
            </a:defRPr>
          </a:pPr>
        </a:p>
      </c:txPr>
    </c:legend>
    <c:plotVisOnly val="1"/>
    <c:dispBlanksAs val="span"/>
    <c:showDLblsOverMax val="1"/>
    <c:extLst>
      <c:ext uri="{0b15fc19-7d7d-44ad-8c2d-2c3a37ce22c3}">
        <chartProps xmlns="https://web.wps.cn/et/2018/main" chartId="{63bc391d-45ec-4bce-8213-8c325b404acb}"/>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lang="en-US"/>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lang="en-US" sz="1600" b="1" i="0" u="none" strike="noStrike" kern="1200" baseline="0">
              <a:solidFill>
                <a:schemeClr val="tx2"/>
              </a:solidFill>
              <a:latin typeface="+mn-lt"/>
              <a:ea typeface="+mn-ea"/>
              <a:cs typeface="+mn-cs"/>
            </a:defRPr>
          </a:pPr>
        </a:p>
      </c:txPr>
    </c:title>
    <c:autoTitleDeleted val="0"/>
    <c:plotArea>
      <c:layout/>
      <c:lineChart>
        <c:grouping val="standard"/>
        <c:varyColors val="0"/>
        <c:ser>
          <c:idx val="0"/>
          <c:order val="0"/>
          <c:tx>
            <c:strRef>
              <c:f>Sheet1!$B$55</c:f>
              <c:strCache>
                <c:ptCount val="1"/>
                <c:pt idx="0">
                  <c:v>No. of Respondents (f)</c:v>
                </c:pt>
              </c:strCache>
            </c:strRef>
          </c:tx>
          <c:spPr>
            <a:ln w="31750" cap="rnd">
              <a:solidFill>
                <a:schemeClr val="accent1"/>
              </a:solidFill>
              <a:round/>
            </a:ln>
            <a:effectLst/>
          </c:spPr>
          <c:marker>
            <c:symbol val="none"/>
          </c:marker>
          <c:dLbls>
            <c:delete val="1"/>
          </c:dLbls>
          <c:cat>
            <c:strRef>
              <c:f>Sheet1!$A$56:$A$61</c:f>
              <c:strCache>
                <c:ptCount val="6"/>
                <c:pt idx="0">
                  <c:v>Excellent</c:v>
                </c:pt>
                <c:pt idx="1">
                  <c:v>Good</c:v>
                </c:pt>
                <c:pt idx="2">
                  <c:v>Average</c:v>
                </c:pt>
                <c:pt idx="3">
                  <c:v>Poor</c:v>
                </c:pt>
                <c:pt idx="4">
                  <c:v>Total (N)</c:v>
                </c:pt>
              </c:strCache>
            </c:strRef>
          </c:cat>
          <c:val>
            <c:numRef>
              <c:f>Sheet1!$B$56:$B$61</c:f>
              <c:numCache>
                <c:formatCode>General</c:formatCode>
                <c:ptCount val="6"/>
                <c:pt idx="0">
                  <c:v>21</c:v>
                </c:pt>
                <c:pt idx="1">
                  <c:v>49</c:v>
                </c:pt>
                <c:pt idx="2">
                  <c:v>11</c:v>
                </c:pt>
                <c:pt idx="3">
                  <c:v>1</c:v>
                </c:pt>
                <c:pt idx="4">
                  <c:v>82</c:v>
                </c:pt>
              </c:numCache>
            </c:numRef>
          </c:val>
          <c:smooth val="0"/>
        </c:ser>
        <c:dLbls>
          <c:showLegendKey val="0"/>
          <c:showVal val="0"/>
          <c:showCatName val="0"/>
          <c:showSerName val="0"/>
          <c:showPercent val="0"/>
          <c:showBubbleSize val="0"/>
        </c:dLbls>
        <c:marker val="0"/>
        <c:smooth val="0"/>
        <c:axId val="584960176"/>
        <c:axId val="584961008"/>
      </c:lineChart>
      <c:catAx>
        <c:axId val="584960176"/>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2"/>
                </a:solidFill>
                <a:latin typeface="+mn-lt"/>
                <a:ea typeface="+mn-ea"/>
                <a:cs typeface="+mn-cs"/>
              </a:defRPr>
            </a:pPr>
          </a:p>
        </c:txPr>
        <c:crossAx val="584961008"/>
        <c:crosses val="autoZero"/>
        <c:auto val="1"/>
        <c:lblAlgn val="ctr"/>
        <c:lblOffset val="100"/>
        <c:noMultiLvlLbl val="0"/>
      </c:catAx>
      <c:valAx>
        <c:axId val="584961008"/>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2"/>
                </a:solidFill>
                <a:latin typeface="+mn-lt"/>
                <a:ea typeface="+mn-ea"/>
                <a:cs typeface="+mn-cs"/>
              </a:defRPr>
            </a:pPr>
          </a:p>
        </c:txPr>
        <c:crossAx val="584960176"/>
        <c:crosses val="autoZero"/>
        <c:crossBetween val="between"/>
      </c:valAx>
      <c:spPr>
        <a:noFill/>
        <a:ln>
          <a:noFill/>
        </a:ln>
        <a:effectLst/>
      </c:spPr>
    </c:plotArea>
    <c:plotVisOnly val="1"/>
    <c:dispBlanksAs val="gap"/>
    <c:showDLblsOverMax val="0"/>
    <c:extLst>
      <c:ext uri="{0b15fc19-7d7d-44ad-8c2d-2c3a37ce22c3}">
        <chartProps xmlns="https://web.wps.cn/et/2018/main" chartId="{6dd3bbd0-b912-4f7b-a362-45129ac529a4}"/>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5"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5"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5"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5"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5"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5"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5"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5"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4">
  <cs:axisTitle>
    <cs:lnRef idx="0"/>
    <cs:fillRef idx="0"/>
    <cs:effectRef idx="0"/>
    <cs:fontRef idx="minor">
      <a:schemeClr val="lt1"/>
    </cs:fontRef>
    <cs:defRPr sz="1195"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1065"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styleClr val="auto"/>
    </cs:fillRef>
    <cs:effectRef idx="0"/>
    <cs:fontRef idx="minor">
      <a:schemeClr val="lt1"/>
    </cs:fontRef>
    <cs:spPr>
      <a:solidFill>
        <a:schemeClr val="phClr">
          <a:alpha val="70000"/>
        </a:schemeClr>
      </a:solidFill>
    </cs:spPr>
    <cs:defRPr sz="1195" kern="1200"/>
  </cs:dataLabel>
  <cs:dataLabelCallout>
    <cs:lnRef idx="0">
      <cs:styleClr val="auto"/>
    </cs:lnRef>
    <cs:fillRef idx="0"/>
    <cs:effectRef idx="0"/>
    <cs:fontRef idx="minor">
      <cs:styleClr val="auto"/>
    </cs:fontRef>
    <cs:spPr>
      <a:solidFill>
        <a:schemeClr val="lt1"/>
      </a:solidFill>
      <a:ln>
        <a:solidFill>
          <a:schemeClr val="ph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5"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5"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5"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5"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5"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5"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5"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5"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5"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5"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5"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5"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5"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0" y="0"/>
            <a:ext cx="9144000" cy="3429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9144000" cy="3429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en-US" smtClean="0"/>
              <a:t>Click to edit Master title style</a:t>
            </a:r>
            <a:endParaRPr lang="en-US" dirty="0"/>
          </a:p>
        </p:txBody>
      </p:sp>
      <p:sp>
        <p:nvSpPr>
          <p:cNvPr id="3" name="Subtitle 2"/>
          <p:cNvSpPr>
            <a:spLocks noGrp="1"/>
          </p:cNvSpPr>
          <p:nvPr>
            <p:ph type="subTitle" idx="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5000"/>
                    <a:lumOff val="5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923F103-BC34-4FE4-A40E-EDDEECFDA5D0}" type="datetimeFigureOut">
              <a:rPr lang="en-US" smtClean="0"/>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cxnSp>
        <p:nvCxnSpPr>
          <p:cNvPr id="8" name="Straight Connector 7"/>
          <p:cNvCxnSpPr/>
          <p:nvPr/>
        </p:nvCxnSpPr>
        <p:spPr>
          <a:xfrm flipV="1">
            <a:off x="6290132" y="3948080"/>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9" name="Rectangle 8"/>
          <p:cNvSpPr/>
          <p:nvPr/>
        </p:nvSpPr>
        <p:spPr>
          <a:xfrm>
            <a:off x="0" y="0"/>
            <a:ext cx="9144000" cy="3429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9144000" cy="3429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3720103"/>
            <a:ext cx="5829300" cy="1097280"/>
          </a:xfrm>
        </p:spPr>
        <p:txBody>
          <a:bodyPr anchor="ctr">
            <a:normAutofit/>
          </a:bodyPr>
          <a:lstStyle>
            <a:lvl1pPr algn="r">
              <a:defRPr sz="3750" b="0" spc="15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457950" y="3720103"/>
            <a:ext cx="2400300" cy="1097280"/>
          </a:xfrm>
        </p:spPr>
        <p:txBody>
          <a:bodyPr lIns="91440" rIns="91440" anchor="ctr">
            <a:normAutofit/>
          </a:bodyPr>
          <a:lstStyle>
            <a:lvl1pPr marL="0" indent="0">
              <a:lnSpc>
                <a:spcPct val="100000"/>
              </a:lnSpc>
              <a:spcBef>
                <a:spcPts val="0"/>
              </a:spcBef>
              <a:buNone/>
              <a:defRPr sz="1350">
                <a:solidFill>
                  <a:schemeClr val="tx1">
                    <a:lumMod val="95000"/>
                    <a:lumOff val="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F34E6425-0181-43F2-84FC-787E803FD2F8}" type="datetimeFigureOut">
              <a:rPr lang="en-US" smtClean="0"/>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cxnSp>
        <p:nvCxnSpPr>
          <p:cNvPr id="8" name="Straight Connector 7"/>
          <p:cNvCxnSpPr/>
          <p:nvPr/>
        </p:nvCxnSpPr>
        <p:spPr>
          <a:xfrm flipV="1">
            <a:off x="6290132" y="3948080"/>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438912"/>
            <a:ext cx="7290054" cy="112471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768095" y="1714500"/>
            <a:ext cx="3566160" cy="301752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491990" y="1714500"/>
            <a:ext cx="3566160" cy="301752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68096" y="1634727"/>
            <a:ext cx="3566160" cy="617220"/>
          </a:xfrm>
        </p:spPr>
        <p:txBody>
          <a:bodyPr lIns="137160" rIns="137160" anchor="ctr">
            <a:normAutofit/>
          </a:bodyPr>
          <a:lstStyle>
            <a:lvl1pPr marL="0" indent="0">
              <a:spcBef>
                <a:spcPts val="0"/>
              </a:spcBef>
              <a:spcAft>
                <a:spcPts val="0"/>
              </a:spcAft>
              <a:buNone/>
              <a:defRPr sz="1725" b="0" cap="none" baseline="0">
                <a:solidFill>
                  <a:schemeClr val="accent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endParaRPr lang="en-US" smtClean="0"/>
          </a:p>
        </p:txBody>
      </p:sp>
      <p:sp>
        <p:nvSpPr>
          <p:cNvPr id="4" name="Content Placeholder 3"/>
          <p:cNvSpPr>
            <a:spLocks noGrp="1"/>
          </p:cNvSpPr>
          <p:nvPr>
            <p:ph sz="half" idx="2"/>
          </p:nvPr>
        </p:nvSpPr>
        <p:spPr>
          <a:xfrm>
            <a:off x="768096" y="2225841"/>
            <a:ext cx="3566160" cy="2506179"/>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493166" y="1634727"/>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1"/>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en-US" smtClean="0"/>
              <a:t>Edit Master text styles</a:t>
            </a:r>
            <a:endParaRPr lang="en-US" smtClean="0"/>
          </a:p>
        </p:txBody>
      </p:sp>
      <p:sp>
        <p:nvSpPr>
          <p:cNvPr id="6" name="Content Placeholder 5"/>
          <p:cNvSpPr>
            <a:spLocks noGrp="1"/>
          </p:cNvSpPr>
          <p:nvPr>
            <p:ph sz="quarter" idx="4"/>
          </p:nvPr>
        </p:nvSpPr>
        <p:spPr>
          <a:xfrm>
            <a:off x="4493166" y="2225841"/>
            <a:ext cx="3566160" cy="2506179"/>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fld>
            <a:endParaRPr lang="en-US" dirty="0"/>
          </a:p>
        </p:txBody>
      </p:sp>
      <p:sp>
        <p:nvSpPr>
          <p:cNvPr id="8" name="Footer Placeholder 7"/>
          <p:cNvSpPr>
            <a:spLocks noGrp="1"/>
          </p:cNvSpPr>
          <p:nvPr>
            <p:ph type="ftr" sz="quarter" idx="11"/>
          </p:nvPr>
        </p:nvSpPr>
        <p:spPr/>
        <p:txBody>
          <a:bodyPr/>
          <a:lstStyle/>
          <a:p>
            <a:r>
              <a:rPr lang="en-US" smtClean="0"/>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fld>
            <a:endParaRPr lang="en-US" dirty="0"/>
          </a:p>
        </p:txBody>
      </p:sp>
      <p:sp>
        <p:nvSpPr>
          <p:cNvPr id="4" name="Footer Placeholder 3"/>
          <p:cNvSpPr>
            <a:spLocks noGrp="1"/>
          </p:cNvSpPr>
          <p:nvPr>
            <p:ph type="ftr" sz="quarter" idx="11"/>
          </p:nvPr>
        </p:nvSpPr>
        <p:spPr/>
        <p:txBody>
          <a:bodyPr/>
          <a:lstStyle/>
          <a:p>
            <a:r>
              <a:rPr lang="en-US" smtClean="0"/>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fld>
            <a:endParaRPr lang="en-US" dirty="0"/>
          </a:p>
        </p:txBody>
      </p:sp>
      <p:sp>
        <p:nvSpPr>
          <p:cNvPr id="3" name="Footer Placeholder 2"/>
          <p:cNvSpPr>
            <a:spLocks noGrp="1"/>
          </p:cNvSpPr>
          <p:nvPr>
            <p:ph type="ftr" sz="quarter" idx="11"/>
          </p:nvPr>
        </p:nvSpPr>
        <p:spPr/>
        <p:txBody>
          <a:bodyPr/>
          <a:lstStyle/>
          <a:p>
            <a:r>
              <a:rPr lang="en-US" smtClean="0"/>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353632"/>
            <a:ext cx="3291840" cy="1303020"/>
          </a:xfrm>
        </p:spPr>
        <p:txBody>
          <a:bodyPr>
            <a:noAutofit/>
          </a:bodyPr>
          <a:lstStyle>
            <a:lvl1pPr>
              <a:lnSpc>
                <a:spcPct val="80000"/>
              </a:lnSpc>
              <a:defRPr sz="3000"/>
            </a:lvl1pPr>
          </a:lstStyle>
          <a:p>
            <a:r>
              <a:rPr lang="en-US" smtClean="0"/>
              <a:t>Click to edit Master title style</a:t>
            </a:r>
            <a:endParaRPr lang="en-US" dirty="0"/>
          </a:p>
        </p:txBody>
      </p:sp>
      <p:sp>
        <p:nvSpPr>
          <p:cNvPr id="3" name="Content Placeholder 2"/>
          <p:cNvSpPr>
            <a:spLocks noGrp="1"/>
          </p:cNvSpPr>
          <p:nvPr>
            <p:ph idx="1"/>
          </p:nvPr>
        </p:nvSpPr>
        <p:spPr>
          <a:xfrm>
            <a:off x="4286250" y="617220"/>
            <a:ext cx="4258818" cy="3888486"/>
          </a:xfrm>
        </p:spPr>
        <p:txBody>
          <a:bodyPr/>
          <a:lstStyle>
            <a:lvl1pPr>
              <a:defRPr sz="1800"/>
            </a:lvl1pPr>
            <a:lvl2pPr>
              <a:defRPr sz="15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768096" y="1693129"/>
            <a:ext cx="3291840" cy="2821721"/>
          </a:xfrm>
        </p:spPr>
        <p:txBody>
          <a:bodyPr lIns="91440" rIns="91440">
            <a:normAutofit/>
          </a:bodyPr>
          <a:lstStyle>
            <a:lvl1pPr marL="0" indent="0">
              <a:lnSpc>
                <a:spcPct val="108000"/>
              </a:lnSpc>
              <a:spcBef>
                <a:spcPts val="450"/>
              </a:spcBef>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76E86A4C-8E40-4F87-A4F0-01A0687C5742}" type="datetimeFigureOut">
              <a:rPr lang="en-US" smtClean="0"/>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720104"/>
            <a:ext cx="5829300" cy="1097280"/>
          </a:xfrm>
        </p:spPr>
        <p:txBody>
          <a:bodyPr anchor="ctr">
            <a:normAutofit/>
          </a:bodyPr>
          <a:lstStyle>
            <a:lvl1pPr algn="r">
              <a:defRPr sz="3750" spc="15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9141714" cy="3429000"/>
          </a:xfrm>
          <a:solidFill>
            <a:schemeClr val="accent1">
              <a:lumMod val="60000"/>
              <a:lumOff val="40000"/>
            </a:schemeClr>
          </a:solidFill>
        </p:spPr>
        <p:txBody>
          <a:bodyPr lIns="457200" tIns="365760" rIns="45720" bIns="4572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457950" y="3720104"/>
            <a:ext cx="2400300" cy="1097280"/>
          </a:xfrm>
        </p:spPr>
        <p:txBody>
          <a:bodyPr lIns="91440" rIns="91440" anchor="ctr">
            <a:normAutofit/>
          </a:bodyPr>
          <a:lstStyle>
            <a:lvl1pPr marL="0" indent="0">
              <a:lnSpc>
                <a:spcPct val="100000"/>
              </a:lnSpc>
              <a:spcBef>
                <a:spcPts val="0"/>
              </a:spcBef>
              <a:buNone/>
              <a:defRPr sz="135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35E72C73-2D91-4E12-BA25-F0AA0C03599B}" type="datetimeFigureOut">
              <a:rPr lang="en-US" smtClean="0"/>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cxnSp>
        <p:nvCxnSpPr>
          <p:cNvPr id="8" name="Straight Connector 7"/>
          <p:cNvCxnSpPr/>
          <p:nvPr/>
        </p:nvCxnSpPr>
        <p:spPr>
          <a:xfrm flipV="1">
            <a:off x="6290132" y="3948080"/>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571500"/>
            <a:ext cx="1971675" cy="405765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42951" y="571500"/>
            <a:ext cx="5686425" cy="4057650"/>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cxnSp>
        <p:nvCxnSpPr>
          <p:cNvPr id="7" name="Straight Connector 6"/>
          <p:cNvCxnSpPr/>
          <p:nvPr/>
        </p:nvCxnSpPr>
        <p:spPr>
          <a:xfrm rot="5400000" flipV="1">
            <a:off x="7543800" y="44447"/>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438912"/>
            <a:ext cx="7290054" cy="112471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8096" y="1714500"/>
            <a:ext cx="7290055" cy="3017520"/>
          </a:xfrm>
          <a:prstGeom prst="rect">
            <a:avLst/>
          </a:prstGeom>
        </p:spPr>
        <p:txBody>
          <a:bodyPr vert="horz" lIns="45720" tIns="45720" rIns="4572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768097" y="4853028"/>
            <a:ext cx="1615607" cy="205740"/>
          </a:xfrm>
          <a:prstGeom prst="rect">
            <a:avLst/>
          </a:prstGeom>
        </p:spPr>
        <p:txBody>
          <a:bodyPr vert="horz" lIns="91440" tIns="45720" rIns="91440" bIns="45720" rtlCol="0" anchor="ctr"/>
          <a:lstStyle>
            <a:lvl1pPr algn="l">
              <a:defRPr sz="750">
                <a:solidFill>
                  <a:schemeClr val="tx1">
                    <a:lumMod val="95000"/>
                    <a:lumOff val="5000"/>
                  </a:schemeClr>
                </a:solidFill>
                <a:latin typeface="+mj-lt"/>
              </a:defRPr>
            </a:lvl1pPr>
          </a:lstStyle>
          <a:p>
            <a:fld id="{2BE451C3-0FF4-47C4-B829-773ADF60F88C}" type="datetimeFigureOut">
              <a:rPr lang="en-US" smtClean="0"/>
            </a:fld>
            <a:endParaRPr lang="en-US" dirty="0"/>
          </a:p>
        </p:txBody>
      </p:sp>
      <p:sp>
        <p:nvSpPr>
          <p:cNvPr id="5" name="Footer Placeholder 4"/>
          <p:cNvSpPr>
            <a:spLocks noGrp="1"/>
          </p:cNvSpPr>
          <p:nvPr>
            <p:ph type="ftr" sz="quarter" idx="3"/>
          </p:nvPr>
        </p:nvSpPr>
        <p:spPr>
          <a:xfrm>
            <a:off x="3632200" y="4853028"/>
            <a:ext cx="4426094" cy="205740"/>
          </a:xfrm>
          <a:prstGeom prst="rect">
            <a:avLst/>
          </a:prstGeom>
        </p:spPr>
        <p:txBody>
          <a:bodyPr vert="horz" lIns="91440" tIns="45720" rIns="91440" bIns="45720" rtlCol="0" anchor="ctr"/>
          <a:lstStyle>
            <a:lvl1pPr algn="r">
              <a:defRPr sz="750" cap="all" baseline="0">
                <a:solidFill>
                  <a:schemeClr val="tx1">
                    <a:lumMod val="95000"/>
                    <a:lumOff val="5000"/>
                  </a:schemeClr>
                </a:solidFill>
                <a:latin typeface="+mj-lt"/>
              </a:defRPr>
            </a:lvl1pPr>
          </a:lstStyle>
          <a:p>
            <a:r>
              <a:rPr lang="en-US" smtClean="0"/>
              <a:t>
              </a:t>
            </a:r>
            <a:endParaRPr lang="en-US" dirty="0"/>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5000"/>
                    <a:lumOff val="5000"/>
                  </a:schemeClr>
                </a:solidFill>
                <a:latin typeface="+mj-lt"/>
              </a:defRPr>
            </a:lvl1pPr>
          </a:lstStyle>
          <a:p>
            <a:fld id="{D57F1E4F-1CFF-5643-939E-217C01CDF565}" type="slidenum">
              <a:rPr lang="en-US" smtClean="0"/>
            </a:fld>
            <a:endParaRPr lang="en-US" dirty="0"/>
          </a:p>
        </p:txBody>
      </p:sp>
      <p:cxnSp>
        <p:nvCxnSpPr>
          <p:cNvPr id="7" name="Straight Connector 6"/>
          <p:cNvCxnSpPr/>
          <p:nvPr/>
        </p:nvCxnSpPr>
        <p:spPr>
          <a:xfrm flipV="1">
            <a:off x="571500" y="61974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685800" rtl="0" eaLnBrk="1" latinLnBrk="0" hangingPunct="1">
        <a:lnSpc>
          <a:spcPct val="80000"/>
        </a:lnSpc>
        <a:spcBef>
          <a:spcPct val="0"/>
        </a:spcBef>
        <a:buNone/>
        <a:defRPr sz="3750" kern="1200" cap="all" spc="75" baseline="0">
          <a:solidFill>
            <a:schemeClr val="tx1">
              <a:lumMod val="95000"/>
              <a:lumOff val="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Tw Cen MT" panose="020B0602020104020603" pitchFamily="34" charset="0"/>
        <a:buChar char=" "/>
        <a:defRPr sz="1650" kern="1200">
          <a:solidFill>
            <a:schemeClr val="tx1"/>
          </a:solidFill>
          <a:latin typeface="+mn-lt"/>
          <a:ea typeface="+mn-ea"/>
          <a:cs typeface="+mn-cs"/>
        </a:defRPr>
      </a:lvl1pPr>
      <a:lvl2pPr marL="198755" indent="-102870" algn="l" defTabSz="685800" rtl="0" eaLnBrk="1" latinLnBrk="0" hangingPunct="1">
        <a:lnSpc>
          <a:spcPct val="90000"/>
        </a:lnSpc>
        <a:spcBef>
          <a:spcPts val="150"/>
        </a:spcBef>
        <a:spcAft>
          <a:spcPts val="300"/>
        </a:spcAft>
        <a:buClr>
          <a:schemeClr val="accent1"/>
        </a:buClr>
        <a:buFont typeface="Wingdings 3" panose="05040102010807070707" pitchFamily="18" charset="2"/>
        <a:buChar char=""/>
        <a:defRPr sz="1350" kern="1200">
          <a:solidFill>
            <a:schemeClr val="tx1"/>
          </a:solidFill>
          <a:latin typeface="+mn-lt"/>
          <a:ea typeface="+mn-ea"/>
          <a:cs typeface="+mn-cs"/>
        </a:defRPr>
      </a:lvl2pPr>
      <a:lvl3pPr marL="335915" indent="-102870" algn="l" defTabSz="685800" rtl="0" eaLnBrk="1" latinLnBrk="0" hangingPunct="1">
        <a:lnSpc>
          <a:spcPct val="90000"/>
        </a:lnSpc>
        <a:spcBef>
          <a:spcPts val="150"/>
        </a:spcBef>
        <a:spcAft>
          <a:spcPts val="300"/>
        </a:spcAft>
        <a:buClr>
          <a:schemeClr val="accent1"/>
        </a:buClr>
        <a:buFont typeface="Wingdings 3" panose="05040102010807070707" pitchFamily="18" charset="2"/>
        <a:buChar char=""/>
        <a:defRPr sz="1050" kern="1200">
          <a:solidFill>
            <a:schemeClr val="tx1"/>
          </a:solidFill>
          <a:latin typeface="+mn-lt"/>
          <a:ea typeface="+mn-ea"/>
          <a:cs typeface="+mn-cs"/>
        </a:defRPr>
      </a:lvl3pPr>
      <a:lvl4pPr marL="445770" indent="-102870" algn="l" defTabSz="685800" rtl="0" eaLnBrk="1" latinLnBrk="0" hangingPunct="1">
        <a:lnSpc>
          <a:spcPct val="90000"/>
        </a:lnSpc>
        <a:spcBef>
          <a:spcPts val="150"/>
        </a:spcBef>
        <a:spcAft>
          <a:spcPts val="300"/>
        </a:spcAft>
        <a:buClr>
          <a:schemeClr val="accent1"/>
        </a:buClr>
        <a:buFont typeface="Wingdings 3" panose="05040102010807070707" pitchFamily="18" charset="2"/>
        <a:buChar char=""/>
        <a:defRPr sz="1050" kern="1200">
          <a:solidFill>
            <a:schemeClr val="tx1"/>
          </a:solidFill>
          <a:latin typeface="+mn-lt"/>
          <a:ea typeface="+mn-ea"/>
          <a:cs typeface="+mn-cs"/>
        </a:defRPr>
      </a:lvl4pPr>
      <a:lvl5pPr marL="582930" indent="-102870" algn="l" defTabSz="685800" rtl="0" eaLnBrk="1" latinLnBrk="0" hangingPunct="1">
        <a:lnSpc>
          <a:spcPct val="90000"/>
        </a:lnSpc>
        <a:spcBef>
          <a:spcPts val="150"/>
        </a:spcBef>
        <a:spcAft>
          <a:spcPts val="300"/>
        </a:spcAft>
        <a:buClr>
          <a:schemeClr val="accent1"/>
        </a:buClr>
        <a:buFont typeface="Wingdings 3" panose="05040102010807070707" pitchFamily="18" charset="2"/>
        <a:buChar char=""/>
        <a:defRPr sz="1050" kern="1200">
          <a:solidFill>
            <a:schemeClr val="tx1"/>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1"/>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1"/>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1"/>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1"/>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6.jpeg"/><Relationship Id="rId1" Type="http://schemas.openxmlformats.org/officeDocument/2006/relationships/image" Target="../media/image5.webp"/></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chart" Target="../charts/chart3.xml"/><Relationship Id="rId1"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chart" Target="../charts/chart4.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chart" Target="../charts/chart6.xml"/><Relationship Id="rId1" Type="http://schemas.openxmlformats.org/officeDocument/2006/relationships/chart" Target="../charts/chart5.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chart" Target="../charts/chart8.xml"/><Relationship Id="rId1" Type="http://schemas.openxmlformats.org/officeDocument/2006/relationships/chart" Target="../charts/char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chart" Target="../charts/chart9.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chart" Target="../charts/char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7FAD"/>
          </a:solidFill>
          <a:ln w="12700">
            <a:solidFill>
              <a:srgbClr val="1A7FAD"/>
            </a:solidFill>
            <a:prstDash val="solid"/>
          </a:ln>
        </p:spPr>
      </p:sp>
      <p:sp>
        <p:nvSpPr>
          <p:cNvPr id="3" name="Text 1"/>
          <p:cNvSpPr/>
          <p:nvPr/>
        </p:nvSpPr>
        <p:spPr>
          <a:xfrm>
            <a:off x="320040" y="256032"/>
            <a:ext cx="8503920" cy="320040"/>
          </a:xfrm>
          <a:prstGeom prst="rect">
            <a:avLst/>
          </a:prstGeom>
          <a:noFill/>
        </p:spPr>
        <p:txBody>
          <a:bodyPr wrap="square" rtlCol="0" anchor="ctr"/>
          <a:lstStyle/>
          <a:p>
            <a:pPr marL="0" indent="0" algn="l">
              <a:buNone/>
            </a:pPr>
            <a:r>
              <a:rPr lang="en-US" sz="1000" b="1" kern="0" spc="200" dirty="0">
                <a:solidFill>
                  <a:srgbClr val="2EB8E6"/>
                </a:solidFill>
              </a:rPr>
              <a:t>INSTITUTE OF SCIENCE, NAGPUR</a:t>
            </a:r>
            <a:endParaRPr lang="en-US" sz="1000" dirty="0"/>
          </a:p>
        </p:txBody>
      </p:sp>
      <p:sp>
        <p:nvSpPr>
          <p:cNvPr id="4" name="Text 2"/>
          <p:cNvSpPr/>
          <p:nvPr/>
        </p:nvSpPr>
        <p:spPr>
          <a:xfrm>
            <a:off x="410308" y="713232"/>
            <a:ext cx="6127652" cy="2304288"/>
          </a:xfrm>
          <a:prstGeom prst="rect">
            <a:avLst/>
          </a:prstGeom>
          <a:noFill/>
        </p:spPr>
        <p:txBody>
          <a:bodyPr wrap="square" rtlCol="0" anchor="ctr"/>
          <a:lstStyle/>
          <a:p>
            <a:pPr marL="0" indent="0" algn="l">
              <a:lnSpc>
                <a:spcPct val="110000"/>
              </a:lnSpc>
              <a:buNone/>
            </a:pPr>
            <a:r>
              <a:rPr lang="en-US" sz="3800" b="1" dirty="0">
                <a:solidFill>
                  <a:srgbClr val="FFFFFF"/>
                </a:solidFill>
              </a:rPr>
              <a:t>A Study on Punctuality,</a:t>
            </a:r>
            <a:endParaRPr lang="en-US" sz="3800" dirty="0"/>
          </a:p>
          <a:p>
            <a:pPr marL="0" indent="0" algn="l">
              <a:lnSpc>
                <a:spcPct val="110000"/>
              </a:lnSpc>
              <a:buNone/>
            </a:pPr>
            <a:r>
              <a:rPr lang="en-US" sz="3800" b="1" dirty="0" smtClean="0">
                <a:solidFill>
                  <a:srgbClr val="FFFFFF"/>
                </a:solidFill>
              </a:rPr>
              <a:t>Commuter </a:t>
            </a:r>
            <a:r>
              <a:rPr lang="en-US" sz="3800" b="1" dirty="0">
                <a:solidFill>
                  <a:srgbClr val="FFFFFF"/>
                </a:solidFill>
              </a:rPr>
              <a:t>Perception &amp;</a:t>
            </a:r>
            <a:endParaRPr lang="en-US" sz="3800" dirty="0"/>
          </a:p>
          <a:p>
            <a:pPr marL="0" indent="0" algn="l">
              <a:lnSpc>
                <a:spcPct val="110000"/>
              </a:lnSpc>
              <a:buNone/>
            </a:pPr>
            <a:r>
              <a:rPr lang="en-US" sz="3800" b="1" dirty="0">
                <a:solidFill>
                  <a:srgbClr val="FFFFFF"/>
                </a:solidFill>
              </a:rPr>
              <a:t>Urban Mobility</a:t>
            </a:r>
            <a:endParaRPr lang="en-US" sz="3800" dirty="0"/>
          </a:p>
        </p:txBody>
      </p:sp>
      <p:sp>
        <p:nvSpPr>
          <p:cNvPr id="5" name="Text 3"/>
          <p:cNvSpPr/>
          <p:nvPr/>
        </p:nvSpPr>
        <p:spPr>
          <a:xfrm>
            <a:off x="320040" y="2971800"/>
            <a:ext cx="5486400" cy="411480"/>
          </a:xfrm>
          <a:prstGeom prst="rect">
            <a:avLst/>
          </a:prstGeom>
          <a:noFill/>
        </p:spPr>
        <p:txBody>
          <a:bodyPr wrap="square" rtlCol="0" anchor="ctr"/>
          <a:lstStyle/>
          <a:p>
            <a:pPr marL="0" indent="0" algn="l">
              <a:buNone/>
            </a:pPr>
            <a:r>
              <a:rPr lang="en-US" sz="1600" b="1" dirty="0">
                <a:solidFill>
                  <a:srgbClr val="E8873A"/>
                </a:solidFill>
              </a:rPr>
              <a:t>Focus: Nagpur Metro Rail</a:t>
            </a:r>
            <a:endParaRPr lang="en-US" sz="1600" dirty="0"/>
          </a:p>
        </p:txBody>
      </p:sp>
      <p:sp>
        <p:nvSpPr>
          <p:cNvPr id="6" name="Shape 4"/>
          <p:cNvSpPr/>
          <p:nvPr/>
        </p:nvSpPr>
        <p:spPr>
          <a:xfrm>
            <a:off x="6675120" y="548640"/>
            <a:ext cx="2194560" cy="2468880"/>
          </a:xfrm>
          <a:prstGeom prst="rect">
            <a:avLst/>
          </a:prstGeom>
          <a:solidFill>
            <a:srgbClr val="1B2A4A"/>
          </a:solidFill>
          <a:ln w="19050">
            <a:solidFill>
              <a:srgbClr val="1A7FAD"/>
            </a:solidFill>
            <a:prstDash val="solid"/>
          </a:ln>
        </p:spPr>
      </p:sp>
      <p:sp>
        <p:nvSpPr>
          <p:cNvPr id="7" name="Text 5"/>
          <p:cNvSpPr/>
          <p:nvPr/>
        </p:nvSpPr>
        <p:spPr>
          <a:xfrm>
            <a:off x="6675120" y="1463040"/>
            <a:ext cx="2194560" cy="548640"/>
          </a:xfrm>
          <a:prstGeom prst="rect">
            <a:avLst/>
          </a:prstGeom>
          <a:noFill/>
        </p:spPr>
        <p:txBody>
          <a:bodyPr wrap="square" rtlCol="0" anchor="ctr"/>
          <a:lstStyle/>
          <a:p>
            <a:pPr marL="0" indent="0" algn="ctr">
              <a:buNone/>
            </a:pPr>
            <a:r>
              <a:rPr lang="en-US" sz="1300" i="1" dirty="0">
                <a:solidFill>
                  <a:srgbClr val="94A3B8"/>
                </a:solidFill>
              </a:rPr>
              <a:t>[ Photo ]</a:t>
            </a:r>
            <a:endParaRPr lang="en-US" sz="1300" dirty="0"/>
          </a:p>
        </p:txBody>
      </p:sp>
      <p:sp>
        <p:nvSpPr>
          <p:cNvPr id="8" name="Text 6"/>
          <p:cNvSpPr/>
          <p:nvPr/>
        </p:nvSpPr>
        <p:spPr>
          <a:xfrm>
            <a:off x="320040" y="3520440"/>
            <a:ext cx="8503920" cy="320040"/>
          </a:xfrm>
          <a:prstGeom prst="rect">
            <a:avLst/>
          </a:prstGeom>
          <a:noFill/>
        </p:spPr>
        <p:txBody>
          <a:bodyPr wrap="square" rtlCol="0" anchor="ctr"/>
          <a:lstStyle/>
          <a:p>
            <a:pPr marL="0" indent="0" algn="l">
              <a:buNone/>
            </a:pPr>
            <a:r>
              <a:rPr lang="en-US" sz="1100" dirty="0">
                <a:solidFill>
                  <a:srgbClr val="94A3B8"/>
                </a:solidFill>
              </a:rPr>
              <a:t> Farhin Baig  </a:t>
            </a:r>
            <a:endParaRPr lang="en-US" sz="1100" dirty="0"/>
          </a:p>
        </p:txBody>
      </p:sp>
      <p:sp>
        <p:nvSpPr>
          <p:cNvPr id="9" name="Text 7"/>
          <p:cNvSpPr/>
          <p:nvPr/>
        </p:nvSpPr>
        <p:spPr>
          <a:xfrm>
            <a:off x="320040" y="3840480"/>
            <a:ext cx="8503920" cy="274320"/>
          </a:xfrm>
          <a:prstGeom prst="rect">
            <a:avLst/>
          </a:prstGeom>
          <a:noFill/>
        </p:spPr>
        <p:txBody>
          <a:bodyPr wrap="square" rtlCol="0" anchor="ctr"/>
          <a:lstStyle/>
          <a:p>
            <a:pPr marL="0" indent="0" algn="l">
              <a:buNone/>
            </a:pPr>
            <a:r>
              <a:rPr lang="en-US" sz="1000" dirty="0">
                <a:solidFill>
                  <a:srgbClr val="94A3B8"/>
                </a:solidFill>
              </a:rPr>
              <a:t>B.Sc. Statistics – Semester IV  |  Guide: Dr. Preeti Singh  |  2025–26</a:t>
            </a:r>
            <a:endParaRPr lang="en-US" sz="1000" dirty="0"/>
          </a:p>
        </p:txBody>
      </p:sp>
      <p:sp>
        <p:nvSpPr>
          <p:cNvPr id="10" name="Shape 8"/>
          <p:cNvSpPr/>
          <p:nvPr/>
        </p:nvSpPr>
        <p:spPr>
          <a:xfrm>
            <a:off x="0" y="4800600"/>
            <a:ext cx="9144000" cy="342900"/>
          </a:xfrm>
          <a:prstGeom prst="rect">
            <a:avLst/>
          </a:prstGeom>
          <a:solidFill>
            <a:srgbClr val="1A7FAD"/>
          </a:solidFill>
          <a:ln w="12700">
            <a:solidFill>
              <a:srgbClr val="1A7FAD"/>
            </a:solidFill>
            <a:prstDash val="solid"/>
          </a:ln>
        </p:spPr>
      </p:sp>
      <p:sp>
        <p:nvSpPr>
          <p:cNvPr id="11" name="Text 9"/>
          <p:cNvSpPr/>
          <p:nvPr/>
        </p:nvSpPr>
        <p:spPr>
          <a:xfrm>
            <a:off x="320040" y="4828032"/>
            <a:ext cx="8503920" cy="274320"/>
          </a:xfrm>
          <a:prstGeom prst="rect">
            <a:avLst/>
          </a:prstGeom>
          <a:noFill/>
        </p:spPr>
        <p:txBody>
          <a:bodyPr wrap="square" rtlCol="0" anchor="ctr"/>
          <a:lstStyle/>
          <a:p>
            <a:pPr marL="0" indent="0" algn="l">
              <a:buNone/>
            </a:pPr>
            <a:r>
              <a:rPr lang="en-US" sz="1000" dirty="0">
                <a:solidFill>
                  <a:srgbClr val="FFFFFF"/>
                </a:solidFill>
              </a:rPr>
              <a:t>Department of Statistics  |  Institute of Science, Nagpur</a:t>
            </a:r>
            <a:endParaRPr lang="en-US" sz="1000" dirty="0"/>
          </a:p>
        </p:txBody>
      </p:sp>
      <p:pic>
        <p:nvPicPr>
          <p:cNvPr id="14" name="Picture 13" descr="The Delhi Metro in New Delhi, India image - Free stock photo - Public ..."/>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57399" y="440753"/>
            <a:ext cx="2936629" cy="39338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PRESENTATION OVERVIEW</a:t>
            </a:r>
            <a:endParaRPr lang="en-US" sz="2000" dirty="0"/>
          </a:p>
        </p:txBody>
      </p:sp>
      <p:sp>
        <p:nvSpPr>
          <p:cNvPr id="4" name="Shape 2"/>
          <p:cNvSpPr/>
          <p:nvPr/>
        </p:nvSpPr>
        <p:spPr>
          <a:xfrm>
            <a:off x="320040" y="960120"/>
            <a:ext cx="8503920" cy="6858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sp>
      <p:sp>
        <p:nvSpPr>
          <p:cNvPr id="5" name="Shape 3"/>
          <p:cNvSpPr/>
          <p:nvPr/>
        </p:nvSpPr>
        <p:spPr>
          <a:xfrm>
            <a:off x="320040" y="960120"/>
            <a:ext cx="502920" cy="685800"/>
          </a:xfrm>
          <a:prstGeom prst="rect">
            <a:avLst/>
          </a:prstGeom>
          <a:solidFill>
            <a:srgbClr val="1A7FAD"/>
          </a:solidFill>
          <a:ln w="12700">
            <a:solidFill>
              <a:srgbClr val="1A7FAD"/>
            </a:solidFill>
            <a:prstDash val="solid"/>
          </a:ln>
        </p:spPr>
      </p:sp>
      <p:sp>
        <p:nvSpPr>
          <p:cNvPr id="6" name="Text 4"/>
          <p:cNvSpPr/>
          <p:nvPr/>
        </p:nvSpPr>
        <p:spPr>
          <a:xfrm>
            <a:off x="320040" y="1124712"/>
            <a:ext cx="502920" cy="347472"/>
          </a:xfrm>
          <a:prstGeom prst="rect">
            <a:avLst/>
          </a:prstGeom>
          <a:noFill/>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7" name="Text 5"/>
          <p:cNvSpPr/>
          <p:nvPr/>
        </p:nvSpPr>
        <p:spPr>
          <a:xfrm>
            <a:off x="914400" y="1005840"/>
            <a:ext cx="7772400" cy="292608"/>
          </a:xfrm>
          <a:prstGeom prst="rect">
            <a:avLst/>
          </a:prstGeom>
          <a:noFill/>
        </p:spPr>
        <p:txBody>
          <a:bodyPr wrap="square" rtlCol="0" anchor="ctr"/>
          <a:lstStyle/>
          <a:p>
            <a:pPr marL="0" indent="0" algn="l">
              <a:buNone/>
            </a:pPr>
            <a:r>
              <a:rPr lang="en-US" sz="1300" b="1" dirty="0">
                <a:solidFill>
                  <a:srgbClr val="1E293B"/>
                </a:solidFill>
              </a:rPr>
              <a:t>Introduction to Metro Systems</a:t>
            </a:r>
            <a:endParaRPr lang="en-US" sz="1300" dirty="0"/>
          </a:p>
        </p:txBody>
      </p:sp>
      <p:sp>
        <p:nvSpPr>
          <p:cNvPr id="8" name="Text 6"/>
          <p:cNvSpPr/>
          <p:nvPr/>
        </p:nvSpPr>
        <p:spPr>
          <a:xfrm>
            <a:off x="914400" y="1325880"/>
            <a:ext cx="7772400" cy="256032"/>
          </a:xfrm>
          <a:prstGeom prst="rect">
            <a:avLst/>
          </a:prstGeom>
          <a:noFill/>
        </p:spPr>
        <p:txBody>
          <a:bodyPr wrap="square" rtlCol="0" anchor="ctr"/>
          <a:lstStyle/>
          <a:p>
            <a:pPr marL="0" indent="0" algn="l">
              <a:buNone/>
            </a:pPr>
            <a:r>
              <a:rPr lang="en-US" sz="1000" dirty="0">
                <a:solidFill>
                  <a:srgbClr val="64748B"/>
                </a:solidFill>
              </a:rPr>
              <a:t>London, Kolkata, Delhi &amp; Nagpur Metro — origin and significance</a:t>
            </a:r>
            <a:endParaRPr lang="en-US" sz="1000" dirty="0"/>
          </a:p>
        </p:txBody>
      </p:sp>
      <p:sp>
        <p:nvSpPr>
          <p:cNvPr id="9" name="Shape 7"/>
          <p:cNvSpPr/>
          <p:nvPr/>
        </p:nvSpPr>
        <p:spPr>
          <a:xfrm>
            <a:off x="320040" y="1755648"/>
            <a:ext cx="8503920" cy="6858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sp>
      <p:sp>
        <p:nvSpPr>
          <p:cNvPr id="10" name="Shape 8"/>
          <p:cNvSpPr/>
          <p:nvPr/>
        </p:nvSpPr>
        <p:spPr>
          <a:xfrm>
            <a:off x="320040" y="1755648"/>
            <a:ext cx="502920" cy="685800"/>
          </a:xfrm>
          <a:prstGeom prst="rect">
            <a:avLst/>
          </a:prstGeom>
          <a:solidFill>
            <a:srgbClr val="1B2A4A"/>
          </a:solidFill>
          <a:ln w="12700">
            <a:solidFill>
              <a:srgbClr val="1B2A4A"/>
            </a:solidFill>
            <a:prstDash val="solid"/>
          </a:ln>
        </p:spPr>
      </p:sp>
      <p:sp>
        <p:nvSpPr>
          <p:cNvPr id="11" name="Text 9"/>
          <p:cNvSpPr/>
          <p:nvPr/>
        </p:nvSpPr>
        <p:spPr>
          <a:xfrm>
            <a:off x="320040" y="1920240"/>
            <a:ext cx="502920" cy="347472"/>
          </a:xfrm>
          <a:prstGeom prst="rect">
            <a:avLst/>
          </a:prstGeom>
          <a:noFill/>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2" name="Text 10"/>
          <p:cNvSpPr/>
          <p:nvPr/>
        </p:nvSpPr>
        <p:spPr>
          <a:xfrm>
            <a:off x="914400" y="1801368"/>
            <a:ext cx="7772400" cy="292608"/>
          </a:xfrm>
          <a:prstGeom prst="rect">
            <a:avLst/>
          </a:prstGeom>
          <a:noFill/>
        </p:spPr>
        <p:txBody>
          <a:bodyPr wrap="square" rtlCol="0" anchor="ctr"/>
          <a:lstStyle/>
          <a:p>
            <a:pPr marL="0" indent="0" algn="l">
              <a:buNone/>
            </a:pPr>
            <a:r>
              <a:rPr lang="en-US" sz="1300" b="1" dirty="0">
                <a:solidFill>
                  <a:srgbClr val="1E293B"/>
                </a:solidFill>
              </a:rPr>
              <a:t>Research Methodology</a:t>
            </a:r>
            <a:endParaRPr lang="en-US" sz="1300" dirty="0"/>
          </a:p>
        </p:txBody>
      </p:sp>
      <p:sp>
        <p:nvSpPr>
          <p:cNvPr id="13" name="Text 11"/>
          <p:cNvSpPr/>
          <p:nvPr/>
        </p:nvSpPr>
        <p:spPr>
          <a:xfrm>
            <a:off x="914400" y="2121408"/>
            <a:ext cx="7772400" cy="256032"/>
          </a:xfrm>
          <a:prstGeom prst="rect">
            <a:avLst/>
          </a:prstGeom>
          <a:noFill/>
        </p:spPr>
        <p:txBody>
          <a:bodyPr wrap="square" rtlCol="0" anchor="ctr"/>
          <a:lstStyle/>
          <a:p>
            <a:pPr marL="0" indent="0" algn="l">
              <a:buNone/>
            </a:pPr>
            <a:r>
              <a:rPr lang="en-US" sz="1000" dirty="0">
                <a:solidFill>
                  <a:srgbClr val="64748B"/>
                </a:solidFill>
              </a:rPr>
              <a:t>Survey design, data collection, 82 responses from Nagpur commuters</a:t>
            </a:r>
            <a:endParaRPr lang="en-US" sz="1000" dirty="0"/>
          </a:p>
        </p:txBody>
      </p:sp>
      <p:sp>
        <p:nvSpPr>
          <p:cNvPr id="14" name="Shape 12"/>
          <p:cNvSpPr/>
          <p:nvPr/>
        </p:nvSpPr>
        <p:spPr>
          <a:xfrm>
            <a:off x="474785" y="2491740"/>
            <a:ext cx="8503920" cy="6858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sp>
      <p:sp>
        <p:nvSpPr>
          <p:cNvPr id="15" name="Shape 13"/>
          <p:cNvSpPr/>
          <p:nvPr/>
        </p:nvSpPr>
        <p:spPr>
          <a:xfrm>
            <a:off x="320040" y="2551176"/>
            <a:ext cx="502920" cy="685800"/>
          </a:xfrm>
          <a:prstGeom prst="rect">
            <a:avLst/>
          </a:prstGeom>
          <a:solidFill>
            <a:srgbClr val="1A7FAD"/>
          </a:solidFill>
          <a:ln w="12700">
            <a:solidFill>
              <a:srgbClr val="1A7FAD"/>
            </a:solidFill>
            <a:prstDash val="solid"/>
          </a:ln>
        </p:spPr>
      </p:sp>
      <p:sp>
        <p:nvSpPr>
          <p:cNvPr id="16" name="Text 14"/>
          <p:cNvSpPr/>
          <p:nvPr/>
        </p:nvSpPr>
        <p:spPr>
          <a:xfrm>
            <a:off x="320040" y="2715768"/>
            <a:ext cx="502920" cy="347472"/>
          </a:xfrm>
          <a:prstGeom prst="rect">
            <a:avLst/>
          </a:prstGeom>
          <a:noFill/>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17" name="Text 15"/>
          <p:cNvSpPr/>
          <p:nvPr/>
        </p:nvSpPr>
        <p:spPr>
          <a:xfrm>
            <a:off x="914400" y="2596896"/>
            <a:ext cx="7772400" cy="292608"/>
          </a:xfrm>
          <a:prstGeom prst="rect">
            <a:avLst/>
          </a:prstGeom>
          <a:noFill/>
        </p:spPr>
        <p:txBody>
          <a:bodyPr wrap="square" rtlCol="0" anchor="ctr"/>
          <a:lstStyle/>
          <a:p>
            <a:pPr marL="0" indent="0" algn="l">
              <a:buNone/>
            </a:pPr>
            <a:r>
              <a:rPr lang="en-US" sz="1300" b="1" dirty="0">
                <a:solidFill>
                  <a:srgbClr val="1E293B"/>
                </a:solidFill>
              </a:rPr>
              <a:t>Literature Review</a:t>
            </a:r>
            <a:endParaRPr lang="en-US" sz="1300" dirty="0"/>
          </a:p>
        </p:txBody>
      </p:sp>
      <p:sp>
        <p:nvSpPr>
          <p:cNvPr id="18" name="Text 16"/>
          <p:cNvSpPr/>
          <p:nvPr/>
        </p:nvSpPr>
        <p:spPr>
          <a:xfrm>
            <a:off x="914400" y="2916936"/>
            <a:ext cx="7772400" cy="256032"/>
          </a:xfrm>
          <a:prstGeom prst="rect">
            <a:avLst/>
          </a:prstGeom>
          <a:noFill/>
        </p:spPr>
        <p:txBody>
          <a:bodyPr wrap="square" rtlCol="0" anchor="ctr"/>
          <a:lstStyle/>
          <a:p>
            <a:pPr marL="0" indent="0" algn="l">
              <a:buNone/>
            </a:pPr>
            <a:r>
              <a:rPr lang="en-US" sz="1000" dirty="0">
                <a:solidFill>
                  <a:srgbClr val="64748B"/>
                </a:solidFill>
              </a:rPr>
              <a:t>Benchmarks — Delhi (95%), Bangalore (92%), Tokyo (98%) vs Nagpur (90%)</a:t>
            </a:r>
            <a:endParaRPr lang="en-US" sz="1000" dirty="0"/>
          </a:p>
        </p:txBody>
      </p:sp>
      <p:sp>
        <p:nvSpPr>
          <p:cNvPr id="19" name="Shape 17"/>
          <p:cNvSpPr/>
          <p:nvPr/>
        </p:nvSpPr>
        <p:spPr>
          <a:xfrm>
            <a:off x="320040" y="3346704"/>
            <a:ext cx="8503920" cy="6858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sp>
      <p:sp>
        <p:nvSpPr>
          <p:cNvPr id="20" name="Shape 18"/>
          <p:cNvSpPr/>
          <p:nvPr/>
        </p:nvSpPr>
        <p:spPr>
          <a:xfrm>
            <a:off x="320040" y="3346704"/>
            <a:ext cx="502920" cy="685800"/>
          </a:xfrm>
          <a:prstGeom prst="rect">
            <a:avLst/>
          </a:prstGeom>
          <a:solidFill>
            <a:srgbClr val="1B2A4A"/>
          </a:solidFill>
          <a:ln w="12700">
            <a:solidFill>
              <a:srgbClr val="1B2A4A"/>
            </a:solidFill>
            <a:prstDash val="solid"/>
          </a:ln>
        </p:spPr>
      </p:sp>
      <p:sp>
        <p:nvSpPr>
          <p:cNvPr id="21" name="Text 19"/>
          <p:cNvSpPr/>
          <p:nvPr/>
        </p:nvSpPr>
        <p:spPr>
          <a:xfrm>
            <a:off x="320040" y="3511296"/>
            <a:ext cx="502920" cy="347472"/>
          </a:xfrm>
          <a:prstGeom prst="rect">
            <a:avLst/>
          </a:prstGeom>
          <a:noFill/>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2" name="Text 20"/>
          <p:cNvSpPr/>
          <p:nvPr/>
        </p:nvSpPr>
        <p:spPr>
          <a:xfrm>
            <a:off x="914400" y="3392424"/>
            <a:ext cx="7772400" cy="292608"/>
          </a:xfrm>
          <a:prstGeom prst="rect">
            <a:avLst/>
          </a:prstGeom>
          <a:noFill/>
        </p:spPr>
        <p:txBody>
          <a:bodyPr wrap="square" rtlCol="0" anchor="ctr"/>
          <a:lstStyle/>
          <a:p>
            <a:pPr marL="0" indent="0" algn="l">
              <a:buNone/>
            </a:pPr>
            <a:r>
              <a:rPr lang="en-US" sz="1300" b="1" dirty="0">
                <a:solidFill>
                  <a:srgbClr val="1E293B"/>
                </a:solidFill>
              </a:rPr>
              <a:t>Data Analysis &amp; Key Findings</a:t>
            </a:r>
            <a:endParaRPr lang="en-US" sz="1300" dirty="0"/>
          </a:p>
        </p:txBody>
      </p:sp>
      <p:sp>
        <p:nvSpPr>
          <p:cNvPr id="23" name="Text 21"/>
          <p:cNvSpPr/>
          <p:nvPr/>
        </p:nvSpPr>
        <p:spPr>
          <a:xfrm>
            <a:off x="914400" y="3712464"/>
            <a:ext cx="7772400" cy="256032"/>
          </a:xfrm>
          <a:prstGeom prst="rect">
            <a:avLst/>
          </a:prstGeom>
          <a:noFill/>
        </p:spPr>
        <p:txBody>
          <a:bodyPr wrap="square" rtlCol="0" anchor="ctr"/>
          <a:lstStyle/>
          <a:p>
            <a:pPr marL="0" indent="0" algn="l">
              <a:buNone/>
            </a:pPr>
            <a:r>
              <a:rPr lang="en-US" sz="1000" dirty="0">
                <a:solidFill>
                  <a:srgbClr val="64748B"/>
                </a:solidFill>
              </a:rPr>
              <a:t>9 survey questions — frequency tables, charts, and statistical output</a:t>
            </a:r>
            <a:endParaRPr lang="en-US" sz="1000" dirty="0"/>
          </a:p>
        </p:txBody>
      </p:sp>
      <p:sp>
        <p:nvSpPr>
          <p:cNvPr id="24" name="Shape 22"/>
          <p:cNvSpPr/>
          <p:nvPr/>
        </p:nvSpPr>
        <p:spPr>
          <a:xfrm>
            <a:off x="320040" y="4142232"/>
            <a:ext cx="8503920" cy="6858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sp>
      <p:sp>
        <p:nvSpPr>
          <p:cNvPr id="25" name="Shape 23"/>
          <p:cNvSpPr/>
          <p:nvPr/>
        </p:nvSpPr>
        <p:spPr>
          <a:xfrm>
            <a:off x="320040" y="4142232"/>
            <a:ext cx="502920" cy="685800"/>
          </a:xfrm>
          <a:prstGeom prst="rect">
            <a:avLst/>
          </a:prstGeom>
          <a:solidFill>
            <a:srgbClr val="1A7FAD"/>
          </a:solidFill>
          <a:ln w="12700">
            <a:solidFill>
              <a:srgbClr val="1A7FAD"/>
            </a:solidFill>
            <a:prstDash val="solid"/>
          </a:ln>
        </p:spPr>
      </p:sp>
      <p:sp>
        <p:nvSpPr>
          <p:cNvPr id="26" name="Text 24"/>
          <p:cNvSpPr/>
          <p:nvPr/>
        </p:nvSpPr>
        <p:spPr>
          <a:xfrm>
            <a:off x="320040" y="4306824"/>
            <a:ext cx="502920" cy="347472"/>
          </a:xfrm>
          <a:prstGeom prst="rect">
            <a:avLst/>
          </a:prstGeom>
          <a:noFill/>
        </p:spPr>
        <p:txBody>
          <a:bodyPr wrap="square" lIns="0" tIns="0" rIns="0" bIns="0" rtlCol="0" anchor="ctr"/>
          <a:lstStyle/>
          <a:p>
            <a:pPr marL="0" indent="0" algn="ctr">
              <a:buNone/>
            </a:pPr>
            <a:r>
              <a:rPr lang="en-US" sz="1400" b="1" dirty="0">
                <a:solidFill>
                  <a:srgbClr val="FFFFFF"/>
                </a:solidFill>
              </a:rPr>
              <a:t>05</a:t>
            </a:r>
            <a:endParaRPr lang="en-US" sz="1400" dirty="0"/>
          </a:p>
        </p:txBody>
      </p:sp>
      <p:sp>
        <p:nvSpPr>
          <p:cNvPr id="27" name="Text 25"/>
          <p:cNvSpPr/>
          <p:nvPr/>
        </p:nvSpPr>
        <p:spPr>
          <a:xfrm>
            <a:off x="914400" y="4187952"/>
            <a:ext cx="7772400" cy="292608"/>
          </a:xfrm>
          <a:prstGeom prst="rect">
            <a:avLst/>
          </a:prstGeom>
          <a:noFill/>
        </p:spPr>
        <p:txBody>
          <a:bodyPr wrap="square" rtlCol="0" anchor="ctr"/>
          <a:lstStyle/>
          <a:p>
            <a:pPr marL="0" indent="0" algn="l">
              <a:buNone/>
            </a:pPr>
            <a:r>
              <a:rPr lang="en-US" sz="1300" b="1" dirty="0">
                <a:solidFill>
                  <a:srgbClr val="1E293B"/>
                </a:solidFill>
              </a:rPr>
              <a:t>Conclusions &amp; Recommendations</a:t>
            </a:r>
            <a:endParaRPr lang="en-US" sz="1300" dirty="0"/>
          </a:p>
        </p:txBody>
      </p:sp>
      <p:sp>
        <p:nvSpPr>
          <p:cNvPr id="28" name="Text 26"/>
          <p:cNvSpPr/>
          <p:nvPr/>
        </p:nvSpPr>
        <p:spPr>
          <a:xfrm>
            <a:off x="914400" y="4507992"/>
            <a:ext cx="7772400" cy="256032"/>
          </a:xfrm>
          <a:prstGeom prst="rect">
            <a:avLst/>
          </a:prstGeom>
          <a:noFill/>
        </p:spPr>
        <p:txBody>
          <a:bodyPr wrap="square" rtlCol="0" anchor="ctr"/>
          <a:lstStyle/>
          <a:p>
            <a:pPr marL="0" indent="0" algn="l">
              <a:buNone/>
            </a:pPr>
            <a:r>
              <a:rPr lang="en-US" sz="1000" dirty="0">
                <a:solidFill>
                  <a:srgbClr val="64748B"/>
                </a:solidFill>
              </a:rPr>
              <a:t>What the data says and what MahaMetro should do next</a:t>
            </a:r>
            <a:endParaRPr lang="en-US" sz="1000" dirty="0"/>
          </a:p>
        </p:txBody>
      </p:sp>
      <p:pic>
        <p:nvPicPr>
          <p:cNvPr id="29" name="Picture 28" descr="Fichier:Metro-Paris-Rame-MF77-ligne.jpg — Wikipédia"/>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45125" y="0"/>
            <a:ext cx="3288325"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1800" b="1" dirty="0">
                <a:solidFill>
                  <a:srgbClr val="FFFFFF"/>
                </a:solidFill>
              </a:rPr>
              <a:t>CHAPTER 1 — Introduction to Metro Systems</a:t>
            </a:r>
            <a:endParaRPr lang="en-US" sz="1800" dirty="0"/>
          </a:p>
        </p:txBody>
      </p:sp>
      <p:sp>
        <p:nvSpPr>
          <p:cNvPr id="4" name="Text 2"/>
          <p:cNvSpPr/>
          <p:nvPr/>
        </p:nvSpPr>
        <p:spPr>
          <a:xfrm>
            <a:off x="365760" y="914400"/>
            <a:ext cx="8412480" cy="411480"/>
          </a:xfrm>
          <a:prstGeom prst="rect">
            <a:avLst/>
          </a:prstGeom>
          <a:noFill/>
        </p:spPr>
        <p:txBody>
          <a:bodyPr wrap="square" rtlCol="0" anchor="ctr"/>
          <a:lstStyle/>
          <a:p>
            <a:pPr marL="0" indent="0" algn="l">
              <a:buNone/>
            </a:pPr>
            <a:r>
              <a:rPr lang="en-US" sz="2200" b="1" dirty="0">
                <a:solidFill>
                  <a:srgbClr val="0D1B2A"/>
                </a:solidFill>
              </a:rPr>
              <a:t>What Is a Metro Rail System?</a:t>
            </a:r>
            <a:endParaRPr lang="en-US" sz="2200" dirty="0"/>
          </a:p>
        </p:txBody>
      </p:sp>
      <p:sp>
        <p:nvSpPr>
          <p:cNvPr id="5" name="Text 3"/>
          <p:cNvSpPr/>
          <p:nvPr/>
        </p:nvSpPr>
        <p:spPr>
          <a:xfrm>
            <a:off x="365760" y="1371600"/>
            <a:ext cx="8412480" cy="640080"/>
          </a:xfrm>
          <a:prstGeom prst="rect">
            <a:avLst/>
          </a:prstGeom>
          <a:noFill/>
        </p:spPr>
        <p:txBody>
          <a:bodyPr wrap="square" rtlCol="0" anchor="ctr"/>
          <a:lstStyle/>
          <a:p>
            <a:pPr marL="0" indent="0" algn="l">
              <a:buNone/>
            </a:pPr>
            <a:r>
              <a:rPr lang="en-US" sz="1300" dirty="0">
                <a:solidFill>
                  <a:srgbClr val="1E293B"/>
                </a:solidFill>
              </a:rPr>
              <a:t>A metro is a city-level train network built to carry large numbers of passengers quickly — running on dedicated tracks, completely separate from road traffic. It reduces congestion, cuts pollution, and makes cities far more connected.</a:t>
            </a:r>
            <a:endParaRPr lang="en-US" sz="1300" dirty="0"/>
          </a:p>
        </p:txBody>
      </p:sp>
      <p:sp>
        <p:nvSpPr>
          <p:cNvPr id="6" name="Shape 4"/>
          <p:cNvSpPr/>
          <p:nvPr/>
        </p:nvSpPr>
        <p:spPr>
          <a:xfrm>
            <a:off x="320040" y="2240280"/>
            <a:ext cx="1920240" cy="1417320"/>
          </a:xfrm>
          <a:prstGeom prst="rect">
            <a:avLst/>
          </a:prstGeom>
          <a:solidFill>
            <a:srgbClr val="0D1B2A"/>
          </a:solidFill>
          <a:ln w="12700">
            <a:solidFill>
              <a:srgbClr val="0D1B2A"/>
            </a:solidFill>
            <a:prstDash val="solid"/>
          </a:ln>
        </p:spPr>
      </p:sp>
      <p:sp>
        <p:nvSpPr>
          <p:cNvPr id="7" name="Text 5"/>
          <p:cNvSpPr/>
          <p:nvPr/>
        </p:nvSpPr>
        <p:spPr>
          <a:xfrm>
            <a:off x="320040" y="2331720"/>
            <a:ext cx="19202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320040" y="2743200"/>
            <a:ext cx="1920240" cy="274320"/>
          </a:xfrm>
          <a:prstGeom prst="rect">
            <a:avLst/>
          </a:prstGeom>
          <a:noFill/>
        </p:spPr>
        <p:txBody>
          <a:bodyPr wrap="square" rtlCol="0" anchor="ctr"/>
          <a:lstStyle/>
          <a:p>
            <a:pPr marL="0" indent="0" algn="ctr">
              <a:buNone/>
            </a:pPr>
            <a:r>
              <a:rPr lang="en-US" sz="1100" b="1" dirty="0">
                <a:solidFill>
                  <a:srgbClr val="FFFFFF"/>
                </a:solidFill>
              </a:rPr>
              <a:t>Electrically Powered</a:t>
            </a:r>
            <a:endParaRPr lang="en-US" sz="1100" dirty="0"/>
          </a:p>
        </p:txBody>
      </p:sp>
      <p:sp>
        <p:nvSpPr>
          <p:cNvPr id="9" name="Text 7"/>
          <p:cNvSpPr/>
          <p:nvPr/>
        </p:nvSpPr>
        <p:spPr>
          <a:xfrm>
            <a:off x="320040" y="3035808"/>
            <a:ext cx="1920240" cy="502920"/>
          </a:xfrm>
          <a:prstGeom prst="rect">
            <a:avLst/>
          </a:prstGeom>
          <a:noFill/>
        </p:spPr>
        <p:txBody>
          <a:bodyPr wrap="square" rtlCol="0" anchor="ctr"/>
          <a:lstStyle/>
          <a:p>
            <a:pPr marL="0" indent="0" algn="ctr">
              <a:buNone/>
            </a:pPr>
            <a:r>
              <a:rPr lang="en-US" sz="950" dirty="0">
                <a:solidFill>
                  <a:srgbClr val="D6EAF8"/>
                </a:solidFill>
              </a:rPr>
              <a:t>Clean energy, reduced carbon emissions</a:t>
            </a:r>
            <a:endParaRPr lang="en-US" sz="950" dirty="0"/>
          </a:p>
        </p:txBody>
      </p:sp>
      <p:sp>
        <p:nvSpPr>
          <p:cNvPr id="10" name="Shape 8"/>
          <p:cNvSpPr/>
          <p:nvPr/>
        </p:nvSpPr>
        <p:spPr>
          <a:xfrm>
            <a:off x="2468880" y="2240280"/>
            <a:ext cx="1920240" cy="1417320"/>
          </a:xfrm>
          <a:prstGeom prst="rect">
            <a:avLst/>
          </a:prstGeom>
          <a:solidFill>
            <a:srgbClr val="1A7FAD"/>
          </a:solidFill>
          <a:ln w="12700">
            <a:solidFill>
              <a:srgbClr val="1A7FAD"/>
            </a:solidFill>
            <a:prstDash val="solid"/>
          </a:ln>
        </p:spPr>
      </p:sp>
      <p:sp>
        <p:nvSpPr>
          <p:cNvPr id="11" name="Text 9"/>
          <p:cNvSpPr/>
          <p:nvPr/>
        </p:nvSpPr>
        <p:spPr>
          <a:xfrm>
            <a:off x="2468880" y="2331720"/>
            <a:ext cx="19202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2468880" y="2743200"/>
            <a:ext cx="1920240" cy="274320"/>
          </a:xfrm>
          <a:prstGeom prst="rect">
            <a:avLst/>
          </a:prstGeom>
          <a:noFill/>
        </p:spPr>
        <p:txBody>
          <a:bodyPr wrap="square" rtlCol="0" anchor="ctr"/>
          <a:lstStyle/>
          <a:p>
            <a:pPr marL="0" indent="0" algn="ctr">
              <a:buNone/>
            </a:pPr>
            <a:r>
              <a:rPr lang="en-US" sz="1100" b="1" dirty="0">
                <a:solidFill>
                  <a:srgbClr val="FFFFFF"/>
                </a:solidFill>
              </a:rPr>
              <a:t>Dedicated Tracks</a:t>
            </a:r>
            <a:endParaRPr lang="en-US" sz="1100" dirty="0"/>
          </a:p>
        </p:txBody>
      </p:sp>
      <p:sp>
        <p:nvSpPr>
          <p:cNvPr id="13" name="Text 11"/>
          <p:cNvSpPr/>
          <p:nvPr/>
        </p:nvSpPr>
        <p:spPr>
          <a:xfrm>
            <a:off x="2468880" y="3035808"/>
            <a:ext cx="1920240" cy="502920"/>
          </a:xfrm>
          <a:prstGeom prst="rect">
            <a:avLst/>
          </a:prstGeom>
          <a:noFill/>
        </p:spPr>
        <p:txBody>
          <a:bodyPr wrap="square" rtlCol="0" anchor="ctr"/>
          <a:lstStyle/>
          <a:p>
            <a:pPr marL="0" indent="0" algn="ctr">
              <a:buNone/>
            </a:pPr>
            <a:r>
              <a:rPr lang="en-US" sz="950" dirty="0">
                <a:solidFill>
                  <a:srgbClr val="D6EAF8"/>
                </a:solidFill>
              </a:rPr>
              <a:t>No interference from road traffic</a:t>
            </a:r>
            <a:endParaRPr lang="en-US" sz="950" dirty="0"/>
          </a:p>
        </p:txBody>
      </p:sp>
      <p:sp>
        <p:nvSpPr>
          <p:cNvPr id="14" name="Shape 12"/>
          <p:cNvSpPr/>
          <p:nvPr/>
        </p:nvSpPr>
        <p:spPr>
          <a:xfrm>
            <a:off x="4617720" y="2240280"/>
            <a:ext cx="1920240" cy="1417320"/>
          </a:xfrm>
          <a:prstGeom prst="rect">
            <a:avLst/>
          </a:prstGeom>
          <a:solidFill>
            <a:srgbClr val="0D1B2A"/>
          </a:solidFill>
          <a:ln w="12700">
            <a:solidFill>
              <a:srgbClr val="0D1B2A"/>
            </a:solidFill>
            <a:prstDash val="solid"/>
          </a:ln>
        </p:spPr>
      </p:sp>
      <p:sp>
        <p:nvSpPr>
          <p:cNvPr id="15" name="Text 13"/>
          <p:cNvSpPr/>
          <p:nvPr/>
        </p:nvSpPr>
        <p:spPr>
          <a:xfrm>
            <a:off x="4617720" y="2331720"/>
            <a:ext cx="19202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4617720" y="2743200"/>
            <a:ext cx="1920240" cy="274320"/>
          </a:xfrm>
          <a:prstGeom prst="rect">
            <a:avLst/>
          </a:prstGeom>
          <a:noFill/>
        </p:spPr>
        <p:txBody>
          <a:bodyPr wrap="square" rtlCol="0" anchor="ctr"/>
          <a:lstStyle/>
          <a:p>
            <a:pPr marL="0" indent="0" algn="ctr">
              <a:buNone/>
            </a:pPr>
            <a:r>
              <a:rPr lang="en-US" sz="1100" b="1" dirty="0">
                <a:solidFill>
                  <a:srgbClr val="FFFFFF"/>
                </a:solidFill>
              </a:rPr>
              <a:t>Integrated Transport</a:t>
            </a:r>
            <a:endParaRPr lang="en-US" sz="1100" dirty="0"/>
          </a:p>
        </p:txBody>
      </p:sp>
      <p:sp>
        <p:nvSpPr>
          <p:cNvPr id="17" name="Text 15"/>
          <p:cNvSpPr/>
          <p:nvPr/>
        </p:nvSpPr>
        <p:spPr>
          <a:xfrm>
            <a:off x="4617720" y="3035808"/>
            <a:ext cx="1920240" cy="502920"/>
          </a:xfrm>
          <a:prstGeom prst="rect">
            <a:avLst/>
          </a:prstGeom>
          <a:noFill/>
        </p:spPr>
        <p:txBody>
          <a:bodyPr wrap="square" rtlCol="0" anchor="ctr"/>
          <a:lstStyle/>
          <a:p>
            <a:pPr marL="0" indent="0" algn="ctr">
              <a:buNone/>
            </a:pPr>
            <a:r>
              <a:rPr lang="en-US" sz="950" dirty="0">
                <a:solidFill>
                  <a:srgbClr val="D6EAF8"/>
                </a:solidFill>
              </a:rPr>
              <a:t>Connected with buses, trams &amp; rail</a:t>
            </a:r>
            <a:endParaRPr lang="en-US" sz="950" dirty="0"/>
          </a:p>
        </p:txBody>
      </p:sp>
      <p:sp>
        <p:nvSpPr>
          <p:cNvPr id="18" name="Shape 16"/>
          <p:cNvSpPr/>
          <p:nvPr/>
        </p:nvSpPr>
        <p:spPr>
          <a:xfrm>
            <a:off x="6766560" y="2240280"/>
            <a:ext cx="1920240" cy="1417320"/>
          </a:xfrm>
          <a:prstGeom prst="rect">
            <a:avLst/>
          </a:prstGeom>
          <a:solidFill>
            <a:srgbClr val="1A7FAD"/>
          </a:solidFill>
          <a:ln w="12700">
            <a:solidFill>
              <a:srgbClr val="1A7FAD"/>
            </a:solidFill>
            <a:prstDash val="solid"/>
          </a:ln>
        </p:spPr>
      </p:sp>
      <p:sp>
        <p:nvSpPr>
          <p:cNvPr id="19" name="Text 17"/>
          <p:cNvSpPr/>
          <p:nvPr/>
        </p:nvSpPr>
        <p:spPr>
          <a:xfrm>
            <a:off x="6766560" y="2331720"/>
            <a:ext cx="19202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20" name="Text 18"/>
          <p:cNvSpPr/>
          <p:nvPr/>
        </p:nvSpPr>
        <p:spPr>
          <a:xfrm>
            <a:off x="6766560" y="2743200"/>
            <a:ext cx="1920240" cy="274320"/>
          </a:xfrm>
          <a:prstGeom prst="rect">
            <a:avLst/>
          </a:prstGeom>
          <a:noFill/>
        </p:spPr>
        <p:txBody>
          <a:bodyPr wrap="square" rtlCol="0" anchor="ctr"/>
          <a:lstStyle/>
          <a:p>
            <a:pPr marL="0" indent="0" algn="ctr">
              <a:buNone/>
            </a:pPr>
            <a:r>
              <a:rPr lang="en-US" sz="1100" b="1" dirty="0">
                <a:solidFill>
                  <a:srgbClr val="FFFFFF"/>
                </a:solidFill>
              </a:rPr>
              <a:t>Urban Growth Engine</a:t>
            </a:r>
            <a:endParaRPr lang="en-US" sz="1100" dirty="0"/>
          </a:p>
        </p:txBody>
      </p:sp>
      <p:sp>
        <p:nvSpPr>
          <p:cNvPr id="21" name="Text 19"/>
          <p:cNvSpPr/>
          <p:nvPr/>
        </p:nvSpPr>
        <p:spPr>
          <a:xfrm>
            <a:off x="6766560" y="3035808"/>
            <a:ext cx="1920240" cy="502920"/>
          </a:xfrm>
          <a:prstGeom prst="rect">
            <a:avLst/>
          </a:prstGeom>
          <a:noFill/>
        </p:spPr>
        <p:txBody>
          <a:bodyPr wrap="square" rtlCol="0" anchor="ctr"/>
          <a:lstStyle/>
          <a:p>
            <a:pPr marL="0" indent="0" algn="ctr">
              <a:buNone/>
            </a:pPr>
            <a:r>
              <a:rPr lang="en-US" sz="950" dirty="0">
                <a:solidFill>
                  <a:srgbClr val="D6EAF8"/>
                </a:solidFill>
              </a:rPr>
              <a:t>Drives economic &amp; social development</a:t>
            </a:r>
            <a:endParaRPr lang="en-US" sz="950" dirty="0"/>
          </a:p>
        </p:txBody>
      </p:sp>
      <p:sp>
        <p:nvSpPr>
          <p:cNvPr id="22" name="Text 20"/>
          <p:cNvSpPr/>
          <p:nvPr/>
        </p:nvSpPr>
        <p:spPr>
          <a:xfrm>
            <a:off x="365760" y="3794760"/>
            <a:ext cx="8412480" cy="457200"/>
          </a:xfrm>
          <a:prstGeom prst="rect">
            <a:avLst/>
          </a:prstGeom>
          <a:noFill/>
        </p:spPr>
        <p:txBody>
          <a:bodyPr wrap="square" rtlCol="0" anchor="ctr"/>
          <a:lstStyle/>
          <a:p>
            <a:pPr marL="0" indent="0" algn="l">
              <a:buNone/>
            </a:pPr>
            <a:r>
              <a:rPr lang="en-US" sz="1200" i="1" dirty="0">
                <a:solidFill>
                  <a:srgbClr val="64748B"/>
                </a:solidFill>
              </a:rPr>
              <a:t>Today, over 200 cities worldwide operate metro systems — continuing a tradition that started in London over 160 years ago.</a:t>
            </a:r>
            <a:endParaRPr lang="en-US" sz="1200" dirty="0"/>
          </a:p>
        </p:txBody>
      </p:sp>
      <p:sp>
        <p:nvSpPr>
          <p:cNvPr id="23" name="Shape 21"/>
          <p:cNvSpPr/>
          <p:nvPr/>
        </p:nvSpPr>
        <p:spPr>
          <a:xfrm>
            <a:off x="0" y="4800600"/>
            <a:ext cx="9144000" cy="342900"/>
          </a:xfrm>
          <a:prstGeom prst="rect">
            <a:avLst/>
          </a:prstGeom>
          <a:solidFill>
            <a:srgbClr val="1A7FAD"/>
          </a:solidFill>
          <a:ln w="12700">
            <a:solidFill>
              <a:srgbClr val="1A7FAD"/>
            </a:solidFill>
            <a:prstDash val="solid"/>
          </a:ln>
        </p:spPr>
      </p:sp>
      <p:sp>
        <p:nvSpPr>
          <p:cNvPr id="24" name="Text 22"/>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Metro systems are the backbone of sustainable smart city infrastructure.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London Underground — Where It All Began</a:t>
            </a:r>
            <a:endParaRPr lang="en-US" sz="2000" dirty="0"/>
          </a:p>
        </p:txBody>
      </p:sp>
      <p:sp>
        <p:nvSpPr>
          <p:cNvPr id="4" name="Text 2"/>
          <p:cNvSpPr/>
          <p:nvPr/>
        </p:nvSpPr>
        <p:spPr>
          <a:xfrm>
            <a:off x="365760" y="960120"/>
            <a:ext cx="4754880" cy="411480"/>
          </a:xfrm>
          <a:prstGeom prst="rect">
            <a:avLst/>
          </a:prstGeom>
          <a:noFill/>
        </p:spPr>
        <p:txBody>
          <a:bodyPr wrap="square" rtlCol="0" anchor="ctr"/>
          <a:lstStyle/>
          <a:p>
            <a:pPr marL="0" indent="0">
              <a:buNone/>
            </a:pPr>
            <a:r>
              <a:rPr lang="en-US" sz="2000" b="1" dirty="0">
                <a:solidFill>
                  <a:srgbClr val="0D1B2A"/>
                </a:solidFill>
              </a:rPr>
              <a:t>The World's First Metro</a:t>
            </a:r>
            <a:endParaRPr lang="en-US" sz="2000" dirty="0"/>
          </a:p>
        </p:txBody>
      </p:sp>
      <p:sp>
        <p:nvSpPr>
          <p:cNvPr id="5" name="Text 3"/>
          <p:cNvSpPr/>
          <p:nvPr/>
        </p:nvSpPr>
        <p:spPr>
          <a:xfrm>
            <a:off x="365760" y="1417320"/>
            <a:ext cx="4754880" cy="914400"/>
          </a:xfrm>
          <a:prstGeom prst="rect">
            <a:avLst/>
          </a:prstGeom>
          <a:noFill/>
        </p:spPr>
        <p:txBody>
          <a:bodyPr wrap="square" rtlCol="0" anchor="ctr"/>
          <a:lstStyle/>
          <a:p>
            <a:pPr marL="0" indent="0">
              <a:buNone/>
            </a:pPr>
            <a:r>
              <a:rPr lang="en-US" sz="1250" dirty="0">
                <a:solidFill>
                  <a:srgbClr val="1E293B"/>
                </a:solidFill>
              </a:rPr>
              <a:t>The London Underground — "The Tube" — opened in 1863, making it the world's first metro system. </a:t>
            </a:r>
            <a:r>
              <a:rPr lang="en-US" sz="1250" dirty="0" smtClean="0">
                <a:solidFill>
                  <a:srgbClr val="1E293B"/>
                </a:solidFill>
              </a:rPr>
              <a:t>It connected Paddington to </a:t>
            </a:r>
            <a:r>
              <a:rPr lang="en-US" sz="1250" dirty="0" err="1" smtClean="0">
                <a:solidFill>
                  <a:srgbClr val="1E293B"/>
                </a:solidFill>
              </a:rPr>
              <a:t>farringdon</a:t>
            </a:r>
            <a:r>
              <a:rPr lang="en-US" sz="1250" dirty="0" smtClean="0">
                <a:solidFill>
                  <a:srgbClr val="1E293B"/>
                </a:solidFill>
              </a:rPr>
              <a:t> street. Trains were stream locomotives running underground </a:t>
            </a:r>
            <a:r>
              <a:rPr lang="en-US" sz="1250" dirty="0" err="1" smtClean="0">
                <a:solidFill>
                  <a:srgbClr val="1E293B"/>
                </a:solidFill>
              </a:rPr>
              <a:t>tunnels.the</a:t>
            </a:r>
            <a:r>
              <a:rPr lang="en-US" sz="1250" dirty="0" smtClean="0">
                <a:solidFill>
                  <a:srgbClr val="1E293B"/>
                </a:solidFill>
              </a:rPr>
              <a:t> first deep level electric tube line in the world.</a:t>
            </a:r>
            <a:endParaRPr lang="en-US" sz="1250" dirty="0"/>
          </a:p>
        </p:txBody>
      </p:sp>
      <p:sp>
        <p:nvSpPr>
          <p:cNvPr id="6" name="Shape 4"/>
          <p:cNvSpPr/>
          <p:nvPr/>
        </p:nvSpPr>
        <p:spPr>
          <a:xfrm>
            <a:off x="365760" y="2468880"/>
            <a:ext cx="2103120" cy="685800"/>
          </a:xfrm>
          <a:prstGeom prst="rect">
            <a:avLst/>
          </a:prstGeom>
          <a:solidFill>
            <a:srgbClr val="0D1B2A"/>
          </a:solidFill>
          <a:ln w="12700">
            <a:solidFill>
              <a:srgbClr val="0D1B2A"/>
            </a:solidFill>
            <a:prstDash val="solid"/>
          </a:ln>
        </p:spPr>
      </p:sp>
      <p:sp>
        <p:nvSpPr>
          <p:cNvPr id="7" name="Text 5"/>
          <p:cNvSpPr/>
          <p:nvPr/>
        </p:nvSpPr>
        <p:spPr>
          <a:xfrm>
            <a:off x="365760" y="2505456"/>
            <a:ext cx="2103120" cy="347472"/>
          </a:xfrm>
          <a:prstGeom prst="rect">
            <a:avLst/>
          </a:prstGeom>
          <a:noFill/>
        </p:spPr>
        <p:txBody>
          <a:bodyPr wrap="square" rtlCol="0" anchor="ctr"/>
          <a:lstStyle/>
          <a:p>
            <a:pPr marL="0" indent="0" algn="ctr">
              <a:buNone/>
            </a:pPr>
            <a:r>
              <a:rPr lang="en-US" sz="1800" b="1" dirty="0">
                <a:solidFill>
                  <a:srgbClr val="2EB8E6"/>
                </a:solidFill>
              </a:rPr>
              <a:t>1863</a:t>
            </a:r>
            <a:endParaRPr lang="en-US" sz="1800" dirty="0"/>
          </a:p>
        </p:txBody>
      </p:sp>
      <p:sp>
        <p:nvSpPr>
          <p:cNvPr id="8" name="Text 6"/>
          <p:cNvSpPr/>
          <p:nvPr/>
        </p:nvSpPr>
        <p:spPr>
          <a:xfrm>
            <a:off x="365760" y="2852928"/>
            <a:ext cx="2103120" cy="256032"/>
          </a:xfrm>
          <a:prstGeom prst="rect">
            <a:avLst/>
          </a:prstGeom>
          <a:noFill/>
        </p:spPr>
        <p:txBody>
          <a:bodyPr wrap="square" rtlCol="0" anchor="ctr"/>
          <a:lstStyle/>
          <a:p>
            <a:pPr marL="0" indent="0" algn="ctr">
              <a:buNone/>
            </a:pPr>
            <a:r>
              <a:rPr lang="en-US" sz="950" dirty="0">
                <a:solidFill>
                  <a:srgbClr val="94A3B8"/>
                </a:solidFill>
              </a:rPr>
              <a:t>Year Opened</a:t>
            </a:r>
            <a:endParaRPr lang="en-US" sz="950" dirty="0"/>
          </a:p>
        </p:txBody>
      </p:sp>
      <p:sp>
        <p:nvSpPr>
          <p:cNvPr id="9" name="Shape 7"/>
          <p:cNvSpPr/>
          <p:nvPr/>
        </p:nvSpPr>
        <p:spPr>
          <a:xfrm>
            <a:off x="2743200" y="2468880"/>
            <a:ext cx="2103120" cy="685800"/>
          </a:xfrm>
          <a:prstGeom prst="rect">
            <a:avLst/>
          </a:prstGeom>
          <a:solidFill>
            <a:srgbClr val="0D1B2A"/>
          </a:solidFill>
          <a:ln w="12700">
            <a:solidFill>
              <a:srgbClr val="0D1B2A"/>
            </a:solidFill>
            <a:prstDash val="solid"/>
          </a:ln>
        </p:spPr>
      </p:sp>
      <p:sp>
        <p:nvSpPr>
          <p:cNvPr id="10" name="Text 8"/>
          <p:cNvSpPr/>
          <p:nvPr/>
        </p:nvSpPr>
        <p:spPr>
          <a:xfrm>
            <a:off x="2743200" y="2505456"/>
            <a:ext cx="2103120" cy="347472"/>
          </a:xfrm>
          <a:prstGeom prst="rect">
            <a:avLst/>
          </a:prstGeom>
          <a:noFill/>
        </p:spPr>
        <p:txBody>
          <a:bodyPr wrap="square" rtlCol="0" anchor="ctr"/>
          <a:lstStyle/>
          <a:p>
            <a:pPr marL="0" indent="0" algn="ctr">
              <a:buNone/>
            </a:pPr>
            <a:r>
              <a:rPr lang="en-US" sz="1800" b="1" dirty="0">
                <a:solidFill>
                  <a:srgbClr val="2EB8E6"/>
                </a:solidFill>
              </a:rPr>
              <a:t>272</a:t>
            </a:r>
            <a:endParaRPr lang="en-US" sz="1800" dirty="0"/>
          </a:p>
        </p:txBody>
      </p:sp>
      <p:sp>
        <p:nvSpPr>
          <p:cNvPr id="11" name="Text 9"/>
          <p:cNvSpPr/>
          <p:nvPr/>
        </p:nvSpPr>
        <p:spPr>
          <a:xfrm>
            <a:off x="2743200" y="2852928"/>
            <a:ext cx="2103120" cy="256032"/>
          </a:xfrm>
          <a:prstGeom prst="rect">
            <a:avLst/>
          </a:prstGeom>
          <a:noFill/>
        </p:spPr>
        <p:txBody>
          <a:bodyPr wrap="square" rtlCol="0" anchor="ctr"/>
          <a:lstStyle/>
          <a:p>
            <a:pPr marL="0" indent="0" algn="ctr">
              <a:buNone/>
            </a:pPr>
            <a:r>
              <a:rPr lang="en-US" sz="950" dirty="0">
                <a:solidFill>
                  <a:srgbClr val="94A3B8"/>
                </a:solidFill>
              </a:rPr>
              <a:t>Stations</a:t>
            </a:r>
            <a:endParaRPr lang="en-US" sz="950" dirty="0"/>
          </a:p>
        </p:txBody>
      </p:sp>
      <p:sp>
        <p:nvSpPr>
          <p:cNvPr id="12" name="Shape 10"/>
          <p:cNvSpPr/>
          <p:nvPr/>
        </p:nvSpPr>
        <p:spPr>
          <a:xfrm>
            <a:off x="365760" y="3337560"/>
            <a:ext cx="2103120" cy="685800"/>
          </a:xfrm>
          <a:prstGeom prst="rect">
            <a:avLst/>
          </a:prstGeom>
          <a:solidFill>
            <a:srgbClr val="0D1B2A"/>
          </a:solidFill>
          <a:ln w="12700">
            <a:solidFill>
              <a:srgbClr val="0D1B2A"/>
            </a:solidFill>
            <a:prstDash val="solid"/>
          </a:ln>
        </p:spPr>
      </p:sp>
      <p:sp>
        <p:nvSpPr>
          <p:cNvPr id="13" name="Text 11"/>
          <p:cNvSpPr/>
          <p:nvPr/>
        </p:nvSpPr>
        <p:spPr>
          <a:xfrm>
            <a:off x="365760" y="3374136"/>
            <a:ext cx="2103120" cy="347472"/>
          </a:xfrm>
          <a:prstGeom prst="rect">
            <a:avLst/>
          </a:prstGeom>
          <a:noFill/>
        </p:spPr>
        <p:txBody>
          <a:bodyPr wrap="square" rtlCol="0" anchor="ctr"/>
          <a:lstStyle/>
          <a:p>
            <a:pPr marL="0" indent="0" algn="ctr">
              <a:buNone/>
            </a:pPr>
            <a:r>
              <a:rPr lang="en-US" sz="1800" b="1" dirty="0">
                <a:solidFill>
                  <a:srgbClr val="2EB8E6"/>
                </a:solidFill>
              </a:rPr>
              <a:t>402 km</a:t>
            </a:r>
            <a:endParaRPr lang="en-US" sz="1800" dirty="0"/>
          </a:p>
        </p:txBody>
      </p:sp>
      <p:sp>
        <p:nvSpPr>
          <p:cNvPr id="14" name="Text 12"/>
          <p:cNvSpPr/>
          <p:nvPr/>
        </p:nvSpPr>
        <p:spPr>
          <a:xfrm>
            <a:off x="365760" y="3721608"/>
            <a:ext cx="2103120" cy="256032"/>
          </a:xfrm>
          <a:prstGeom prst="rect">
            <a:avLst/>
          </a:prstGeom>
          <a:noFill/>
        </p:spPr>
        <p:txBody>
          <a:bodyPr wrap="square" rtlCol="0" anchor="ctr"/>
          <a:lstStyle/>
          <a:p>
            <a:pPr marL="0" indent="0" algn="ctr">
              <a:buNone/>
            </a:pPr>
            <a:r>
              <a:rPr lang="en-US" sz="950" dirty="0">
                <a:solidFill>
                  <a:srgbClr val="94A3B8"/>
                </a:solidFill>
              </a:rPr>
              <a:t>Track Length</a:t>
            </a:r>
            <a:endParaRPr lang="en-US" sz="950" dirty="0"/>
          </a:p>
        </p:txBody>
      </p:sp>
      <p:sp>
        <p:nvSpPr>
          <p:cNvPr id="15" name="Shape 13"/>
          <p:cNvSpPr/>
          <p:nvPr/>
        </p:nvSpPr>
        <p:spPr>
          <a:xfrm>
            <a:off x="2743200" y="3337560"/>
            <a:ext cx="2103120" cy="685800"/>
          </a:xfrm>
          <a:prstGeom prst="rect">
            <a:avLst/>
          </a:prstGeom>
          <a:solidFill>
            <a:srgbClr val="0D1B2A"/>
          </a:solidFill>
          <a:ln w="12700">
            <a:solidFill>
              <a:srgbClr val="0D1B2A"/>
            </a:solidFill>
            <a:prstDash val="solid"/>
          </a:ln>
        </p:spPr>
      </p:sp>
      <p:sp>
        <p:nvSpPr>
          <p:cNvPr id="16" name="Text 14"/>
          <p:cNvSpPr/>
          <p:nvPr/>
        </p:nvSpPr>
        <p:spPr>
          <a:xfrm>
            <a:off x="2743200" y="3374136"/>
            <a:ext cx="2103120" cy="347472"/>
          </a:xfrm>
          <a:prstGeom prst="rect">
            <a:avLst/>
          </a:prstGeom>
          <a:noFill/>
        </p:spPr>
        <p:txBody>
          <a:bodyPr wrap="square" rtlCol="0" anchor="ctr"/>
          <a:lstStyle/>
          <a:p>
            <a:pPr marL="0" indent="0" algn="ctr">
              <a:buNone/>
            </a:pPr>
            <a:r>
              <a:rPr lang="en-US" sz="1800" b="1" dirty="0">
                <a:solidFill>
                  <a:srgbClr val="2EB8E6"/>
                </a:solidFill>
              </a:rPr>
              <a:t>~4M</a:t>
            </a:r>
            <a:endParaRPr lang="en-US" sz="1800" dirty="0"/>
          </a:p>
        </p:txBody>
      </p:sp>
      <p:sp>
        <p:nvSpPr>
          <p:cNvPr id="17" name="Text 15"/>
          <p:cNvSpPr/>
          <p:nvPr/>
        </p:nvSpPr>
        <p:spPr>
          <a:xfrm>
            <a:off x="2743200" y="3721608"/>
            <a:ext cx="2103120" cy="256032"/>
          </a:xfrm>
          <a:prstGeom prst="rect">
            <a:avLst/>
          </a:prstGeom>
          <a:noFill/>
        </p:spPr>
        <p:txBody>
          <a:bodyPr wrap="square" rtlCol="0" anchor="ctr"/>
          <a:lstStyle/>
          <a:p>
            <a:pPr marL="0" indent="0" algn="ctr">
              <a:buNone/>
            </a:pPr>
            <a:r>
              <a:rPr lang="en-US" sz="950" dirty="0">
                <a:solidFill>
                  <a:srgbClr val="94A3B8"/>
                </a:solidFill>
              </a:rPr>
              <a:t>Daily Passengers</a:t>
            </a:r>
            <a:endParaRPr lang="en-US" sz="950" dirty="0"/>
          </a:p>
        </p:txBody>
      </p:sp>
      <p:sp>
        <p:nvSpPr>
          <p:cNvPr id="18" name="Shape 16"/>
          <p:cNvSpPr/>
          <p:nvPr/>
        </p:nvSpPr>
        <p:spPr>
          <a:xfrm>
            <a:off x="5602837" y="960120"/>
            <a:ext cx="3474720" cy="3200400"/>
          </a:xfrm>
          <a:prstGeom prst="rect">
            <a:avLst/>
          </a:prstGeom>
          <a:solidFill>
            <a:srgbClr val="D6EAF8"/>
          </a:solidFill>
          <a:ln w="19050">
            <a:solidFill>
              <a:srgbClr val="1A7FAD"/>
            </a:solidFill>
            <a:prstDash val="solid"/>
          </a:ln>
        </p:spPr>
      </p:sp>
      <p:sp>
        <p:nvSpPr>
          <p:cNvPr id="19" name="Text 17"/>
          <p:cNvSpPr/>
          <p:nvPr/>
        </p:nvSpPr>
        <p:spPr>
          <a:xfrm>
            <a:off x="5349240" y="2194560"/>
            <a:ext cx="3474720" cy="731520"/>
          </a:xfrm>
          <a:prstGeom prst="rect">
            <a:avLst/>
          </a:prstGeom>
          <a:noFill/>
        </p:spPr>
        <p:txBody>
          <a:bodyPr wrap="square" rtlCol="0" anchor="ctr"/>
          <a:lstStyle/>
          <a:p>
            <a:pPr marL="0" indent="0" algn="ctr">
              <a:buNone/>
            </a:pPr>
            <a:r>
              <a:rPr lang="en-US" sz="1300" i="1" dirty="0">
                <a:solidFill>
                  <a:srgbClr val="64748B"/>
                </a:solidFill>
              </a:rPr>
              <a:t>[ Insert London</a:t>
            </a:r>
            <a:endParaRPr lang="en-US" sz="1300" dirty="0"/>
          </a:p>
          <a:p>
            <a:pPr marL="0" indent="0" algn="ctr">
              <a:buNone/>
            </a:pPr>
            <a:r>
              <a:rPr lang="en-US" sz="1300" i="1" dirty="0">
                <a:solidFill>
                  <a:srgbClr val="64748B"/>
                </a:solidFill>
              </a:rPr>
              <a:t>Underground Photo ]</a:t>
            </a:r>
            <a:endParaRPr lang="en-US" sz="1300" dirty="0"/>
          </a:p>
        </p:txBody>
      </p:sp>
      <p:sp>
        <p:nvSpPr>
          <p:cNvPr id="20" name="Shape 18"/>
          <p:cNvSpPr/>
          <p:nvPr/>
        </p:nvSpPr>
        <p:spPr>
          <a:xfrm>
            <a:off x="0" y="4800600"/>
            <a:ext cx="9144000" cy="342900"/>
          </a:xfrm>
          <a:prstGeom prst="rect">
            <a:avLst/>
          </a:prstGeom>
          <a:solidFill>
            <a:srgbClr val="1A7FAD"/>
          </a:solidFill>
          <a:ln w="12700">
            <a:solidFill>
              <a:srgbClr val="1A7FAD"/>
            </a:solidFill>
            <a:prstDash val="solid"/>
          </a:ln>
        </p:spPr>
      </p:sp>
      <p:sp>
        <p:nvSpPr>
          <p:cNvPr id="21" name="Text 19"/>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Every metro system built today carries forward what London started in 1863.</a:t>
            </a:r>
            <a:endParaRPr lang="en-US" sz="1000" dirty="0"/>
          </a:p>
        </p:txBody>
      </p:sp>
      <p:pic>
        <p:nvPicPr>
          <p:cNvPr id="22" name="Picture 21" descr="File:London Underground circa 1900.jpg - Wikipedia"/>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49240" y="960120"/>
            <a:ext cx="3728317" cy="35204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Metro in India — Kolkata (1984) &amp; Delhi (2002)</a:t>
            </a:r>
            <a:endParaRPr lang="en-US" sz="2000" dirty="0"/>
          </a:p>
        </p:txBody>
      </p:sp>
      <p:sp>
        <p:nvSpPr>
          <p:cNvPr id="4" name="Shape 2"/>
          <p:cNvSpPr/>
          <p:nvPr/>
        </p:nvSpPr>
        <p:spPr>
          <a:xfrm>
            <a:off x="274320" y="914400"/>
            <a:ext cx="3977640" cy="3977640"/>
          </a:xfrm>
          <a:prstGeom prst="rect">
            <a:avLst/>
          </a:prstGeom>
          <a:solidFill>
            <a:srgbClr val="FFFFFF"/>
          </a:solidFill>
          <a:ln w="12700">
            <a:solidFill>
              <a:srgbClr val="D6EAF8"/>
            </a:solidFill>
            <a:prstDash val="solid"/>
          </a:ln>
        </p:spPr>
      </p:sp>
      <p:sp>
        <p:nvSpPr>
          <p:cNvPr id="5" name="Shape 3"/>
          <p:cNvSpPr/>
          <p:nvPr/>
        </p:nvSpPr>
        <p:spPr>
          <a:xfrm>
            <a:off x="274320" y="914400"/>
            <a:ext cx="3977640" cy="384048"/>
          </a:xfrm>
          <a:prstGeom prst="rect">
            <a:avLst/>
          </a:prstGeom>
          <a:solidFill>
            <a:srgbClr val="1A7FAD"/>
          </a:solidFill>
          <a:ln w="12700">
            <a:solidFill>
              <a:srgbClr val="1A7FAD"/>
            </a:solidFill>
            <a:prstDash val="solid"/>
          </a:ln>
        </p:spPr>
      </p:sp>
      <p:sp>
        <p:nvSpPr>
          <p:cNvPr id="6" name="Text 4"/>
          <p:cNvSpPr/>
          <p:nvPr/>
        </p:nvSpPr>
        <p:spPr>
          <a:xfrm>
            <a:off x="320040" y="932688"/>
            <a:ext cx="3886200" cy="347472"/>
          </a:xfrm>
          <a:prstGeom prst="rect">
            <a:avLst/>
          </a:prstGeom>
          <a:noFill/>
        </p:spPr>
        <p:txBody>
          <a:bodyPr wrap="square" rtlCol="0" anchor="ctr"/>
          <a:lstStyle/>
          <a:p>
            <a:pPr marL="0" indent="0">
              <a:buNone/>
            </a:pPr>
            <a:r>
              <a:rPr lang="en-US" sz="1100" b="1" dirty="0">
                <a:solidFill>
                  <a:srgbClr val="FFFFFF"/>
                </a:solidFill>
              </a:rPr>
              <a:t>KOLKATA METRO  — 1984</a:t>
            </a:r>
            <a:endParaRPr lang="en-US" sz="1100" dirty="0"/>
          </a:p>
        </p:txBody>
      </p:sp>
      <p:sp>
        <p:nvSpPr>
          <p:cNvPr id="7" name="Shape 5"/>
          <p:cNvSpPr/>
          <p:nvPr/>
        </p:nvSpPr>
        <p:spPr>
          <a:xfrm>
            <a:off x="320040" y="1353312"/>
            <a:ext cx="3886200" cy="1371600"/>
          </a:xfrm>
          <a:prstGeom prst="rect">
            <a:avLst/>
          </a:prstGeom>
          <a:solidFill>
            <a:srgbClr val="D6EAF8"/>
          </a:solidFill>
          <a:ln w="12700">
            <a:solidFill>
              <a:srgbClr val="D6EAF8"/>
            </a:solidFill>
            <a:prstDash val="solid"/>
          </a:ln>
        </p:spPr>
      </p:sp>
      <p:sp>
        <p:nvSpPr>
          <p:cNvPr id="8" name="Text 6"/>
          <p:cNvSpPr/>
          <p:nvPr/>
        </p:nvSpPr>
        <p:spPr>
          <a:xfrm>
            <a:off x="320040" y="1737360"/>
            <a:ext cx="3886200" cy="548640"/>
          </a:xfrm>
          <a:prstGeom prst="rect">
            <a:avLst/>
          </a:prstGeom>
          <a:noFill/>
        </p:spPr>
        <p:txBody>
          <a:bodyPr wrap="square" rtlCol="0" anchor="ctr"/>
          <a:lstStyle/>
          <a:p>
            <a:pPr marL="0" indent="0" algn="ctr">
              <a:buNone/>
            </a:pPr>
            <a:r>
              <a:rPr lang="en-US" sz="1200" i="1" dirty="0">
                <a:solidFill>
                  <a:srgbClr val="64748B"/>
                </a:solidFill>
              </a:rPr>
              <a:t>[ Kolkata Metro Photo ]</a:t>
            </a:r>
            <a:endParaRPr lang="en-US" sz="1200" dirty="0"/>
          </a:p>
        </p:txBody>
      </p:sp>
      <p:sp>
        <p:nvSpPr>
          <p:cNvPr id="9" name="Text 7"/>
          <p:cNvSpPr/>
          <p:nvPr/>
        </p:nvSpPr>
        <p:spPr>
          <a:xfrm>
            <a:off x="365760" y="2834640"/>
            <a:ext cx="3840480" cy="914400"/>
          </a:xfrm>
          <a:prstGeom prst="rect">
            <a:avLst/>
          </a:prstGeom>
          <a:noFill/>
        </p:spPr>
        <p:txBody>
          <a:bodyPr wrap="square" rtlCol="0" anchor="ctr"/>
          <a:lstStyle/>
          <a:p>
            <a:pPr marL="0" indent="0">
              <a:buNone/>
            </a:pPr>
            <a:r>
              <a:rPr lang="en-US" sz="1100" dirty="0">
                <a:solidFill>
                  <a:srgbClr val="1E293B"/>
                </a:solidFill>
              </a:rPr>
              <a:t>India's very first metro — inaugurated in 1984. It was a breakthrough: proof that Indian cities could build world-class underground rail. At the time, it was only the second metro in Asia outside Japan.</a:t>
            </a:r>
            <a:endParaRPr lang="en-US" sz="1100" dirty="0"/>
          </a:p>
        </p:txBody>
      </p:sp>
      <p:sp>
        <p:nvSpPr>
          <p:cNvPr id="10" name="Text 8"/>
          <p:cNvSpPr/>
          <p:nvPr/>
        </p:nvSpPr>
        <p:spPr>
          <a:xfrm>
            <a:off x="365760" y="3794760"/>
            <a:ext cx="3840480" cy="320040"/>
          </a:xfrm>
          <a:prstGeom prst="rect">
            <a:avLst/>
          </a:prstGeom>
          <a:noFill/>
        </p:spPr>
        <p:txBody>
          <a:bodyPr wrap="square" rtlCol="0" anchor="ctr"/>
          <a:lstStyle/>
          <a:p>
            <a:pPr marL="0" indent="0">
              <a:buNone/>
            </a:pPr>
            <a:r>
              <a:rPr lang="en-US" sz="1000" b="1" dirty="0">
                <a:solidFill>
                  <a:srgbClr val="1A7FAD"/>
                </a:solidFill>
              </a:rPr>
              <a:t>27 Stations  |  32 km  |  Oldest Metro in India</a:t>
            </a:r>
            <a:endParaRPr lang="en-US" sz="1000" dirty="0"/>
          </a:p>
        </p:txBody>
      </p:sp>
      <p:sp>
        <p:nvSpPr>
          <p:cNvPr id="11" name="Shape 9"/>
          <p:cNvSpPr/>
          <p:nvPr/>
        </p:nvSpPr>
        <p:spPr>
          <a:xfrm>
            <a:off x="4892040" y="914400"/>
            <a:ext cx="3977640" cy="3977640"/>
          </a:xfrm>
          <a:prstGeom prst="rect">
            <a:avLst/>
          </a:prstGeom>
          <a:solidFill>
            <a:srgbClr val="FFFFFF"/>
          </a:solidFill>
          <a:ln w="12700">
            <a:solidFill>
              <a:srgbClr val="D6EAF8"/>
            </a:solidFill>
            <a:prstDash val="solid"/>
          </a:ln>
        </p:spPr>
      </p:sp>
      <p:sp>
        <p:nvSpPr>
          <p:cNvPr id="12" name="Shape 10"/>
          <p:cNvSpPr/>
          <p:nvPr/>
        </p:nvSpPr>
        <p:spPr>
          <a:xfrm>
            <a:off x="4892040" y="914400"/>
            <a:ext cx="3977640" cy="384048"/>
          </a:xfrm>
          <a:prstGeom prst="rect">
            <a:avLst/>
          </a:prstGeom>
          <a:solidFill>
            <a:srgbClr val="E8873A"/>
          </a:solidFill>
          <a:ln w="12700">
            <a:solidFill>
              <a:srgbClr val="E8873A"/>
            </a:solidFill>
            <a:prstDash val="solid"/>
          </a:ln>
        </p:spPr>
      </p:sp>
      <p:sp>
        <p:nvSpPr>
          <p:cNvPr id="13" name="Text 11"/>
          <p:cNvSpPr/>
          <p:nvPr/>
        </p:nvSpPr>
        <p:spPr>
          <a:xfrm>
            <a:off x="4937760" y="932688"/>
            <a:ext cx="3886200" cy="347472"/>
          </a:xfrm>
          <a:prstGeom prst="rect">
            <a:avLst/>
          </a:prstGeom>
          <a:noFill/>
        </p:spPr>
        <p:txBody>
          <a:bodyPr wrap="square" rtlCol="0" anchor="ctr"/>
          <a:lstStyle/>
          <a:p>
            <a:pPr marL="0" indent="0">
              <a:buNone/>
            </a:pPr>
            <a:r>
              <a:rPr lang="en-US" sz="1100" b="1" dirty="0">
                <a:solidFill>
                  <a:srgbClr val="FFFFFF"/>
                </a:solidFill>
              </a:rPr>
              <a:t>DELHI METRO  — 2002</a:t>
            </a:r>
            <a:endParaRPr lang="en-US" sz="1100" dirty="0"/>
          </a:p>
        </p:txBody>
      </p:sp>
      <p:sp>
        <p:nvSpPr>
          <p:cNvPr id="14" name="Shape 12"/>
          <p:cNvSpPr/>
          <p:nvPr/>
        </p:nvSpPr>
        <p:spPr>
          <a:xfrm>
            <a:off x="4937760" y="1353312"/>
            <a:ext cx="3886200" cy="1371600"/>
          </a:xfrm>
          <a:prstGeom prst="rect">
            <a:avLst/>
          </a:prstGeom>
        </p:spPr>
        <p:style>
          <a:lnRef idx="2">
            <a:schemeClr val="accent2"/>
          </a:lnRef>
          <a:fillRef idx="1">
            <a:schemeClr val="lt1"/>
          </a:fillRef>
          <a:effectRef idx="0">
            <a:schemeClr val="accent2"/>
          </a:effectRef>
          <a:fontRef idx="minor">
            <a:schemeClr val="dk1"/>
          </a:fontRef>
        </p:style>
      </p:sp>
      <p:sp>
        <p:nvSpPr>
          <p:cNvPr id="15" name="Text 13"/>
          <p:cNvSpPr/>
          <p:nvPr/>
        </p:nvSpPr>
        <p:spPr>
          <a:xfrm>
            <a:off x="4937760" y="1737360"/>
            <a:ext cx="3886200" cy="548640"/>
          </a:xfrm>
          <a:prstGeom prst="rect">
            <a:avLst/>
          </a:prstGeom>
          <a:noFill/>
        </p:spPr>
        <p:txBody>
          <a:bodyPr wrap="square" rtlCol="0" anchor="ctr"/>
          <a:lstStyle/>
          <a:p>
            <a:pPr marL="0" indent="0" algn="ctr">
              <a:buNone/>
            </a:pPr>
            <a:r>
              <a:rPr lang="en-US" sz="1200" i="1" dirty="0">
                <a:solidFill>
                  <a:srgbClr val="64748B"/>
                </a:solidFill>
              </a:rPr>
              <a:t>[ Delhi Metro Photo ]</a:t>
            </a:r>
            <a:endParaRPr lang="en-US" sz="1200" dirty="0"/>
          </a:p>
        </p:txBody>
      </p:sp>
      <p:sp>
        <p:nvSpPr>
          <p:cNvPr id="16" name="Text 14"/>
          <p:cNvSpPr/>
          <p:nvPr/>
        </p:nvSpPr>
        <p:spPr>
          <a:xfrm>
            <a:off x="4937760" y="2834640"/>
            <a:ext cx="3840480" cy="914400"/>
          </a:xfrm>
          <a:prstGeom prst="rect">
            <a:avLst/>
          </a:prstGeom>
          <a:noFill/>
        </p:spPr>
        <p:txBody>
          <a:bodyPr wrap="square" rtlCol="0" anchor="ctr"/>
          <a:lstStyle/>
          <a:p>
            <a:pPr marL="0" indent="0">
              <a:buNone/>
            </a:pPr>
            <a:r>
              <a:rPr lang="en-US" sz="1100" dirty="0">
                <a:solidFill>
                  <a:srgbClr val="1E293B"/>
                </a:solidFill>
              </a:rPr>
              <a:t>Delhi Metro transformed urban commuting in India. Efficient, safe, and reliable — it became the gold standard for every metro project launched after it. It operates at 95% punctuality, reducing 400,000+ car trips per day.</a:t>
            </a:r>
            <a:endParaRPr lang="en-US" sz="1100" dirty="0"/>
          </a:p>
        </p:txBody>
      </p:sp>
      <p:sp>
        <p:nvSpPr>
          <p:cNvPr id="17" name="Text 15"/>
          <p:cNvSpPr/>
          <p:nvPr/>
        </p:nvSpPr>
        <p:spPr>
          <a:xfrm>
            <a:off x="4937760" y="3794760"/>
            <a:ext cx="3840480" cy="320040"/>
          </a:xfrm>
          <a:prstGeom prst="rect">
            <a:avLst/>
          </a:prstGeom>
          <a:noFill/>
        </p:spPr>
        <p:txBody>
          <a:bodyPr wrap="square" rtlCol="0" anchor="ctr"/>
          <a:lstStyle/>
          <a:p>
            <a:pPr marL="0" indent="0">
              <a:buNone/>
            </a:pPr>
            <a:r>
              <a:rPr lang="en-US" sz="1000" b="1" dirty="0">
                <a:solidFill>
                  <a:srgbClr val="E8873A"/>
                </a:solidFill>
              </a:rPr>
              <a:t>286 Stations  |  391 km  |  3rd Largest in World</a:t>
            </a:r>
            <a:endParaRPr lang="en-US" sz="1000" dirty="0"/>
          </a:p>
        </p:txBody>
      </p:sp>
      <p:sp>
        <p:nvSpPr>
          <p:cNvPr id="18" name="Shape 16"/>
          <p:cNvSpPr/>
          <p:nvPr/>
        </p:nvSpPr>
        <p:spPr>
          <a:xfrm>
            <a:off x="0" y="4800600"/>
            <a:ext cx="9144000" cy="342900"/>
          </a:xfrm>
          <a:prstGeom prst="rect">
            <a:avLst/>
          </a:prstGeom>
          <a:solidFill>
            <a:srgbClr val="1A7FAD"/>
          </a:solidFill>
          <a:ln w="12700">
            <a:solidFill>
              <a:srgbClr val="1A7FAD"/>
            </a:solidFill>
            <a:prstDash val="solid"/>
          </a:ln>
        </p:spPr>
      </p:sp>
      <p:sp>
        <p:nvSpPr>
          <p:cNvPr id="19" name="Text 17"/>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India today has 1,000+ km of metro across 23 cities — 3rd largest network in the world.</a:t>
            </a:r>
            <a:endParaRPr lang="en-US" sz="1000" dirty="0"/>
          </a:p>
        </p:txBody>
      </p:sp>
      <p:pic>
        <p:nvPicPr>
          <p:cNvPr id="20" name="Picture 19" descr="Kolkata Metro: বদলে গেল মেট্রোর সময়সূচী, খেলা দেখে নিশ্চিন্তে বাড়ি ..."/>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4770" y="1389888"/>
            <a:ext cx="3611222" cy="1508760"/>
          </a:xfrm>
          <a:prstGeom prst="rect">
            <a:avLst/>
          </a:prstGeom>
        </p:spPr>
      </p:pic>
      <p:pic>
        <p:nvPicPr>
          <p:cNvPr id="21" name="Picture 20" descr="Metro | Delhi Metro is a rapid transit system serving Delhi,… | Flick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7760" y="1344167"/>
            <a:ext cx="3886200" cy="14173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Nagpur Metro — India's First Green Metro (2019)</a:t>
            </a:r>
            <a:endParaRPr lang="en-US" sz="2000" dirty="0"/>
          </a:p>
        </p:txBody>
      </p:sp>
      <p:sp>
        <p:nvSpPr>
          <p:cNvPr id="4" name="Shape 2"/>
          <p:cNvSpPr/>
          <p:nvPr/>
        </p:nvSpPr>
        <p:spPr>
          <a:xfrm>
            <a:off x="274320" y="914400"/>
            <a:ext cx="3657600" cy="2743200"/>
          </a:xfrm>
          <a:prstGeom prst="rect">
            <a:avLst/>
          </a:prstGeom>
          <a:solidFill>
            <a:srgbClr val="D6EAF8"/>
          </a:solidFill>
          <a:ln w="19050">
            <a:solidFill>
              <a:srgbClr val="1A7FAD"/>
            </a:solidFill>
            <a:prstDash val="solid"/>
          </a:ln>
        </p:spPr>
      </p:sp>
      <p:sp>
        <p:nvSpPr>
          <p:cNvPr id="5" name="Text 3"/>
          <p:cNvSpPr/>
          <p:nvPr/>
        </p:nvSpPr>
        <p:spPr>
          <a:xfrm>
            <a:off x="274320" y="2011680"/>
            <a:ext cx="3657600" cy="640080"/>
          </a:xfrm>
          <a:prstGeom prst="rect">
            <a:avLst/>
          </a:prstGeom>
          <a:noFill/>
        </p:spPr>
        <p:txBody>
          <a:bodyPr wrap="square" rtlCol="0" anchor="ctr"/>
          <a:lstStyle/>
          <a:p>
            <a:pPr marL="0" indent="0" algn="ctr">
              <a:buNone/>
            </a:pPr>
            <a:r>
              <a:rPr lang="en-US" sz="1300" i="1" dirty="0">
                <a:solidFill>
                  <a:srgbClr val="64748B"/>
                </a:solidFill>
              </a:rPr>
              <a:t>[ Nagpur Metro Photo ]</a:t>
            </a:r>
            <a:endParaRPr lang="en-US" sz="1300" dirty="0"/>
          </a:p>
        </p:txBody>
      </p:sp>
      <p:sp>
        <p:nvSpPr>
          <p:cNvPr id="6" name="Text 4"/>
          <p:cNvSpPr/>
          <p:nvPr/>
        </p:nvSpPr>
        <p:spPr>
          <a:xfrm>
            <a:off x="4206240" y="932688"/>
            <a:ext cx="4663440" cy="594360"/>
          </a:xfrm>
          <a:prstGeom prst="rect">
            <a:avLst/>
          </a:prstGeom>
          <a:noFill/>
        </p:spPr>
        <p:txBody>
          <a:bodyPr wrap="square" rtlCol="0" anchor="ctr"/>
          <a:lstStyle/>
          <a:p>
            <a:pPr marL="0" indent="0">
              <a:buNone/>
            </a:pPr>
            <a:r>
              <a:rPr lang="en-US" sz="1250" dirty="0">
                <a:solidFill>
                  <a:srgbClr val="1E293B"/>
                </a:solidFill>
              </a:rPr>
              <a:t>Operated by MahaMetro — Maharashtra Metro Rail Corporation Limited.</a:t>
            </a:r>
            <a:endParaRPr lang="en-US" sz="1250" dirty="0"/>
          </a:p>
          <a:p>
            <a:pPr marL="0" indent="0">
              <a:buNone/>
            </a:pPr>
            <a:r>
              <a:rPr lang="en-US" sz="1250" dirty="0">
                <a:solidFill>
                  <a:srgbClr val="1E293B"/>
                </a:solidFill>
              </a:rPr>
              <a:t>Inaugurated: 8 March 2019</a:t>
            </a:r>
            <a:endParaRPr lang="en-US" sz="1250" dirty="0"/>
          </a:p>
        </p:txBody>
      </p:sp>
      <p:sp>
        <p:nvSpPr>
          <p:cNvPr id="7" name="Shape 5"/>
          <p:cNvSpPr/>
          <p:nvPr/>
        </p:nvSpPr>
        <p:spPr>
          <a:xfrm>
            <a:off x="4206240" y="1600200"/>
            <a:ext cx="4663440" cy="566928"/>
          </a:xfrm>
          <a:prstGeom prst="rect">
            <a:avLst/>
          </a:prstGeom>
          <a:solidFill>
            <a:srgbClr val="FFFFFF"/>
          </a:solidFill>
          <a:ln w="12700">
            <a:solidFill>
              <a:srgbClr val="D6EAF8"/>
            </a:solidFill>
            <a:prstDash val="solid"/>
          </a:ln>
        </p:spPr>
      </p:sp>
      <p:sp>
        <p:nvSpPr>
          <p:cNvPr id="8" name="Text 6"/>
          <p:cNvSpPr/>
          <p:nvPr/>
        </p:nvSpPr>
        <p:spPr>
          <a:xfrm>
            <a:off x="4297680" y="1636776"/>
            <a:ext cx="4572000" cy="256032"/>
          </a:xfrm>
          <a:prstGeom prst="rect">
            <a:avLst/>
          </a:prstGeom>
          <a:noFill/>
        </p:spPr>
        <p:txBody>
          <a:bodyPr wrap="square" rtlCol="0" anchor="ctr"/>
          <a:lstStyle/>
          <a:p>
            <a:pPr marL="0" indent="0">
              <a:buNone/>
            </a:pPr>
            <a:r>
              <a:rPr lang="en-US" sz="1150" b="1" dirty="0">
                <a:solidFill>
                  <a:srgbClr val="0D1B2A"/>
                </a:solidFill>
              </a:rPr>
              <a:t>🟠 Orange Line + 🔵 Aqua Line</a:t>
            </a:r>
            <a:endParaRPr lang="en-US" sz="1150" dirty="0"/>
          </a:p>
        </p:txBody>
      </p:sp>
      <p:sp>
        <p:nvSpPr>
          <p:cNvPr id="9" name="Text 7"/>
          <p:cNvSpPr/>
          <p:nvPr/>
        </p:nvSpPr>
        <p:spPr>
          <a:xfrm>
            <a:off x="4297680" y="1892808"/>
            <a:ext cx="4572000" cy="219456"/>
          </a:xfrm>
          <a:prstGeom prst="rect">
            <a:avLst/>
          </a:prstGeom>
          <a:noFill/>
        </p:spPr>
        <p:txBody>
          <a:bodyPr wrap="square" rtlCol="0" anchor="ctr"/>
          <a:lstStyle/>
          <a:p>
            <a:pPr marL="0" indent="0">
              <a:buNone/>
            </a:pPr>
            <a:r>
              <a:rPr lang="en-US" sz="1000" dirty="0">
                <a:solidFill>
                  <a:srgbClr val="64748B"/>
                </a:solidFill>
              </a:rPr>
              <a:t>2 Corridors, 38 km, 37 Stations</a:t>
            </a:r>
            <a:endParaRPr lang="en-US" sz="1000" dirty="0"/>
          </a:p>
        </p:txBody>
      </p:sp>
      <p:sp>
        <p:nvSpPr>
          <p:cNvPr id="10" name="Shape 8"/>
          <p:cNvSpPr/>
          <p:nvPr/>
        </p:nvSpPr>
        <p:spPr>
          <a:xfrm>
            <a:off x="4206240" y="2286000"/>
            <a:ext cx="4663440" cy="566928"/>
          </a:xfrm>
          <a:prstGeom prst="rect">
            <a:avLst/>
          </a:prstGeom>
          <a:solidFill>
            <a:srgbClr val="FFFFFF"/>
          </a:solidFill>
          <a:ln w="12700">
            <a:solidFill>
              <a:srgbClr val="D6EAF8"/>
            </a:solidFill>
            <a:prstDash val="solid"/>
          </a:ln>
        </p:spPr>
      </p:sp>
      <p:sp>
        <p:nvSpPr>
          <p:cNvPr id="11" name="Text 9"/>
          <p:cNvSpPr/>
          <p:nvPr/>
        </p:nvSpPr>
        <p:spPr>
          <a:xfrm>
            <a:off x="4297680" y="2322576"/>
            <a:ext cx="4572000" cy="256032"/>
          </a:xfrm>
          <a:prstGeom prst="rect">
            <a:avLst/>
          </a:prstGeom>
          <a:noFill/>
        </p:spPr>
        <p:txBody>
          <a:bodyPr wrap="square" rtlCol="0" anchor="ctr"/>
          <a:lstStyle/>
          <a:p>
            <a:pPr marL="0" indent="0">
              <a:buNone/>
            </a:pPr>
            <a:r>
              <a:rPr lang="en-US" sz="1150" b="1" dirty="0">
                <a:solidFill>
                  <a:srgbClr val="0D1B2A"/>
                </a:solidFill>
              </a:rPr>
              <a:t>🌿 India's First Green Metro</a:t>
            </a:r>
            <a:endParaRPr lang="en-US" sz="1150" dirty="0"/>
          </a:p>
        </p:txBody>
      </p:sp>
      <p:sp>
        <p:nvSpPr>
          <p:cNvPr id="12" name="Text 10"/>
          <p:cNvSpPr/>
          <p:nvPr/>
        </p:nvSpPr>
        <p:spPr>
          <a:xfrm>
            <a:off x="4297680" y="2578608"/>
            <a:ext cx="4572000" cy="219456"/>
          </a:xfrm>
          <a:prstGeom prst="rect">
            <a:avLst/>
          </a:prstGeom>
          <a:noFill/>
        </p:spPr>
        <p:txBody>
          <a:bodyPr wrap="square" rtlCol="0" anchor="ctr"/>
          <a:lstStyle/>
          <a:p>
            <a:pPr marL="0" indent="0">
              <a:buNone/>
            </a:pPr>
            <a:r>
              <a:rPr lang="en-US" sz="1000" dirty="0">
                <a:solidFill>
                  <a:srgbClr val="64748B"/>
                </a:solidFill>
              </a:rPr>
              <a:t>Solar power + eco-friendly construction</a:t>
            </a:r>
            <a:endParaRPr lang="en-US" sz="1000" dirty="0"/>
          </a:p>
        </p:txBody>
      </p:sp>
      <p:sp>
        <p:nvSpPr>
          <p:cNvPr id="13" name="Shape 11"/>
          <p:cNvSpPr/>
          <p:nvPr/>
        </p:nvSpPr>
        <p:spPr>
          <a:xfrm>
            <a:off x="4206240" y="2971800"/>
            <a:ext cx="4663440" cy="566928"/>
          </a:xfrm>
          <a:prstGeom prst="rect">
            <a:avLst/>
          </a:prstGeom>
          <a:solidFill>
            <a:srgbClr val="FFFFFF"/>
          </a:solidFill>
          <a:ln w="12700">
            <a:solidFill>
              <a:srgbClr val="D6EAF8"/>
            </a:solidFill>
            <a:prstDash val="solid"/>
          </a:ln>
        </p:spPr>
      </p:sp>
      <p:sp>
        <p:nvSpPr>
          <p:cNvPr id="14" name="Text 12"/>
          <p:cNvSpPr/>
          <p:nvPr/>
        </p:nvSpPr>
        <p:spPr>
          <a:xfrm>
            <a:off x="4297680" y="3008376"/>
            <a:ext cx="4572000" cy="256032"/>
          </a:xfrm>
          <a:prstGeom prst="rect">
            <a:avLst/>
          </a:prstGeom>
          <a:noFill/>
        </p:spPr>
        <p:txBody>
          <a:bodyPr wrap="square" rtlCol="0" anchor="ctr"/>
          <a:lstStyle/>
          <a:p>
            <a:pPr marL="0" indent="0">
              <a:buNone/>
            </a:pPr>
            <a:r>
              <a:rPr lang="en-US" sz="1150" b="1" dirty="0">
                <a:solidFill>
                  <a:srgbClr val="0D1B2A"/>
                </a:solidFill>
              </a:rPr>
              <a:t>⚡ 25 kV AC Electrification</a:t>
            </a:r>
            <a:endParaRPr lang="en-US" sz="1150" dirty="0"/>
          </a:p>
        </p:txBody>
      </p:sp>
      <p:sp>
        <p:nvSpPr>
          <p:cNvPr id="15" name="Text 13"/>
          <p:cNvSpPr/>
          <p:nvPr/>
        </p:nvSpPr>
        <p:spPr>
          <a:xfrm>
            <a:off x="4297680" y="3264408"/>
            <a:ext cx="4572000" cy="219456"/>
          </a:xfrm>
          <a:prstGeom prst="rect">
            <a:avLst/>
          </a:prstGeom>
          <a:noFill/>
        </p:spPr>
        <p:txBody>
          <a:bodyPr wrap="square" rtlCol="0" anchor="ctr"/>
          <a:lstStyle/>
          <a:p>
            <a:pPr marL="0" indent="0">
              <a:buNone/>
            </a:pPr>
            <a:r>
              <a:rPr lang="en-US" sz="1000" dirty="0">
                <a:solidFill>
                  <a:srgbClr val="64748B"/>
                </a:solidFill>
              </a:rPr>
              <a:t>Standard gauge, advanced signaling</a:t>
            </a:r>
            <a:endParaRPr lang="en-US" sz="1000" dirty="0"/>
          </a:p>
        </p:txBody>
      </p:sp>
      <p:sp>
        <p:nvSpPr>
          <p:cNvPr id="16" name="Shape 14"/>
          <p:cNvSpPr/>
          <p:nvPr/>
        </p:nvSpPr>
        <p:spPr>
          <a:xfrm>
            <a:off x="4206240" y="3657600"/>
            <a:ext cx="4663440" cy="566928"/>
          </a:xfrm>
          <a:prstGeom prst="rect">
            <a:avLst/>
          </a:prstGeom>
          <a:solidFill>
            <a:srgbClr val="FFFFFF"/>
          </a:solidFill>
          <a:ln w="12700">
            <a:solidFill>
              <a:srgbClr val="D6EAF8"/>
            </a:solidFill>
            <a:prstDash val="solid"/>
          </a:ln>
        </p:spPr>
      </p:sp>
      <p:sp>
        <p:nvSpPr>
          <p:cNvPr id="17" name="Text 15"/>
          <p:cNvSpPr/>
          <p:nvPr/>
        </p:nvSpPr>
        <p:spPr>
          <a:xfrm>
            <a:off x="4297680" y="3694176"/>
            <a:ext cx="4572000" cy="256032"/>
          </a:xfrm>
          <a:prstGeom prst="rect">
            <a:avLst/>
          </a:prstGeom>
          <a:noFill/>
        </p:spPr>
        <p:txBody>
          <a:bodyPr wrap="square" rtlCol="0" anchor="ctr"/>
          <a:lstStyle/>
          <a:p>
            <a:pPr marL="0" indent="0">
              <a:buNone/>
            </a:pPr>
            <a:r>
              <a:rPr lang="en-US" sz="1150" b="1" dirty="0">
                <a:solidFill>
                  <a:srgbClr val="0D1B2A"/>
                </a:solidFill>
              </a:rPr>
              <a:t>🚀 Phase 3 Expansion</a:t>
            </a:r>
            <a:endParaRPr lang="en-US" sz="1150" dirty="0"/>
          </a:p>
        </p:txBody>
      </p:sp>
      <p:sp>
        <p:nvSpPr>
          <p:cNvPr id="18" name="Text 16"/>
          <p:cNvSpPr/>
          <p:nvPr/>
        </p:nvSpPr>
        <p:spPr>
          <a:xfrm>
            <a:off x="4297680" y="3950208"/>
            <a:ext cx="4572000" cy="219456"/>
          </a:xfrm>
          <a:prstGeom prst="rect">
            <a:avLst/>
          </a:prstGeom>
          <a:noFill/>
        </p:spPr>
        <p:txBody>
          <a:bodyPr wrap="square" rtlCol="0" anchor="ctr"/>
          <a:lstStyle/>
          <a:p>
            <a:pPr marL="0" indent="0">
              <a:buNone/>
            </a:pPr>
            <a:r>
              <a:rPr lang="en-US" sz="1000" dirty="0">
                <a:solidFill>
                  <a:srgbClr val="64748B"/>
                </a:solidFill>
              </a:rPr>
              <a:t>129 km planned — CMP 2025</a:t>
            </a:r>
            <a:endParaRPr lang="en-US" sz="1000" dirty="0"/>
          </a:p>
        </p:txBody>
      </p:sp>
      <p:sp>
        <p:nvSpPr>
          <p:cNvPr id="19" name="Text 17"/>
          <p:cNvSpPr/>
          <p:nvPr/>
        </p:nvSpPr>
        <p:spPr>
          <a:xfrm>
            <a:off x="274320" y="4224528"/>
            <a:ext cx="8686800" cy="466344"/>
          </a:xfrm>
          <a:prstGeom prst="rect">
            <a:avLst/>
          </a:prstGeom>
          <a:noFill/>
        </p:spPr>
        <p:txBody>
          <a:bodyPr wrap="square" rtlCol="0" anchor="ctr"/>
          <a:lstStyle/>
          <a:p>
            <a:pPr marL="0" indent="0">
              <a:buNone/>
            </a:pPr>
            <a:r>
              <a:rPr lang="en-US" sz="1200" i="1" dirty="0">
                <a:solidFill>
                  <a:srgbClr val="1E293B"/>
                </a:solidFill>
              </a:rPr>
              <a:t>Nagpur is one of India's first Tier-2 cities to have its own metro — making it a landmark case study in accessible urban mobility.</a:t>
            </a:r>
            <a:endParaRPr lang="en-US" sz="1200" dirty="0"/>
          </a:p>
        </p:txBody>
      </p:sp>
      <p:sp>
        <p:nvSpPr>
          <p:cNvPr id="20" name="Shape 18"/>
          <p:cNvSpPr/>
          <p:nvPr/>
        </p:nvSpPr>
        <p:spPr>
          <a:xfrm>
            <a:off x="0" y="4800600"/>
            <a:ext cx="9144000" cy="342900"/>
          </a:xfrm>
          <a:prstGeom prst="rect">
            <a:avLst/>
          </a:prstGeom>
          <a:solidFill>
            <a:srgbClr val="1A7FAD"/>
          </a:solidFill>
          <a:ln w="12700">
            <a:solidFill>
              <a:srgbClr val="1A7FAD"/>
            </a:solidFill>
            <a:prstDash val="solid"/>
          </a:ln>
        </p:spPr>
      </p:sp>
      <p:sp>
        <p:nvSpPr>
          <p:cNvPr id="21" name="Text 19"/>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Current punctuality: ~90%  |  Benchmark: Delhi 95%, Tokyo 98%</a:t>
            </a:r>
            <a:endParaRPr lang="en-US" sz="1000" dirty="0"/>
          </a:p>
        </p:txBody>
      </p:sp>
      <p:pic>
        <p:nvPicPr>
          <p:cNvPr id="22" name="Picture 21" descr="Nagpur’s Majhi Metro records steady rise in ridership: Data"/>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5143" y="914400"/>
            <a:ext cx="3786777" cy="29260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CHAPTER 2 — Research Methodology</a:t>
            </a:r>
            <a:endParaRPr lang="en-US" sz="2000" dirty="0"/>
          </a:p>
        </p:txBody>
      </p:sp>
      <p:sp>
        <p:nvSpPr>
          <p:cNvPr id="4" name="Shape 2"/>
          <p:cNvSpPr/>
          <p:nvPr/>
        </p:nvSpPr>
        <p:spPr>
          <a:xfrm>
            <a:off x="320040" y="960120"/>
            <a:ext cx="4160520" cy="1645920"/>
          </a:xfrm>
          <a:prstGeom prst="rect">
            <a:avLst/>
          </a:prstGeom>
          <a:solidFill>
            <a:srgbClr val="FFFFFF"/>
          </a:solidFill>
          <a:ln w="12700">
            <a:solidFill>
              <a:srgbClr val="D6EAF8"/>
            </a:solidFill>
            <a:prstDash val="solid"/>
          </a:ln>
        </p:spPr>
      </p:sp>
      <p:sp>
        <p:nvSpPr>
          <p:cNvPr id="5" name="Shape 3"/>
          <p:cNvSpPr/>
          <p:nvPr/>
        </p:nvSpPr>
        <p:spPr>
          <a:xfrm>
            <a:off x="320040" y="960120"/>
            <a:ext cx="4160520" cy="384048"/>
          </a:xfrm>
          <a:prstGeom prst="rect">
            <a:avLst/>
          </a:prstGeom>
          <a:solidFill>
            <a:srgbClr val="1A7FAD"/>
          </a:solidFill>
          <a:ln w="12700">
            <a:solidFill>
              <a:srgbClr val="1A7FAD"/>
            </a:solidFill>
            <a:prstDash val="solid"/>
          </a:ln>
        </p:spPr>
      </p:sp>
      <p:sp>
        <p:nvSpPr>
          <p:cNvPr id="6" name="Text 4"/>
          <p:cNvSpPr/>
          <p:nvPr/>
        </p:nvSpPr>
        <p:spPr>
          <a:xfrm>
            <a:off x="411480" y="1005840"/>
            <a:ext cx="3977640" cy="310896"/>
          </a:xfrm>
          <a:prstGeom prst="rect">
            <a:avLst/>
          </a:prstGeom>
          <a:noFill/>
        </p:spPr>
        <p:txBody>
          <a:bodyPr wrap="square" rtlCol="0" anchor="ctr"/>
          <a:lstStyle/>
          <a:p>
            <a:pPr marL="0" indent="0">
              <a:buNone/>
            </a:pPr>
            <a:r>
              <a:rPr lang="en-US" sz="1200" b="1" dirty="0">
                <a:solidFill>
                  <a:srgbClr val="FFFFFF"/>
                </a:solidFill>
              </a:rPr>
              <a:t>1. Research Design</a:t>
            </a:r>
            <a:endParaRPr lang="en-US" sz="1200" dirty="0"/>
          </a:p>
        </p:txBody>
      </p:sp>
      <p:sp>
        <p:nvSpPr>
          <p:cNvPr id="7" name="Text 5"/>
          <p:cNvSpPr/>
          <p:nvPr/>
        </p:nvSpPr>
        <p:spPr>
          <a:xfrm>
            <a:off x="411480" y="1417320"/>
            <a:ext cx="3977640" cy="1097280"/>
          </a:xfrm>
          <a:prstGeom prst="rect">
            <a:avLst/>
          </a:prstGeom>
          <a:noFill/>
        </p:spPr>
        <p:txBody>
          <a:bodyPr wrap="square" rtlCol="0" anchor="ctr"/>
          <a:lstStyle/>
          <a:p>
            <a:pPr marL="0" indent="0">
              <a:buNone/>
            </a:pPr>
            <a:r>
              <a:rPr lang="en-US" sz="1100" dirty="0">
                <a:solidFill>
                  <a:srgbClr val="1E293B"/>
                </a:solidFill>
              </a:rPr>
              <a:t>Mixed approach — primary survey data + secondary published reports. Primarily </a:t>
            </a:r>
            <a:r>
              <a:rPr lang="en-US" sz="1100" dirty="0" smtClean="0">
                <a:solidFill>
                  <a:srgbClr val="1E293B"/>
                </a:solidFill>
              </a:rPr>
              <a:t>quantitative </a:t>
            </a:r>
            <a:r>
              <a:rPr lang="en-US" sz="1100" dirty="0">
                <a:solidFill>
                  <a:srgbClr val="1E293B"/>
                </a:solidFill>
              </a:rPr>
              <a:t>in nature.</a:t>
            </a:r>
            <a:endParaRPr lang="en-US" sz="1100" dirty="0"/>
          </a:p>
        </p:txBody>
      </p:sp>
      <p:sp>
        <p:nvSpPr>
          <p:cNvPr id="8" name="Shape 6"/>
          <p:cNvSpPr/>
          <p:nvPr/>
        </p:nvSpPr>
        <p:spPr>
          <a:xfrm>
            <a:off x="4709160" y="960120"/>
            <a:ext cx="4160520" cy="1645920"/>
          </a:xfrm>
          <a:prstGeom prst="rect">
            <a:avLst/>
          </a:prstGeom>
          <a:solidFill>
            <a:srgbClr val="FFFFFF"/>
          </a:solidFill>
          <a:ln w="12700">
            <a:solidFill>
              <a:srgbClr val="D6EAF8"/>
            </a:solidFill>
            <a:prstDash val="solid"/>
          </a:ln>
        </p:spPr>
      </p:sp>
      <p:sp>
        <p:nvSpPr>
          <p:cNvPr id="9" name="Shape 7"/>
          <p:cNvSpPr/>
          <p:nvPr/>
        </p:nvSpPr>
        <p:spPr>
          <a:xfrm>
            <a:off x="4709160" y="960120"/>
            <a:ext cx="4160520" cy="384048"/>
          </a:xfrm>
          <a:prstGeom prst="rect">
            <a:avLst/>
          </a:prstGeom>
          <a:solidFill>
            <a:srgbClr val="E8873A"/>
          </a:solidFill>
          <a:ln w="12700">
            <a:solidFill>
              <a:srgbClr val="E8873A"/>
            </a:solidFill>
            <a:prstDash val="solid"/>
          </a:ln>
        </p:spPr>
      </p:sp>
      <p:sp>
        <p:nvSpPr>
          <p:cNvPr id="10" name="Text 8"/>
          <p:cNvSpPr/>
          <p:nvPr/>
        </p:nvSpPr>
        <p:spPr>
          <a:xfrm>
            <a:off x="4800600" y="1005840"/>
            <a:ext cx="3977640" cy="310896"/>
          </a:xfrm>
          <a:prstGeom prst="rect">
            <a:avLst/>
          </a:prstGeom>
          <a:noFill/>
        </p:spPr>
        <p:txBody>
          <a:bodyPr wrap="square" rtlCol="0" anchor="ctr"/>
          <a:lstStyle/>
          <a:p>
            <a:pPr marL="0" indent="0">
              <a:buNone/>
            </a:pPr>
            <a:r>
              <a:rPr lang="en-US" sz="1200" b="1" dirty="0">
                <a:solidFill>
                  <a:srgbClr val="FFFFFF"/>
                </a:solidFill>
              </a:rPr>
              <a:t>2. Data Collection</a:t>
            </a:r>
            <a:endParaRPr lang="en-US" sz="1200" dirty="0"/>
          </a:p>
        </p:txBody>
      </p:sp>
      <p:sp>
        <p:nvSpPr>
          <p:cNvPr id="11" name="Text 9"/>
          <p:cNvSpPr/>
          <p:nvPr/>
        </p:nvSpPr>
        <p:spPr>
          <a:xfrm>
            <a:off x="4800600" y="1417320"/>
            <a:ext cx="3977640" cy="1097280"/>
          </a:xfrm>
          <a:prstGeom prst="rect">
            <a:avLst/>
          </a:prstGeom>
          <a:noFill/>
        </p:spPr>
        <p:txBody>
          <a:bodyPr wrap="square" rtlCol="0" anchor="ctr"/>
          <a:lstStyle/>
          <a:p>
            <a:pPr marL="0" indent="0">
              <a:buNone/>
            </a:pPr>
            <a:r>
              <a:rPr lang="en-US" sz="1100" dirty="0">
                <a:solidFill>
                  <a:srgbClr val="1E293B"/>
                </a:solidFill>
              </a:rPr>
              <a:t>Structured questionnaire shared via Google Forms (online) and in-person at Nagpur Metro stations (offline). Both modes ensure broad reach.</a:t>
            </a:r>
            <a:endParaRPr lang="en-US" sz="1100" dirty="0"/>
          </a:p>
        </p:txBody>
      </p:sp>
      <p:sp>
        <p:nvSpPr>
          <p:cNvPr id="12" name="Shape 10"/>
          <p:cNvSpPr/>
          <p:nvPr/>
        </p:nvSpPr>
        <p:spPr>
          <a:xfrm>
            <a:off x="320040" y="2788920"/>
            <a:ext cx="4160520" cy="1645920"/>
          </a:xfrm>
          <a:prstGeom prst="rect">
            <a:avLst/>
          </a:prstGeom>
          <a:solidFill>
            <a:srgbClr val="FFFFFF"/>
          </a:solidFill>
          <a:ln w="12700">
            <a:solidFill>
              <a:srgbClr val="D6EAF8"/>
            </a:solidFill>
            <a:prstDash val="solid"/>
          </a:ln>
        </p:spPr>
      </p:sp>
      <p:sp>
        <p:nvSpPr>
          <p:cNvPr id="13" name="Shape 11"/>
          <p:cNvSpPr/>
          <p:nvPr/>
        </p:nvSpPr>
        <p:spPr>
          <a:xfrm>
            <a:off x="320040" y="2788920"/>
            <a:ext cx="4160520" cy="384048"/>
          </a:xfrm>
          <a:prstGeom prst="rect">
            <a:avLst/>
          </a:prstGeom>
          <a:solidFill>
            <a:srgbClr val="1B2A4A"/>
          </a:solidFill>
          <a:ln w="12700">
            <a:solidFill>
              <a:srgbClr val="1B2A4A"/>
            </a:solidFill>
            <a:prstDash val="solid"/>
          </a:ln>
        </p:spPr>
      </p:sp>
      <p:sp>
        <p:nvSpPr>
          <p:cNvPr id="14" name="Text 12"/>
          <p:cNvSpPr/>
          <p:nvPr/>
        </p:nvSpPr>
        <p:spPr>
          <a:xfrm>
            <a:off x="411480" y="2834640"/>
            <a:ext cx="3977640" cy="310896"/>
          </a:xfrm>
          <a:prstGeom prst="rect">
            <a:avLst/>
          </a:prstGeom>
          <a:noFill/>
        </p:spPr>
        <p:txBody>
          <a:bodyPr wrap="square" rtlCol="0" anchor="ctr"/>
          <a:lstStyle/>
          <a:p>
            <a:pPr marL="0" indent="0">
              <a:buNone/>
            </a:pPr>
            <a:r>
              <a:rPr lang="en-US" sz="1200" b="1" dirty="0">
                <a:solidFill>
                  <a:srgbClr val="FFFFFF"/>
                </a:solidFill>
              </a:rPr>
              <a:t>3. Sampling</a:t>
            </a:r>
            <a:endParaRPr lang="en-US" sz="1200" dirty="0"/>
          </a:p>
        </p:txBody>
      </p:sp>
      <p:sp>
        <p:nvSpPr>
          <p:cNvPr id="15" name="Text 13"/>
          <p:cNvSpPr/>
          <p:nvPr/>
        </p:nvSpPr>
        <p:spPr>
          <a:xfrm>
            <a:off x="411480" y="3246120"/>
            <a:ext cx="3977640" cy="1097280"/>
          </a:xfrm>
          <a:prstGeom prst="rect">
            <a:avLst/>
          </a:prstGeom>
          <a:noFill/>
        </p:spPr>
        <p:txBody>
          <a:bodyPr wrap="square" rtlCol="0" anchor="ctr"/>
          <a:lstStyle/>
          <a:p>
            <a:pPr marL="0" indent="0">
              <a:buNone/>
            </a:pPr>
            <a:r>
              <a:rPr lang="en-US" sz="1100" dirty="0">
                <a:solidFill>
                  <a:srgbClr val="1E293B"/>
                </a:solidFill>
              </a:rPr>
              <a:t>Convenience sampling — WhatsApp groups, social media &amp; station intercepts. Only active Nagpur Metro users were included.</a:t>
            </a:r>
            <a:endParaRPr lang="en-US" sz="1100" dirty="0"/>
          </a:p>
        </p:txBody>
      </p:sp>
      <p:sp>
        <p:nvSpPr>
          <p:cNvPr id="16" name="Shape 14"/>
          <p:cNvSpPr/>
          <p:nvPr/>
        </p:nvSpPr>
        <p:spPr>
          <a:xfrm>
            <a:off x="4709160" y="2788920"/>
            <a:ext cx="4160520" cy="1645920"/>
          </a:xfrm>
          <a:prstGeom prst="rect">
            <a:avLst/>
          </a:prstGeom>
          <a:solidFill>
            <a:srgbClr val="FFFFFF"/>
          </a:solidFill>
          <a:ln w="12700">
            <a:solidFill>
              <a:srgbClr val="D6EAF8"/>
            </a:solidFill>
            <a:prstDash val="solid"/>
          </a:ln>
        </p:spPr>
      </p:sp>
      <p:sp>
        <p:nvSpPr>
          <p:cNvPr id="17" name="Shape 15"/>
          <p:cNvSpPr/>
          <p:nvPr/>
        </p:nvSpPr>
        <p:spPr>
          <a:xfrm>
            <a:off x="4709160" y="2788920"/>
            <a:ext cx="4160520" cy="384048"/>
          </a:xfrm>
          <a:prstGeom prst="rect">
            <a:avLst/>
          </a:prstGeom>
          <a:solidFill>
            <a:srgbClr val="1A7FAD"/>
          </a:solidFill>
          <a:ln w="12700">
            <a:solidFill>
              <a:srgbClr val="1A7FAD"/>
            </a:solidFill>
            <a:prstDash val="solid"/>
          </a:ln>
        </p:spPr>
      </p:sp>
      <p:sp>
        <p:nvSpPr>
          <p:cNvPr id="18" name="Text 16"/>
          <p:cNvSpPr/>
          <p:nvPr/>
        </p:nvSpPr>
        <p:spPr>
          <a:xfrm>
            <a:off x="4800600" y="2834640"/>
            <a:ext cx="3977640" cy="310896"/>
          </a:xfrm>
          <a:prstGeom prst="rect">
            <a:avLst/>
          </a:prstGeom>
          <a:noFill/>
        </p:spPr>
        <p:txBody>
          <a:bodyPr wrap="square" rtlCol="0" anchor="ctr"/>
          <a:lstStyle/>
          <a:p>
            <a:pPr marL="0" indent="0">
              <a:buNone/>
            </a:pPr>
            <a:r>
              <a:rPr lang="en-US" sz="1200" b="1" dirty="0">
                <a:solidFill>
                  <a:srgbClr val="FFFFFF"/>
                </a:solidFill>
              </a:rPr>
              <a:t>4. Statistical Tools Used</a:t>
            </a:r>
            <a:endParaRPr lang="en-US" sz="1200" dirty="0"/>
          </a:p>
        </p:txBody>
      </p:sp>
      <p:sp>
        <p:nvSpPr>
          <p:cNvPr id="19" name="Text 17"/>
          <p:cNvSpPr/>
          <p:nvPr/>
        </p:nvSpPr>
        <p:spPr>
          <a:xfrm>
            <a:off x="4800600" y="3246120"/>
            <a:ext cx="3977640" cy="1097280"/>
          </a:xfrm>
          <a:prstGeom prst="rect">
            <a:avLst/>
          </a:prstGeom>
          <a:noFill/>
        </p:spPr>
        <p:txBody>
          <a:bodyPr wrap="square" rtlCol="0" anchor="ctr"/>
          <a:lstStyle/>
          <a:p>
            <a:pPr marL="0" indent="0">
              <a:buNone/>
            </a:pPr>
            <a:r>
              <a:rPr lang="en-US" sz="1100" dirty="0">
                <a:solidFill>
                  <a:srgbClr val="1E293B"/>
                </a:solidFill>
              </a:rPr>
              <a:t>Mean, Variance, Standard Deviation, Percentage Analysis, Weighted Average, Frequency Distribution Tables, Chi-Square Test.</a:t>
            </a:r>
            <a:endParaRPr lang="en-US" sz="1100" dirty="0"/>
          </a:p>
        </p:txBody>
      </p:sp>
      <p:sp>
        <p:nvSpPr>
          <p:cNvPr id="20" name="Shape 18"/>
          <p:cNvSpPr/>
          <p:nvPr/>
        </p:nvSpPr>
        <p:spPr>
          <a:xfrm>
            <a:off x="0" y="4800600"/>
            <a:ext cx="9144000" cy="342900"/>
          </a:xfrm>
          <a:prstGeom prst="rect">
            <a:avLst/>
          </a:prstGeom>
          <a:solidFill>
            <a:srgbClr val="1A7FAD"/>
          </a:solidFill>
          <a:ln w="12700">
            <a:solidFill>
              <a:srgbClr val="1A7FAD"/>
            </a:solidFill>
            <a:prstDash val="solid"/>
          </a:ln>
        </p:spPr>
      </p:sp>
      <p:sp>
        <p:nvSpPr>
          <p:cNvPr id="21" name="Text 19"/>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82 valid responses collected  |  Online + Offline modes  |  2025–26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822960"/>
          </a:xfrm>
          <a:prstGeom prst="rect">
            <a:avLst/>
          </a:prstGeom>
          <a:solidFill>
            <a:srgbClr val="0D1B2A"/>
          </a:solidFill>
        </p:spPr>
      </p:sp>
      <p:sp>
        <p:nvSpPr>
          <p:cNvPr id="3" name="Title"/>
          <p:cNvSpPr/>
          <p:nvPr/>
        </p:nvSpPr>
        <p:spPr>
          <a:xfrm>
            <a:off x="365760" y="137160"/>
            <a:ext cx="8412480" cy="548640"/>
          </a:xfrm>
          <a:prstGeom prst="rect">
            <a:avLst/>
          </a:prstGeom>
          <a:noFill/>
        </p:spPr>
        <p:txBody>
          <a:bodyPr wrap="square" rtlCol="0" anchor="ctr"/>
          <a:lstStyle/>
          <a:p>
            <a:pPr marL="0" indent="0" algn="l">
              <a:buNone/>
            </a:pPr>
            <a:r>
              <a:rPr lang="en-US" sz="1700" b="1" dirty="0">
                <a:solidFill>
                  <a:srgbClr val="FFFFFF"/>
                </a:solidFill>
              </a:rPr>
              <a:t>Survey Design &amp; Questionnaire Overview</a:t>
            </a:r>
            <a:endParaRPr lang="en-US" sz="1700" b="1" dirty="0">
              <a:solidFill>
                <a:srgbClr val="FFFFFF"/>
              </a:solidFill>
            </a:endParaRPr>
          </a:p>
        </p:txBody>
      </p:sp>
      <p:sp>
        <p:nvSpPr>
          <p:cNvPr id="10" name="Box1"/>
          <p:cNvSpPr/>
          <p:nvPr/>
        </p:nvSpPr>
        <p:spPr>
          <a:xfrm>
            <a:off x="304800" y="950000"/>
            <a:ext cx="2000000" cy="900000"/>
          </a:xfrm>
          <a:prstGeom prst="rect">
            <a:avLst/>
          </a:prstGeom>
          <a:solidFill>
            <a:srgbClr val="0D1B2A"/>
          </a:solidFill>
        </p:spPr>
        <p:txBody>
          <a:bodyPr wrap="square" rtlCol="0" anchor="ctr"/>
          <a:lstStyle/>
          <a:p>
            <a:pPr algn="ctr">
              <a:buNone/>
            </a:pPr>
            <a:r>
              <a:rPr lang="en-US" sz="1400" b="1" dirty="0">
                <a:solidFill>
                  <a:srgbClr val="FFFFFF"/>
                </a:solidFill>
              </a:rPr>
              <a:t>📄 Mode</a:t>
            </a:r>
            <a:endParaRPr lang="en-US" sz="1400" b="1" dirty="0">
              <a:solidFill>
                <a:srgbClr val="FFFFFF"/>
              </a:solidFill>
            </a:endParaRPr>
          </a:p>
          <a:p>
            <a:pPr algn="ctr">
              <a:buNone/>
            </a:pPr>
            <a:r>
              <a:rPr lang="en-US" sz="1100" dirty="0">
                <a:solidFill>
                  <a:srgbClr val="CADCFC"/>
                </a:solidFill>
              </a:rPr>
              <a:t>Google Forms (Online)</a:t>
            </a:r>
            <a:endParaRPr lang="en-US" sz="1100" dirty="0">
              <a:solidFill>
                <a:srgbClr val="CADCFC"/>
              </a:solidFill>
            </a:endParaRPr>
          </a:p>
          <a:p>
            <a:pPr algn="ctr">
              <a:buNone/>
            </a:pPr>
            <a:r>
              <a:rPr lang="en-US" sz="1100" dirty="0">
                <a:solidFill>
                  <a:srgbClr val="CADCFC"/>
                </a:solidFill>
              </a:rPr>
              <a:t>+ In-Person at Station</a:t>
            </a:r>
            <a:endParaRPr lang="en-US" sz="1100" dirty="0">
              <a:solidFill>
                <a:srgbClr val="CADCFC"/>
              </a:solidFill>
            </a:endParaRPr>
          </a:p>
        </p:txBody>
      </p:sp>
      <p:sp>
        <p:nvSpPr>
          <p:cNvPr id="11" name="Box2"/>
          <p:cNvSpPr/>
          <p:nvPr/>
        </p:nvSpPr>
        <p:spPr>
          <a:xfrm>
            <a:off x="2572800" y="950000"/>
            <a:ext cx="2000000" cy="900000"/>
          </a:xfrm>
          <a:prstGeom prst="rect">
            <a:avLst/>
          </a:prstGeom>
          <a:solidFill>
            <a:srgbClr val="1C3557"/>
          </a:solidFill>
        </p:spPr>
        <p:txBody>
          <a:bodyPr wrap="square" rtlCol="0" anchor="ctr"/>
          <a:lstStyle/>
          <a:p>
            <a:pPr algn="ctr">
              <a:buNone/>
            </a:pPr>
            <a:r>
              <a:rPr lang="en-US" sz="1400" b="1" dirty="0">
                <a:solidFill>
                  <a:srgbClr val="FFFFFF"/>
                </a:solidFill>
              </a:rPr>
              <a:t>👤 Sample</a:t>
            </a:r>
            <a:endParaRPr lang="en-US" sz="1400" b="1" dirty="0">
              <a:solidFill>
                <a:srgbClr val="FFFFFF"/>
              </a:solidFill>
            </a:endParaRPr>
          </a:p>
          <a:p>
            <a:pPr algn="ctr">
              <a:buNone/>
            </a:pPr>
            <a:r>
              <a:rPr lang="en-US" sz="2200" b="1" dirty="0">
                <a:solidFill>
                  <a:srgbClr val="F9E795"/>
                </a:solidFill>
              </a:rPr>
              <a:t>82</a:t>
            </a:r>
            <a:endParaRPr lang="en-US" sz="2200" b="1" dirty="0">
              <a:solidFill>
                <a:srgbClr val="F9E795"/>
              </a:solidFill>
            </a:endParaRPr>
          </a:p>
          <a:p>
            <a:pPr algn="ctr">
              <a:buNone/>
            </a:pPr>
            <a:r>
              <a:rPr lang="en-US" sz="1100" dirty="0">
                <a:solidFill>
                  <a:srgbClr val="CADCFC"/>
                </a:solidFill>
              </a:rPr>
              <a:t>Valid Responses</a:t>
            </a:r>
            <a:endParaRPr lang="en-US" sz="1100" dirty="0">
              <a:solidFill>
                <a:srgbClr val="CADCFC"/>
              </a:solidFill>
            </a:endParaRPr>
          </a:p>
        </p:txBody>
      </p:sp>
      <p:sp>
        <p:nvSpPr>
          <p:cNvPr id="12" name="Box3"/>
          <p:cNvSpPr/>
          <p:nvPr/>
        </p:nvSpPr>
        <p:spPr>
          <a:xfrm>
            <a:off x="4840800" y="950000"/>
            <a:ext cx="2000000" cy="900000"/>
          </a:xfrm>
          <a:prstGeom prst="rect">
            <a:avLst/>
          </a:prstGeom>
          <a:solidFill>
            <a:srgbClr val="0D1B2A"/>
          </a:solidFill>
        </p:spPr>
        <p:txBody>
          <a:bodyPr wrap="square" rtlCol="0" anchor="ctr"/>
          <a:lstStyle/>
          <a:p>
            <a:pPr algn="ctr">
              <a:buNone/>
            </a:pPr>
            <a:r>
              <a:rPr lang="en-US" sz="1400" b="1" dirty="0">
                <a:solidFill>
                  <a:srgbClr val="FFFFFF"/>
                </a:solidFill>
              </a:rPr>
              <a:t>🎯 Sampling</a:t>
            </a:r>
            <a:endParaRPr lang="en-US" sz="1400" b="1" dirty="0">
              <a:solidFill>
                <a:srgbClr val="FFFFFF"/>
              </a:solidFill>
            </a:endParaRPr>
          </a:p>
          <a:p>
            <a:pPr algn="ctr">
              <a:buNone/>
            </a:pPr>
            <a:r>
              <a:rPr lang="en-US" sz="1100" dirty="0">
                <a:solidFill>
                  <a:srgbClr val="CADCFC"/>
                </a:solidFill>
              </a:rPr>
              <a:t>Convenience Sampling</a:t>
            </a:r>
            <a:endParaRPr lang="en-US" sz="1100" dirty="0">
              <a:solidFill>
                <a:srgbClr val="CADCFC"/>
              </a:solidFill>
            </a:endParaRPr>
          </a:p>
          <a:p>
            <a:pPr algn="ctr">
              <a:buNone/>
            </a:pPr>
            <a:r>
              <a:rPr lang="en-US" sz="1100" dirty="0">
                <a:solidFill>
                  <a:srgbClr val="CADCFC"/>
                </a:solidFill>
              </a:rPr>
              <a:t>WhatsApp + Social Media</a:t>
            </a:r>
            <a:endParaRPr lang="en-US" sz="1100" dirty="0">
              <a:solidFill>
                <a:srgbClr val="CADCFC"/>
              </a:solidFill>
            </a:endParaRPr>
          </a:p>
        </p:txBody>
      </p:sp>
      <p:sp>
        <p:nvSpPr>
          <p:cNvPr id="13" name="Box4"/>
          <p:cNvSpPr/>
          <p:nvPr/>
        </p:nvSpPr>
        <p:spPr>
          <a:xfrm>
            <a:off x="7108800" y="950000"/>
            <a:ext cx="1730000" cy="900000"/>
          </a:xfrm>
          <a:prstGeom prst="rect">
            <a:avLst/>
          </a:prstGeom>
          <a:solidFill>
            <a:srgbClr val="1C3557"/>
          </a:solidFill>
        </p:spPr>
        <p:txBody>
          <a:bodyPr wrap="square" rtlCol="0" anchor="ctr"/>
          <a:lstStyle/>
          <a:p>
            <a:pPr algn="ctr">
              <a:buNone/>
            </a:pPr>
            <a:r>
              <a:rPr lang="en-US" sz="1400" b="1" dirty="0">
                <a:solidFill>
                  <a:srgbClr val="FFFFFF"/>
                </a:solidFill>
              </a:rPr>
              <a:t>📅 Year</a:t>
            </a:r>
            <a:endParaRPr lang="en-US" sz="1400" b="1" dirty="0">
              <a:solidFill>
                <a:srgbClr val="FFFFFF"/>
              </a:solidFill>
            </a:endParaRPr>
          </a:p>
          <a:p>
            <a:pPr algn="ctr">
              <a:buNone/>
            </a:pPr>
            <a:r>
              <a:rPr lang="en-US" sz="1400" b="1" dirty="0">
                <a:solidFill>
                  <a:srgbClr val="F9E795"/>
                </a:solidFill>
              </a:rPr>
              <a:t>2025–26</a:t>
            </a:r>
            <a:endParaRPr lang="en-US" sz="1400" b="1" dirty="0">
              <a:solidFill>
                <a:srgbClr val="F9E795"/>
              </a:solidFill>
            </a:endParaRPr>
          </a:p>
        </p:txBody>
      </p:sp>
      <p:sp>
        <p:nvSpPr>
          <p:cNvPr id="20" name="QHeader"/>
          <p:cNvSpPr/>
          <p:nvPr/>
        </p:nvSpPr>
        <p:spPr>
          <a:xfrm>
            <a:off x="304800" y="1980000"/>
            <a:ext cx="8534400" cy="380000"/>
          </a:xfrm>
          <a:prstGeom prst="rect">
            <a:avLst/>
          </a:prstGeom>
          <a:solidFill>
            <a:srgbClr val="E8EDF5"/>
          </a:solidFill>
        </p:spPr>
        <p:txBody>
          <a:bodyPr wrap="square" rtlCol="0" anchor="ctr"/>
          <a:lstStyle/>
          <a:p>
            <a:pPr marL="152400" indent="0" algn="l">
              <a:buNone/>
            </a:pPr>
            <a:r>
              <a:rPr lang="en-US" sz="1300" b="1" dirty="0">
                <a:solidFill>
                  <a:srgbClr val="0D1B2A"/>
                </a:solidFill>
              </a:rPr>
              <a:t>Survey Questions (9 Total)</a:t>
            </a:r>
            <a:endParaRPr lang="en-US" sz="1300" b="1" dirty="0">
              <a:solidFill>
                <a:srgbClr val="0D1B2A"/>
              </a:solidFill>
            </a:endParaRPr>
          </a:p>
        </p:txBody>
      </p:sp>
      <p:sp>
        <p:nvSpPr>
          <p:cNvPr id="21" name="QList1"/>
          <p:cNvSpPr/>
          <p:nvPr/>
        </p:nvSpPr>
        <p:spPr>
          <a:xfrm>
            <a:off x="304800" y="2380000"/>
            <a:ext cx="4115000" cy="2600000"/>
          </a:xfrm>
          <a:prstGeom prst="rect">
            <a:avLst/>
          </a:prstGeom>
          <a:noFill/>
        </p:spPr>
        <p:txBody>
          <a:bodyPr wrap="square" rtlCol="0" anchor="t"/>
          <a:lstStyle/>
          <a:p>
            <a:pPr marL="228600" indent="-228600" algn="l">
              <a:buChar char="Q"/>
            </a:pPr>
            <a:r>
              <a:rPr lang="en-US" sz="1100" b="1" dirty="0">
                <a:solidFill>
                  <a:srgbClr val="0D1B2A"/>
                </a:solidFill>
              </a:rPr>
              <a:t>  </a:t>
            </a:r>
            <a:r>
              <a:rPr lang="en-US" sz="1100" dirty="0">
                <a:solidFill>
                  <a:srgbClr val="333333"/>
                </a:solidFill>
              </a:rPr>
              <a:t>Purpose of traveling by metro</a:t>
            </a:r>
            <a:endParaRPr lang="en-US" sz="1100" dirty="0">
              <a:solidFill>
                <a:srgbClr val="333333"/>
              </a:solidFill>
            </a:endParaRPr>
          </a:p>
          <a:p>
            <a:pPr marL="228600" indent="-228600" algn="l">
              <a:buChar char="Q"/>
            </a:pPr>
            <a:r>
              <a:rPr lang="en-US" sz="1100" b="1" dirty="0">
                <a:solidFill>
                  <a:srgbClr val="0D1B2A"/>
                </a:solidFill>
              </a:rPr>
              <a:t>  </a:t>
            </a:r>
            <a:r>
              <a:rPr lang="en-US" sz="1100" dirty="0">
                <a:solidFill>
                  <a:srgbClr val="333333"/>
                </a:solidFill>
              </a:rPr>
              <a:t>Age group of respondent</a:t>
            </a:r>
            <a:endParaRPr lang="en-US" sz="1100" dirty="0">
              <a:solidFill>
                <a:srgbClr val="333333"/>
              </a:solidFill>
            </a:endParaRPr>
          </a:p>
          <a:p>
            <a:pPr marL="228600" indent="-228600" algn="l">
              <a:buChar char="Q"/>
            </a:pPr>
            <a:r>
              <a:rPr lang="en-US" sz="1100" b="1" dirty="0">
                <a:solidFill>
                  <a:srgbClr val="0D1B2A"/>
                </a:solidFill>
              </a:rPr>
              <a:t>  </a:t>
            </a:r>
            <a:r>
              <a:rPr lang="en-US" sz="1100" dirty="0">
                <a:solidFill>
                  <a:srgbClr val="333333"/>
                </a:solidFill>
              </a:rPr>
              <a:t>Gender of respondent</a:t>
            </a:r>
            <a:endParaRPr lang="en-US" sz="1100" dirty="0">
              <a:solidFill>
                <a:srgbClr val="333333"/>
              </a:solidFill>
            </a:endParaRPr>
          </a:p>
          <a:p>
            <a:pPr marL="228600" indent="-228600" algn="l">
              <a:buChar char="Q"/>
            </a:pPr>
            <a:r>
              <a:rPr lang="en-US" sz="1100" b="1" dirty="0">
                <a:solidFill>
                  <a:srgbClr val="0D1B2A"/>
                </a:solidFill>
              </a:rPr>
              <a:t>  </a:t>
            </a:r>
            <a:r>
              <a:rPr lang="en-US" sz="1100" dirty="0">
                <a:solidFill>
                  <a:srgbClr val="333333"/>
                </a:solidFill>
              </a:rPr>
              <a:t>Frequency of metro usage</a:t>
            </a:r>
            <a:endParaRPr lang="en-US" sz="1100" dirty="0">
              <a:solidFill>
                <a:srgbClr val="333333"/>
              </a:solidFill>
            </a:endParaRPr>
          </a:p>
          <a:p>
            <a:pPr marL="228600" indent="-228600" algn="l">
              <a:buChar char="Q"/>
            </a:pPr>
            <a:r>
              <a:rPr lang="en-US" sz="1100" b="1" dirty="0">
                <a:solidFill>
                  <a:srgbClr val="0D1B2A"/>
                </a:solidFill>
              </a:rPr>
              <a:t>  </a:t>
            </a:r>
            <a:r>
              <a:rPr lang="en-US" sz="1100" dirty="0">
                <a:solidFill>
                  <a:srgbClr val="333333"/>
                </a:solidFill>
              </a:rPr>
              <a:t>Peak travel time slot</a:t>
            </a:r>
            <a:endParaRPr lang="en-US" sz="1100" dirty="0">
              <a:solidFill>
                <a:srgbClr val="333333"/>
              </a:solidFill>
            </a:endParaRPr>
          </a:p>
        </p:txBody>
      </p:sp>
      <p:sp>
        <p:nvSpPr>
          <p:cNvPr id="22" name="QList2"/>
          <p:cNvSpPr/>
          <p:nvPr/>
        </p:nvSpPr>
        <p:spPr>
          <a:xfrm>
            <a:off x="4572000" y="2380000"/>
            <a:ext cx="4115000" cy="2600000"/>
          </a:xfrm>
          <a:prstGeom prst="rect">
            <a:avLst/>
          </a:prstGeom>
          <a:noFill/>
        </p:spPr>
        <p:txBody>
          <a:bodyPr wrap="square" rtlCol="0" anchor="t"/>
          <a:lstStyle/>
          <a:p>
            <a:pPr marL="228600" indent="-228600" algn="l">
              <a:buChar char="Q"/>
            </a:pPr>
            <a:r>
              <a:rPr lang="en-US" sz="1100" b="1" dirty="0">
                <a:solidFill>
                  <a:srgbClr val="0D1B2A"/>
                </a:solidFill>
              </a:rPr>
              <a:t>  </a:t>
            </a:r>
            <a:r>
              <a:rPr lang="en-US" sz="1100" dirty="0">
                <a:solidFill>
                  <a:srgbClr val="333333"/>
                </a:solidFill>
              </a:rPr>
              <a:t>Average delay faced by commuters</a:t>
            </a:r>
            <a:endParaRPr lang="en-US" sz="1100" dirty="0">
              <a:solidFill>
                <a:srgbClr val="333333"/>
              </a:solidFill>
            </a:endParaRPr>
          </a:p>
          <a:p>
            <a:pPr marL="228600" indent="-228600" algn="l">
              <a:buChar char="Q"/>
            </a:pPr>
            <a:r>
              <a:rPr lang="en-US" sz="1100" b="1" dirty="0">
                <a:solidFill>
                  <a:srgbClr val="0D1B2A"/>
                </a:solidFill>
              </a:rPr>
              <a:t>  </a:t>
            </a:r>
            <a:r>
              <a:rPr lang="en-US" sz="1100" dirty="0">
                <a:solidFill>
                  <a:srgbClr val="333333"/>
                </a:solidFill>
              </a:rPr>
              <a:t>Rating of metro punctuality (1–5)</a:t>
            </a:r>
            <a:endParaRPr lang="en-US" sz="1100" dirty="0">
              <a:solidFill>
                <a:srgbClr val="333333"/>
              </a:solidFill>
            </a:endParaRPr>
          </a:p>
          <a:p>
            <a:pPr marL="228600" indent="-228600" algn="l">
              <a:buChar char="Q"/>
            </a:pPr>
            <a:r>
              <a:rPr lang="en-US" sz="1100" b="1" dirty="0">
                <a:solidFill>
                  <a:srgbClr val="0D1B2A"/>
                </a:solidFill>
              </a:rPr>
              <a:t>  </a:t>
            </a:r>
            <a:r>
              <a:rPr lang="en-US" sz="1100" dirty="0">
                <a:solidFill>
                  <a:srgbClr val="333333"/>
                </a:solidFill>
              </a:rPr>
              <a:t>Staff helpfulness rating</a:t>
            </a:r>
            <a:endParaRPr lang="en-US" sz="1100" dirty="0">
              <a:solidFill>
                <a:srgbClr val="333333"/>
              </a:solidFill>
            </a:endParaRPr>
          </a:p>
          <a:p>
            <a:pPr marL="228600" indent="-228600" algn="l">
              <a:buChar char="Q"/>
            </a:pPr>
            <a:r>
              <a:rPr lang="en-US" sz="1100" b="1" dirty="0">
                <a:solidFill>
                  <a:srgbClr val="0D1B2A"/>
                </a:solidFill>
              </a:rPr>
              <a:t>  </a:t>
            </a:r>
            <a:r>
              <a:rPr lang="en-US" sz="1100" dirty="0">
                <a:solidFill>
                  <a:srgbClr val="333333"/>
                </a:solidFill>
              </a:rPr>
              <a:t>Overall satisfaction with Nagpur Metro</a:t>
            </a:r>
            <a:endParaRPr lang="en-US" sz="1100" dirty="0">
              <a:solidFill>
                <a:srgbClr val="333333"/>
              </a:solidFill>
            </a:endParaRPr>
          </a:p>
        </p:txBody>
      </p:sp>
      <p:sp>
        <p:nvSpPr>
          <p:cNvPr id="30" name="Footer"/>
          <p:cNvSpPr/>
          <p:nvPr/>
        </p:nvSpPr>
        <p:spPr>
          <a:xfrm>
            <a:off x="304800" y="5900000"/>
            <a:ext cx="8534400" cy="310000"/>
          </a:xfrm>
          <a:prstGeom prst="rect">
            <a:avLst/>
          </a:prstGeom>
          <a:noFill/>
        </p:spPr>
        <p:txBody>
          <a:bodyPr wrap="square" rtlCol="0" anchor="ctr"/>
          <a:lstStyle/>
          <a:p>
            <a:pPr algn="ctr">
              <a:buNone/>
            </a:pPr>
            <a:r>
              <a:rPr lang="en-US" sz="1000" dirty="0">
                <a:solidFill>
                  <a:srgbClr val="888888"/>
                </a:solidFill>
              </a:rPr>
              <a:t>n = 82 valid responses  |  Mixed method: Online (Google Forms) + Offline (Station intercept)  |  2025–26</a:t>
            </a:r>
            <a:endParaRPr lang="en-US" sz="1000" dirty="0">
              <a:solidFill>
                <a:srgbClr val="888888"/>
              </a:solidFill>
            </a:endParaRPr>
          </a:p>
        </p:txBody>
      </p:sp>
      <p:sp>
        <p:nvSpPr>
          <p:cNvPr id="4" name="Title 3"/>
          <p:cNvSpPr>
            <a:spLocks noGrp="1"/>
          </p:cNvSpPr>
          <p:nvPr>
            <p:ph type="title"/>
          </p:nvPr>
        </p:nvSpPr>
        <p:spPr>
          <a:xfrm>
            <a:off x="9360875" y="1609341"/>
            <a:ext cx="305168" cy="45719"/>
          </a:xfrm>
        </p:spPr>
        <p:txBody>
          <a:bodyPr>
            <a:normAutofit fontScale="90000"/>
          </a:bodyPr>
          <a:lstStyle/>
          <a:p>
            <a:endParaRPr lang="en-US" dirty="0"/>
          </a:p>
        </p:txBody>
      </p:sp>
      <p:sp>
        <p:nvSpPr>
          <p:cNvPr id="5" name="Text Placeholder 4"/>
          <p:cNvSpPr>
            <a:spLocks noGrp="1"/>
          </p:cNvSpPr>
          <p:nvPr>
            <p:ph type="body" idx="1"/>
          </p:nvPr>
        </p:nvSpPr>
        <p:spPr>
          <a:xfrm flipH="1">
            <a:off x="9504680" y="1634727"/>
            <a:ext cx="45719" cy="617220"/>
          </a:xfrm>
        </p:spPr>
        <p:txBody>
          <a:bodyPr/>
          <a:lstStyle/>
          <a:p>
            <a:endParaRPr lang="en-US" dirty="0"/>
          </a:p>
        </p:txBody>
      </p:sp>
      <p:sp>
        <p:nvSpPr>
          <p:cNvPr id="6" name="Content Placeholder 5"/>
          <p:cNvSpPr>
            <a:spLocks noGrp="1"/>
          </p:cNvSpPr>
          <p:nvPr>
            <p:ph sz="half" idx="2"/>
          </p:nvPr>
        </p:nvSpPr>
        <p:spPr>
          <a:xfrm flipH="1">
            <a:off x="9666044" y="2225841"/>
            <a:ext cx="45719" cy="2506179"/>
          </a:xfrm>
        </p:spPr>
        <p:txBody>
          <a:bodyPr/>
          <a:lstStyle/>
          <a:p>
            <a:endParaRPr lang="en-US" dirty="0"/>
          </a:p>
        </p:txBody>
      </p:sp>
      <p:sp>
        <p:nvSpPr>
          <p:cNvPr id="7" name="Text Placeholder 6"/>
          <p:cNvSpPr>
            <a:spLocks noGrp="1"/>
          </p:cNvSpPr>
          <p:nvPr>
            <p:ph type="body" sz="quarter" idx="3"/>
          </p:nvPr>
        </p:nvSpPr>
        <p:spPr>
          <a:xfrm>
            <a:off x="9550397" y="1634727"/>
            <a:ext cx="45719" cy="617220"/>
          </a:xfrm>
        </p:spPr>
        <p:txBody>
          <a:bodyPr/>
          <a:lstStyle/>
          <a:p>
            <a:endParaRPr lang="en-US" dirty="0"/>
          </a:p>
        </p:txBody>
      </p:sp>
      <p:sp>
        <p:nvSpPr>
          <p:cNvPr id="8" name="Content Placeholder 7"/>
          <p:cNvSpPr>
            <a:spLocks noGrp="1"/>
          </p:cNvSpPr>
          <p:nvPr>
            <p:ph sz="quarter" idx="4"/>
          </p:nvPr>
        </p:nvSpPr>
        <p:spPr>
          <a:xfrm>
            <a:off x="9711761" y="2225841"/>
            <a:ext cx="45719" cy="2506179"/>
          </a:xfrm>
        </p:spPr>
        <p:txBody>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a:t>
            </a:r>
            <a:endParaRPr lang="en-US" dirty="0"/>
          </a:p>
        </p:txBody>
      </p:sp>
      <p:sp>
        <p:nvSpPr>
          <p:cNvPr id="3" name="Text Placeholder 2"/>
          <p:cNvSpPr>
            <a:spLocks noGrp="1"/>
          </p:cNvSpPr>
          <p:nvPr>
            <p:ph type="body" idx="1"/>
          </p:nvPr>
        </p:nvSpPr>
        <p:spPr/>
        <p:txBody>
          <a:bodyPr/>
          <a:lstStyle/>
          <a:p>
            <a:endParaRPr lang="en-US"/>
          </a:p>
        </p:txBody>
      </p:sp>
      <p:pic>
        <p:nvPicPr>
          <p:cNvPr id="7" name="Content Placeholder 6" descr="Aerial view of business data analysis graph - ID: 380346"/>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498231" y="1488831"/>
            <a:ext cx="5394569" cy="3243189"/>
          </a:xfrm>
        </p:spPr>
      </p:pic>
      <p:sp>
        <p:nvSpPr>
          <p:cNvPr id="5" name="Text Placeholder 4"/>
          <p:cNvSpPr>
            <a:spLocks noGrp="1"/>
          </p:cNvSpPr>
          <p:nvPr>
            <p:ph type="body" sz="quarter" idx="3"/>
          </p:nvPr>
        </p:nvSpPr>
        <p:spPr>
          <a:xfrm>
            <a:off x="9592233" y="1634727"/>
            <a:ext cx="47813" cy="617220"/>
          </a:xfrm>
        </p:spPr>
        <p:txBody>
          <a:bodyPr/>
          <a:lstStyle/>
          <a:p>
            <a:endParaRPr lang="en-US" dirty="0"/>
          </a:p>
        </p:txBody>
      </p:sp>
      <p:sp>
        <p:nvSpPr>
          <p:cNvPr id="6" name="Content Placeholder 5"/>
          <p:cNvSpPr>
            <a:spLocks noGrp="1"/>
          </p:cNvSpPr>
          <p:nvPr>
            <p:ph sz="quarter" idx="4"/>
          </p:nvPr>
        </p:nvSpPr>
        <p:spPr>
          <a:xfrm>
            <a:off x="9360875" y="2225841"/>
            <a:ext cx="231359" cy="2506179"/>
          </a:xfrm>
        </p:spPr>
        <p:txBody>
          <a:bodyP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822960"/>
          </a:xfrm>
          <a:prstGeom prst="rect">
            <a:avLst/>
          </a:prstGeom>
          <a:solidFill>
            <a:srgbClr val="0D1B2A"/>
          </a:solidFill>
        </p:spPr>
      </p:sp>
      <p:sp>
        <p:nvSpPr>
          <p:cNvPr id="3" name="Title"/>
          <p:cNvSpPr/>
          <p:nvPr/>
        </p:nvSpPr>
        <p:spPr>
          <a:xfrm>
            <a:off x="365760" y="137160"/>
            <a:ext cx="8412480" cy="548640"/>
          </a:xfrm>
          <a:prstGeom prst="rect">
            <a:avLst/>
          </a:prstGeom>
          <a:noFill/>
        </p:spPr>
        <p:txBody>
          <a:bodyPr wrap="square" rtlCol="0" anchor="ctr"/>
          <a:lstStyle/>
          <a:p>
            <a:pPr marL="0" indent="0" algn="l">
              <a:buNone/>
            </a:pPr>
            <a:r>
              <a:rPr lang="en-US" sz="1700" b="1" dirty="0">
                <a:solidFill>
                  <a:srgbClr val="FFFFFF"/>
                </a:solidFill>
              </a:rPr>
              <a:t>CHAPTER 4 — Data Analysis: Statistical Tools Applied</a:t>
            </a:r>
            <a:endParaRPr lang="en-US" sz="1700" b="1" dirty="0">
              <a:solidFill>
                <a:srgbClr val="FFFFFF"/>
              </a:solidFill>
            </a:endParaRPr>
          </a:p>
        </p:txBody>
      </p:sp>
      <p:sp>
        <p:nvSpPr>
          <p:cNvPr id="10" name="Tool1"/>
          <p:cNvSpPr/>
          <p:nvPr/>
        </p:nvSpPr>
        <p:spPr>
          <a:xfrm>
            <a:off x="304800" y="950000"/>
            <a:ext cx="2700000" cy="1050000"/>
          </a:xfrm>
          <a:prstGeom prst="rect">
            <a:avLst/>
          </a:prstGeom>
          <a:solidFill>
            <a:srgbClr val="0D1B2A"/>
          </a:solidFill>
        </p:spPr>
        <p:txBody>
          <a:bodyPr wrap="square" rtlCol="0" anchor="ctr"/>
          <a:lstStyle/>
          <a:p>
            <a:pPr algn="ctr">
              <a:buNone/>
            </a:pPr>
            <a:r>
              <a:rPr lang="en-US" sz="1300" b="1" dirty="0">
                <a:solidFill>
                  <a:srgbClr val="F9E795"/>
                </a:solidFill>
              </a:rPr>
              <a:t>📊 Frequency Distribution</a:t>
            </a:r>
            <a:endParaRPr lang="en-US" sz="1300" b="1" dirty="0">
              <a:solidFill>
                <a:srgbClr val="F9E795"/>
              </a:solidFill>
            </a:endParaRPr>
          </a:p>
          <a:p>
            <a:pPr algn="ctr">
              <a:buNone/>
            </a:pPr>
            <a:r>
              <a:rPr lang="en-US" sz="1050" dirty="0">
                <a:solidFill>
                  <a:srgbClr val="CADCFC"/>
                </a:solidFill>
              </a:rPr>
              <a:t>All 9 questions tabulated</a:t>
            </a:r>
            <a:endParaRPr lang="en-US" sz="1050" dirty="0">
              <a:solidFill>
                <a:srgbClr val="CADCFC"/>
              </a:solidFill>
            </a:endParaRPr>
          </a:p>
          <a:p>
            <a:pPr algn="ctr">
              <a:buNone/>
            </a:pPr>
            <a:r>
              <a:rPr lang="en-US" sz="1050" dirty="0">
                <a:solidFill>
                  <a:srgbClr val="CADCFC"/>
                </a:solidFill>
              </a:rPr>
              <a:t>with % and f values</a:t>
            </a:r>
            <a:endParaRPr lang="en-US" sz="1050" dirty="0">
              <a:solidFill>
                <a:srgbClr val="CADCFC"/>
              </a:solidFill>
            </a:endParaRPr>
          </a:p>
        </p:txBody>
      </p:sp>
      <p:sp>
        <p:nvSpPr>
          <p:cNvPr id="11" name="Tool2"/>
          <p:cNvSpPr/>
          <p:nvPr/>
        </p:nvSpPr>
        <p:spPr>
          <a:xfrm>
            <a:off x="3218400" y="950000"/>
            <a:ext cx="2700000" cy="1050000"/>
          </a:xfrm>
          <a:prstGeom prst="rect">
            <a:avLst/>
          </a:prstGeom>
          <a:solidFill>
            <a:srgbClr val="1C3557"/>
          </a:solidFill>
        </p:spPr>
        <p:txBody>
          <a:bodyPr wrap="square" rtlCol="0" anchor="ctr"/>
          <a:lstStyle/>
          <a:p>
            <a:pPr algn="ctr">
              <a:buNone/>
            </a:pPr>
            <a:r>
              <a:rPr lang="en-US" sz="1300" b="1" dirty="0">
                <a:solidFill>
                  <a:srgbClr val="F9E795"/>
                </a:solidFill>
              </a:rPr>
              <a:t>📈 Mean, Variance &amp; SD</a:t>
            </a:r>
            <a:endParaRPr lang="en-US" sz="1300" b="1" dirty="0">
              <a:solidFill>
                <a:srgbClr val="F9E795"/>
              </a:solidFill>
            </a:endParaRPr>
          </a:p>
          <a:p>
            <a:pPr algn="ctr">
              <a:buNone/>
            </a:pPr>
            <a:r>
              <a:rPr lang="en-US" sz="1050" dirty="0">
                <a:solidFill>
                  <a:srgbClr val="CADCFC"/>
                </a:solidFill>
              </a:rPr>
              <a:t>Punctuality: Mean 3.83</a:t>
            </a:r>
            <a:endParaRPr lang="en-US" sz="1050" dirty="0">
              <a:solidFill>
                <a:srgbClr val="CADCFC"/>
              </a:solidFill>
            </a:endParaRPr>
          </a:p>
          <a:p>
            <a:pPr algn="ctr">
              <a:buNone/>
            </a:pPr>
            <a:r>
              <a:rPr lang="en-US" sz="1050" dirty="0">
                <a:solidFill>
                  <a:srgbClr val="CADCFC"/>
                </a:solidFill>
              </a:rPr>
              <a:t>Variance 1.12, SD 1.06</a:t>
            </a:r>
            <a:endParaRPr lang="en-US" sz="1050" dirty="0">
              <a:solidFill>
                <a:srgbClr val="CADCFC"/>
              </a:solidFill>
            </a:endParaRPr>
          </a:p>
        </p:txBody>
      </p:sp>
      <p:sp>
        <p:nvSpPr>
          <p:cNvPr id="12" name="Tool3"/>
          <p:cNvSpPr/>
          <p:nvPr/>
        </p:nvSpPr>
        <p:spPr>
          <a:xfrm>
            <a:off x="6132000" y="950000"/>
            <a:ext cx="2700000" cy="1050000"/>
          </a:xfrm>
          <a:prstGeom prst="rect">
            <a:avLst/>
          </a:prstGeom>
          <a:solidFill>
            <a:srgbClr val="0D1B2A"/>
          </a:solidFill>
        </p:spPr>
        <p:txBody>
          <a:bodyPr wrap="square" rtlCol="0" anchor="ctr"/>
          <a:lstStyle/>
          <a:p>
            <a:pPr algn="ctr">
              <a:buNone/>
            </a:pPr>
            <a:r>
              <a:rPr lang="en-US" sz="1300" b="1" dirty="0">
                <a:solidFill>
                  <a:srgbClr val="F9E795"/>
                </a:solidFill>
              </a:rPr>
              <a:t>⚖ Weighted Average</a:t>
            </a:r>
            <a:endParaRPr lang="en-US" sz="1300" b="1" dirty="0">
              <a:solidFill>
                <a:srgbClr val="F9E795"/>
              </a:solidFill>
            </a:endParaRPr>
          </a:p>
          <a:p>
            <a:pPr algn="ctr">
              <a:buNone/>
            </a:pPr>
            <a:r>
              <a:rPr lang="en-US" sz="1050" dirty="0">
                <a:solidFill>
                  <a:srgbClr val="CADCFC"/>
                </a:solidFill>
              </a:rPr>
              <a:t>Satisfaction score</a:t>
            </a:r>
            <a:endParaRPr lang="en-US" sz="1050" dirty="0">
              <a:solidFill>
                <a:srgbClr val="CADCFC"/>
              </a:solidFill>
            </a:endParaRPr>
          </a:p>
          <a:p>
            <a:pPr algn="ctr">
              <a:buNone/>
            </a:pPr>
            <a:r>
              <a:rPr lang="en-US" sz="1050" dirty="0">
                <a:solidFill>
                  <a:srgbClr val="CADCFC"/>
                </a:solidFill>
              </a:rPr>
              <a:t>computed as 4.09/5</a:t>
            </a:r>
            <a:endParaRPr lang="en-US" sz="1050" dirty="0">
              <a:solidFill>
                <a:srgbClr val="CADCFC"/>
              </a:solidFill>
            </a:endParaRPr>
          </a:p>
        </p:txBody>
      </p:sp>
      <p:sp>
        <p:nvSpPr>
          <p:cNvPr id="20" name="WALabel"/>
          <p:cNvSpPr/>
          <p:nvPr/>
        </p:nvSpPr>
        <p:spPr>
          <a:xfrm>
            <a:off x="304800" y="2120000"/>
            <a:ext cx="8534400" cy="400000"/>
          </a:xfrm>
          <a:prstGeom prst="rect">
            <a:avLst/>
          </a:prstGeom>
          <a:solidFill>
            <a:srgbClr val="E8EDF5"/>
          </a:solidFill>
        </p:spPr>
        <p:txBody>
          <a:bodyPr wrap="square" rtlCol="0" anchor="ctr"/>
          <a:lstStyle/>
          <a:p>
            <a:pPr marL="152400" indent="0" algn="l">
              <a:buNone/>
            </a:pPr>
            <a:r>
              <a:rPr lang="en-US" sz="1300" b="1" dirty="0">
                <a:solidFill>
                  <a:srgbClr val="0D1B2A"/>
                </a:solidFill>
              </a:rPr>
              <a:t>Weighted Average Calculation — Overall Satisfaction (Q9)</a:t>
            </a:r>
            <a:endParaRPr lang="en-US" sz="1300" b="1" dirty="0">
              <a:solidFill>
                <a:srgbClr val="0D1B2A"/>
              </a:solidFill>
            </a:endParaRPr>
          </a:p>
        </p:txBody>
      </p:sp>
      <p:sp>
        <p:nvSpPr>
          <p:cNvPr id="21" name="TblHdr"/>
          <p:cNvSpPr/>
          <p:nvPr/>
        </p:nvSpPr>
        <p:spPr>
          <a:xfrm>
            <a:off x="304800" y="2560000"/>
            <a:ext cx="8534400" cy="380000"/>
          </a:xfrm>
          <a:prstGeom prst="rect">
            <a:avLst/>
          </a:prstGeom>
          <a:solidFill>
            <a:srgbClr val="0D1B2A"/>
          </a:solidFill>
        </p:spPr>
        <p:txBody>
          <a:bodyPr wrap="square" rtlCol="0" anchor="ctr"/>
          <a:lstStyle/>
          <a:p>
            <a:pPr marL="152400" indent="0" algn="l">
              <a:buNone/>
            </a:pPr>
            <a:r>
              <a:rPr lang="en-US" sz="1100" b="1" dirty="0">
                <a:solidFill>
                  <a:srgbClr val="FFFFFF"/>
                </a:solidFill>
              </a:rPr>
              <a:t>Category (x)                         Weight (w)         Freq (f)          w×f</a:t>
            </a:r>
            <a:endParaRPr lang="en-US" sz="1100" b="1" dirty="0">
              <a:solidFill>
                <a:srgbClr val="FFFFFF"/>
              </a:solidFill>
            </a:endParaRPr>
          </a:p>
        </p:txBody>
      </p:sp>
      <p:sp>
        <p:nvSpPr>
          <p:cNvPr id="22" name="TblRows"/>
          <p:cNvSpPr/>
          <p:nvPr/>
        </p:nvSpPr>
        <p:spPr>
          <a:xfrm>
            <a:off x="304800" y="2960000"/>
            <a:ext cx="8534400" cy="2200000"/>
          </a:xfrm>
          <a:prstGeom prst="rect">
            <a:avLst/>
          </a:prstGeom>
          <a:solidFill>
            <a:srgbClr val="FFFFFF"/>
          </a:solidFill>
        </p:spPr>
        <p:txBody>
          <a:bodyPr wrap="square" rtlCol="0" anchor="t"/>
          <a:lstStyle/>
          <a:p>
            <a:pPr marL="152400" indent="0" algn="l">
              <a:buNone/>
            </a:pPr>
            <a:r>
              <a:rPr lang="en-US" sz="1100" dirty="0">
                <a:solidFill>
                  <a:srgbClr val="222222"/>
                </a:solidFill>
              </a:rPr>
              <a:t>Very Satisfied                              5                          25                  125</a:t>
            </a:r>
            <a:endParaRPr lang="en-US" sz="1100" dirty="0">
              <a:solidFill>
                <a:srgbClr val="222222"/>
              </a:solidFill>
            </a:endParaRPr>
          </a:p>
          <a:p>
            <a:pPr marL="152400" indent="0" algn="l">
              <a:buNone/>
            </a:pPr>
            <a:r>
              <a:rPr lang="en-US" sz="1100" dirty="0">
                <a:solidFill>
                  <a:srgbClr val="222222"/>
                </a:solidFill>
              </a:rPr>
              <a:t>Satisfied                                      4                          43                  172</a:t>
            </a:r>
            <a:endParaRPr lang="en-US" sz="1100" dirty="0">
              <a:solidFill>
                <a:srgbClr val="222222"/>
              </a:solidFill>
            </a:endParaRPr>
          </a:p>
          <a:p>
            <a:pPr marL="152400" indent="0" algn="l">
              <a:buNone/>
            </a:pPr>
            <a:r>
              <a:rPr lang="en-US" sz="1100" dirty="0">
                <a:solidFill>
                  <a:srgbClr val="222222"/>
                </a:solidFill>
              </a:rPr>
              <a:t>Neutral                                        3                          11                    33</a:t>
            </a:r>
            <a:endParaRPr lang="en-US" sz="1100" dirty="0">
              <a:solidFill>
                <a:srgbClr val="222222"/>
              </a:solidFill>
            </a:endParaRPr>
          </a:p>
          <a:p>
            <a:pPr marL="152400" indent="0" algn="l">
              <a:buNone/>
            </a:pPr>
            <a:r>
              <a:rPr lang="en-US" sz="1100" dirty="0">
                <a:solidFill>
                  <a:srgbClr val="222222"/>
                </a:solidFill>
              </a:rPr>
              <a:t>Dissatisfied                                2                            1                      2</a:t>
            </a:r>
            <a:endParaRPr lang="en-US" sz="1100" dirty="0">
              <a:solidFill>
                <a:srgbClr val="222222"/>
              </a:solidFill>
            </a:endParaRPr>
          </a:p>
          <a:p>
            <a:pPr marL="152400" indent="0" algn="l">
              <a:buNone/>
            </a:pPr>
            <a:r>
              <a:rPr lang="en-US" sz="1100" dirty="0">
                <a:solidFill>
                  <a:srgbClr val="222222"/>
                </a:solidFill>
              </a:rPr>
              <a:t>Very Dissatisfied                       1                            1                      1</a:t>
            </a:r>
            <a:endParaRPr lang="en-US" sz="1100" dirty="0">
              <a:solidFill>
                <a:srgbClr val="222222"/>
              </a:solidFill>
            </a:endParaRPr>
          </a:p>
          <a:p>
            <a:pPr marL="152400" indent="0" algn="l">
              <a:buNone/>
            </a:pPr>
            <a:r>
              <a:rPr lang="en-US" sz="1100" b="1" dirty="0">
                <a:solidFill>
                  <a:srgbClr val="0D1B2A"/>
                </a:solidFill>
              </a:rPr>
              <a:t>Total (N = 82)                                                        82                  333</a:t>
            </a:r>
            <a:endParaRPr lang="en-US" sz="1100" b="1" dirty="0">
              <a:solidFill>
                <a:srgbClr val="0D1B2A"/>
              </a:solidFill>
            </a:endParaRPr>
          </a:p>
        </p:txBody>
      </p:sp>
      <p:sp>
        <p:nvSpPr>
          <p:cNvPr id="23" name="Result"/>
          <p:cNvSpPr/>
          <p:nvPr/>
        </p:nvSpPr>
        <p:spPr>
          <a:xfrm>
            <a:off x="304800" y="5280000"/>
            <a:ext cx="8534400" cy="460000"/>
          </a:xfrm>
          <a:prstGeom prst="rect">
            <a:avLst/>
          </a:prstGeom>
          <a:solidFill>
            <a:srgbClr val="1C3557"/>
          </a:solidFill>
        </p:spPr>
        <p:txBody>
          <a:bodyPr wrap="square" rtlCol="0" anchor="ctr"/>
          <a:lstStyle/>
          <a:p>
            <a:pPr algn="ctr">
              <a:buNone/>
            </a:pPr>
            <a:r>
              <a:rPr lang="en-US" sz="1200" b="1" dirty="0">
                <a:solidFill>
                  <a:srgbClr val="FFFFFF"/>
                </a:solidFill>
              </a:rPr>
              <a:t>Weighted Average = Σ(w×f) / N = 333 / 82 = </a:t>
            </a:r>
            <a:r>
              <a:rPr lang="en-US" sz="1400" b="1" dirty="0">
                <a:solidFill>
                  <a:srgbClr val="F9E795"/>
                </a:solidFill>
              </a:rPr>
              <a:t>4.06 / 5</a:t>
            </a:r>
            <a:r>
              <a:rPr lang="en-US" sz="1200" dirty="0">
                <a:solidFill>
                  <a:srgbClr val="CADCFC"/>
                </a:solidFill>
              </a:rPr>
              <a:t>   → High overall satisfaction</a:t>
            </a:r>
            <a:endParaRPr lang="en-US" sz="1200" dirty="0">
              <a:solidFill>
                <a:srgbClr val="CADCFC"/>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45720"/>
            <a:ext cx="9144000" cy="822960"/>
          </a:xfrm>
          <a:prstGeom prst="rect">
            <a:avLst/>
          </a:prstGeom>
          <a:solidFill>
            <a:srgbClr val="0D1B2A"/>
          </a:solidFill>
          <a:ln w="12700">
            <a:solidFill>
              <a:srgbClr val="0D1B2A"/>
            </a:solidFill>
            <a:prstDash val="solid"/>
          </a:ln>
        </p:spPr>
      </p:sp>
      <p:sp>
        <p:nvSpPr>
          <p:cNvPr id="3" name="Text 1"/>
          <p:cNvSpPr/>
          <p:nvPr/>
        </p:nvSpPr>
        <p:spPr>
          <a:xfrm>
            <a:off x="441960" y="155575"/>
            <a:ext cx="8412480" cy="548640"/>
          </a:xfrm>
          <a:prstGeom prst="rect">
            <a:avLst/>
          </a:prstGeom>
          <a:noFill/>
        </p:spPr>
        <p:txBody>
          <a:bodyPr wrap="square" rtlCol="0" anchor="ctr"/>
          <a:lstStyle/>
          <a:p>
            <a:pPr marL="0" indent="0" algn="l">
              <a:buNone/>
            </a:pPr>
            <a:r>
              <a:rPr lang="en-US" sz="1800" b="1" dirty="0">
                <a:solidFill>
                  <a:srgbClr val="FFFFFF"/>
                </a:solidFill>
              </a:rPr>
              <a:t>CHAPTER 3 — Literature Review &amp; Global </a:t>
            </a:r>
            <a:r>
              <a:rPr lang="en-US" sz="1800" b="1" dirty="0" smtClean="0">
                <a:solidFill>
                  <a:srgbClr val="FFFFFF"/>
                </a:solidFill>
              </a:rPr>
              <a:t>Benchmarks ( Here i hav</a:t>
            </a:r>
            <a:r>
              <a:rPr lang="en-US" b="1" dirty="0" smtClean="0">
                <a:solidFill>
                  <a:srgbClr val="FFFFFF"/>
                </a:solidFill>
              </a:rPr>
              <a:t>e taken references from </a:t>
            </a:r>
            <a:r>
              <a:rPr lang="en-US" b="1" dirty="0">
                <a:solidFill>
                  <a:srgbClr val="FFFFFF"/>
                </a:solidFill>
              </a:rPr>
              <a:t>p</a:t>
            </a:r>
            <a:r>
              <a:rPr lang="en-US" b="1" dirty="0" smtClean="0">
                <a:solidFill>
                  <a:srgbClr val="FFFFFF"/>
                </a:solidFill>
              </a:rPr>
              <a:t>revious study for comparison)</a:t>
            </a:r>
            <a:endParaRPr lang="en-US" sz="1800" dirty="0"/>
          </a:p>
        </p:txBody>
      </p:sp>
      <p:graphicFrame>
        <p:nvGraphicFramePr>
          <p:cNvPr id="4" name="Chart 0"/>
          <p:cNvGraphicFramePr/>
          <p:nvPr/>
        </p:nvGraphicFramePr>
        <p:xfrm>
          <a:off x="274320" y="914400"/>
          <a:ext cx="5029200" cy="3105013"/>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 5"/>
          <p:cNvSpPr/>
          <p:nvPr/>
        </p:nvSpPr>
        <p:spPr>
          <a:xfrm>
            <a:off x="5669280" y="1618488"/>
            <a:ext cx="3108960" cy="320040"/>
          </a:xfrm>
          <a:prstGeom prst="rect">
            <a:avLst/>
          </a:prstGeom>
          <a:noFill/>
        </p:spPr>
        <p:txBody>
          <a:bodyPr wrap="square" rtlCol="0" anchor="ctr"/>
          <a:lstStyle/>
          <a:p>
            <a:pPr marL="0" indent="0">
              <a:buNone/>
            </a:pPr>
            <a:endParaRPr lang="en-US" sz="900" dirty="0"/>
          </a:p>
        </p:txBody>
      </p:sp>
      <p:sp>
        <p:nvSpPr>
          <p:cNvPr id="10" name="Text 7"/>
          <p:cNvSpPr/>
          <p:nvPr/>
        </p:nvSpPr>
        <p:spPr>
          <a:xfrm>
            <a:off x="5669280" y="2103120"/>
            <a:ext cx="3108960" cy="274320"/>
          </a:xfrm>
          <a:prstGeom prst="rect">
            <a:avLst/>
          </a:prstGeom>
          <a:noFill/>
        </p:spPr>
        <p:txBody>
          <a:bodyPr wrap="square" rtlCol="0" anchor="ctr"/>
          <a:lstStyle/>
          <a:p>
            <a:pPr marL="0" indent="0">
              <a:buNone/>
            </a:pPr>
            <a:endParaRPr lang="en-US" sz="950" dirty="0"/>
          </a:p>
        </p:txBody>
      </p:sp>
      <p:sp>
        <p:nvSpPr>
          <p:cNvPr id="11" name="Text 8"/>
          <p:cNvSpPr/>
          <p:nvPr/>
        </p:nvSpPr>
        <p:spPr>
          <a:xfrm>
            <a:off x="5669280" y="2368296"/>
            <a:ext cx="3108960" cy="320040"/>
          </a:xfrm>
          <a:prstGeom prst="rect">
            <a:avLst/>
          </a:prstGeom>
          <a:noFill/>
        </p:spPr>
        <p:txBody>
          <a:bodyPr wrap="square" rtlCol="0" anchor="ctr"/>
          <a:lstStyle/>
          <a:p>
            <a:r>
              <a:rPr lang="en-US" sz="900" dirty="0" smtClean="0">
                <a:solidFill>
                  <a:srgbClr val="1E293B"/>
                </a:solidFill>
              </a:rPr>
              <a:t>— </a:t>
            </a:r>
            <a:endParaRPr lang="en-US" sz="900" dirty="0"/>
          </a:p>
        </p:txBody>
      </p:sp>
      <p:sp>
        <p:nvSpPr>
          <p:cNvPr id="13" name="Text 10"/>
          <p:cNvSpPr/>
          <p:nvPr/>
        </p:nvSpPr>
        <p:spPr>
          <a:xfrm>
            <a:off x="5669280" y="2852928"/>
            <a:ext cx="3108960" cy="274320"/>
          </a:xfrm>
          <a:prstGeom prst="rect">
            <a:avLst/>
          </a:prstGeom>
          <a:noFill/>
        </p:spPr>
        <p:txBody>
          <a:bodyPr wrap="square" rtlCol="0" anchor="ctr"/>
          <a:lstStyle/>
          <a:p>
            <a:pPr marL="0" indent="0">
              <a:buNone/>
            </a:pPr>
            <a:endParaRPr lang="en-US" sz="950" dirty="0"/>
          </a:p>
        </p:txBody>
      </p:sp>
      <p:sp>
        <p:nvSpPr>
          <p:cNvPr id="14" name="Text 11"/>
          <p:cNvSpPr/>
          <p:nvPr/>
        </p:nvSpPr>
        <p:spPr>
          <a:xfrm>
            <a:off x="5669280" y="3154680"/>
            <a:ext cx="3108960" cy="320040"/>
          </a:xfrm>
          <a:prstGeom prst="rect">
            <a:avLst/>
          </a:prstGeom>
          <a:noFill/>
        </p:spPr>
        <p:txBody>
          <a:bodyPr wrap="square" rtlCol="0" anchor="ctr"/>
          <a:lstStyle/>
          <a:p>
            <a:pPr marL="0" indent="0">
              <a:buNone/>
            </a:pPr>
            <a:endParaRPr lang="en-US" sz="900" dirty="0"/>
          </a:p>
        </p:txBody>
      </p:sp>
      <p:sp>
        <p:nvSpPr>
          <p:cNvPr id="16" name="Text 13"/>
          <p:cNvSpPr/>
          <p:nvPr/>
        </p:nvSpPr>
        <p:spPr>
          <a:xfrm>
            <a:off x="5669280" y="3602735"/>
            <a:ext cx="3108960" cy="662315"/>
          </a:xfrm>
          <a:prstGeom prst="rect">
            <a:avLst/>
          </a:prstGeom>
          <a:noFill/>
        </p:spPr>
        <p:txBody>
          <a:bodyPr wrap="square" rtlCol="0" anchor="ctr"/>
          <a:lstStyle/>
          <a:p>
            <a:pPr marL="0" indent="0">
              <a:buNone/>
            </a:pPr>
            <a:endParaRPr lang="en-US" sz="950" dirty="0"/>
          </a:p>
        </p:txBody>
      </p:sp>
      <p:sp>
        <p:nvSpPr>
          <p:cNvPr id="17" name="Text 14"/>
          <p:cNvSpPr/>
          <p:nvPr/>
        </p:nvSpPr>
        <p:spPr>
          <a:xfrm>
            <a:off x="5669280" y="3815482"/>
            <a:ext cx="3108960" cy="372470"/>
          </a:xfrm>
          <a:prstGeom prst="rect">
            <a:avLst/>
          </a:prstGeom>
          <a:noFill/>
        </p:spPr>
        <p:txBody>
          <a:bodyPr wrap="square" rtlCol="0" anchor="ctr"/>
          <a:lstStyle/>
          <a:p>
            <a:pPr marL="0" indent="0">
              <a:buNone/>
            </a:pPr>
            <a:endParaRPr lang="en-US" sz="900" dirty="0"/>
          </a:p>
        </p:txBody>
      </p:sp>
      <p:sp>
        <p:nvSpPr>
          <p:cNvPr id="18" name="Shape 15"/>
          <p:cNvSpPr/>
          <p:nvPr/>
        </p:nvSpPr>
        <p:spPr>
          <a:xfrm>
            <a:off x="0" y="4800600"/>
            <a:ext cx="9144000" cy="342900"/>
          </a:xfrm>
          <a:prstGeom prst="rect">
            <a:avLst/>
          </a:prstGeom>
          <a:solidFill>
            <a:srgbClr val="1A7FAD"/>
          </a:solidFill>
          <a:ln w="12700">
            <a:solidFill>
              <a:srgbClr val="1A7FAD"/>
            </a:solidFill>
            <a:prstDash val="solid"/>
          </a:ln>
        </p:spPr>
      </p:sp>
      <p:sp>
        <p:nvSpPr>
          <p:cNvPr id="19" name="Text 16"/>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Every study confirms: passengers value punctuality above all else.</a:t>
            </a:r>
            <a:endParaRPr lang="en-US" sz="1000" dirty="0"/>
          </a:p>
        </p:txBody>
      </p:sp>
      <p:sp>
        <p:nvSpPr>
          <p:cNvPr id="7" name="Title 6"/>
          <p:cNvSpPr>
            <a:spLocks noGrp="1"/>
          </p:cNvSpPr>
          <p:nvPr>
            <p:ph type="title"/>
          </p:nvPr>
        </p:nvSpPr>
        <p:spPr>
          <a:xfrm>
            <a:off x="5313759" y="1033272"/>
            <a:ext cx="2743200" cy="509778"/>
          </a:xfrm>
        </p:spPr>
        <p:txBody>
          <a:bodyPr/>
          <a:lstStyle/>
          <a:p>
            <a:r>
              <a:rPr lang="en-US" dirty="0" smtClean="0">
                <a:solidFill>
                  <a:schemeClr val="bg1"/>
                </a:solidFill>
              </a:rPr>
              <a:t>INTERPRETATION:</a:t>
            </a:r>
            <a:endParaRPr lang="en-US" dirty="0">
              <a:solidFill>
                <a:schemeClr val="bg1"/>
              </a:solidFill>
            </a:endParaRPr>
          </a:p>
        </p:txBody>
      </p:sp>
      <p:sp>
        <p:nvSpPr>
          <p:cNvPr id="15" name="Content Placeholder 14"/>
          <p:cNvSpPr>
            <a:spLocks noGrp="1"/>
          </p:cNvSpPr>
          <p:nvPr>
            <p:ph idx="1"/>
          </p:nvPr>
        </p:nvSpPr>
        <p:spPr>
          <a:xfrm>
            <a:off x="210457" y="5711369"/>
            <a:ext cx="4760403" cy="106501"/>
          </a:xfrm>
        </p:spPr>
        <p:txBody>
          <a:bodyPr>
            <a:normAutofit fontScale="25000" lnSpcReduction="20000"/>
          </a:bodyPr>
          <a:lstStyle/>
          <a:p>
            <a:endParaRPr lang="en-US" dirty="0"/>
          </a:p>
        </p:txBody>
      </p:sp>
      <p:sp>
        <p:nvSpPr>
          <p:cNvPr id="20" name="Text Placeholder 19"/>
          <p:cNvSpPr>
            <a:spLocks noGrp="1"/>
          </p:cNvSpPr>
          <p:nvPr>
            <p:ph type="body" sz="half" idx="2"/>
          </p:nvPr>
        </p:nvSpPr>
        <p:spPr>
          <a:xfrm>
            <a:off x="5313759" y="1657350"/>
            <a:ext cx="2743200" cy="2468880"/>
          </a:xfrm>
        </p:spPr>
        <p:txBody>
          <a:bodyPr/>
          <a:lstStyle/>
          <a:p>
            <a:r>
              <a:rPr lang="en-US" dirty="0" smtClean="0"/>
              <a:t>This graph shows a </a:t>
            </a:r>
            <a:r>
              <a:rPr lang="en-US" dirty="0" err="1" smtClean="0"/>
              <a:t>comparision</a:t>
            </a:r>
            <a:r>
              <a:rPr lang="en-US" dirty="0" smtClean="0"/>
              <a:t> of metro across four cities.</a:t>
            </a:r>
            <a:endParaRPr lang="en-US" dirty="0" smtClean="0"/>
          </a:p>
          <a:p>
            <a:r>
              <a:rPr lang="en-US" dirty="0" smtClean="0"/>
              <a:t>NAGPUR metro rail </a:t>
            </a:r>
            <a:r>
              <a:rPr lang="en-US" dirty="0" err="1" smtClean="0"/>
              <a:t>cor</a:t>
            </a:r>
            <a:r>
              <a:rPr lang="en-US" dirty="0" smtClean="0"/>
              <a:t>[oration recorded about 90% punctuality.</a:t>
            </a:r>
            <a:endParaRPr lang="en-US" dirty="0" smtClean="0"/>
          </a:p>
          <a:p>
            <a:r>
              <a:rPr lang="en-US" dirty="0" smtClean="0"/>
              <a:t>Delhi metro performs better with 95% person.</a:t>
            </a:r>
            <a:endParaRPr lang="en-US" dirty="0" smtClean="0"/>
          </a:p>
          <a:p>
            <a:r>
              <a:rPr lang="en-US" dirty="0" smtClean="0"/>
              <a:t>Bengaluru with slightly higher 92%</a:t>
            </a:r>
            <a:endParaRPr lang="en-US" dirty="0" smtClean="0"/>
          </a:p>
          <a:p>
            <a:r>
              <a:rPr lang="en-US" dirty="0" smtClean="0"/>
              <a:t>The highest punctuality s observed in Tokyo.</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descr="Nagpur Metro| Latest News and Videos: Majhi Metro"/>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57200" y="0"/>
            <a:ext cx="3602736" cy="2440745"/>
          </a:xfrm>
        </p:spPr>
      </p:pic>
      <p:sp>
        <p:nvSpPr>
          <p:cNvPr id="4" name="Text Placeholder 3"/>
          <p:cNvSpPr>
            <a:spLocks noGrp="1"/>
          </p:cNvSpPr>
          <p:nvPr>
            <p:ph type="body" sz="half" idx="2"/>
          </p:nvPr>
        </p:nvSpPr>
        <p:spPr>
          <a:xfrm>
            <a:off x="457200" y="3348111"/>
            <a:ext cx="3602736" cy="1526344"/>
          </a:xfrm>
        </p:spPr>
        <p:txBody>
          <a:bodyPr/>
          <a:lstStyle/>
          <a:p>
            <a:endParaRPr lang="en-US" dirty="0"/>
          </a:p>
        </p:txBody>
      </p:sp>
      <p:pic>
        <p:nvPicPr>
          <p:cNvPr id="6" name="Picture 5" descr="Section of Bangalore metro's Green Line opens to the public - Rail UK"/>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7169" y="0"/>
            <a:ext cx="3791244" cy="2440745"/>
          </a:xfrm>
          <a:prstGeom prst="rect">
            <a:avLst/>
          </a:prstGeom>
        </p:spPr>
      </p:pic>
      <p:pic>
        <p:nvPicPr>
          <p:cNvPr id="7" name="Picture 6" descr="The Delhi Metro in New Delhi, India image - Free stock photo - Public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55" y="3087858"/>
            <a:ext cx="3657599" cy="2022304"/>
          </a:xfrm>
          <a:prstGeom prst="rect">
            <a:avLst/>
          </a:prstGeom>
        </p:spPr>
      </p:pic>
      <p:pic>
        <p:nvPicPr>
          <p:cNvPr id="9" name="Picture 8" descr="File:Tokyo Metro 6131F, Depok.jpg - Wikimedia Common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1322" y="2883876"/>
            <a:ext cx="4332849" cy="22596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1700" b="1" dirty="0">
                <a:solidFill>
                  <a:srgbClr val="FFFFFF"/>
                </a:solidFill>
              </a:rPr>
              <a:t>Q1. What is your main purpose of traveling by metro?</a:t>
            </a:r>
            <a:endParaRPr lang="en-US" sz="1700" dirty="0"/>
          </a:p>
        </p:txBody>
      </p:sp>
      <p:graphicFrame>
        <p:nvGraphicFramePr>
          <p:cNvPr id="4" name="Chart 0"/>
          <p:cNvGraphicFramePr/>
          <p:nvPr/>
        </p:nvGraphicFramePr>
        <p:xfrm>
          <a:off x="124991" y="822960"/>
          <a:ext cx="4904209" cy="347472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5029200" y="914400"/>
            <a:ext cx="3840480" cy="1371600"/>
          </a:xfrm>
          <a:prstGeom prst="rect">
            <a:avLst/>
          </a:prstGeom>
          <a:solidFill>
            <a:srgbClr val="0D1B2A"/>
          </a:solidFill>
          <a:ln w="12700">
            <a:solidFill>
              <a:srgbClr val="0D1B2A"/>
            </a:solidFill>
            <a:prstDash val="solid"/>
          </a:ln>
        </p:spPr>
      </p:sp>
      <p:sp>
        <p:nvSpPr>
          <p:cNvPr id="6" name="Text 3"/>
          <p:cNvSpPr/>
          <p:nvPr/>
        </p:nvSpPr>
        <p:spPr>
          <a:xfrm>
            <a:off x="5029200" y="960120"/>
            <a:ext cx="3840480" cy="777240"/>
          </a:xfrm>
          <a:prstGeom prst="rect">
            <a:avLst/>
          </a:prstGeom>
          <a:noFill/>
        </p:spPr>
        <p:txBody>
          <a:bodyPr wrap="square" rtlCol="0" anchor="ctr"/>
          <a:lstStyle/>
          <a:p>
            <a:pPr marL="0" indent="0" algn="ctr">
              <a:buNone/>
            </a:pPr>
            <a:r>
              <a:rPr lang="en-US" sz="5200" b="1" dirty="0">
                <a:solidFill>
                  <a:srgbClr val="2EB8E6"/>
                </a:solidFill>
              </a:rPr>
              <a:t>76.8%</a:t>
            </a:r>
            <a:endParaRPr lang="en-US" sz="5200" dirty="0"/>
          </a:p>
        </p:txBody>
      </p:sp>
      <p:sp>
        <p:nvSpPr>
          <p:cNvPr id="7" name="Text 4"/>
          <p:cNvSpPr/>
          <p:nvPr/>
        </p:nvSpPr>
        <p:spPr>
          <a:xfrm>
            <a:off x="5029200" y="1691640"/>
            <a:ext cx="3840480" cy="320040"/>
          </a:xfrm>
          <a:prstGeom prst="rect">
            <a:avLst/>
          </a:prstGeom>
          <a:noFill/>
        </p:spPr>
        <p:txBody>
          <a:bodyPr wrap="square" rtlCol="0" anchor="ctr"/>
          <a:lstStyle/>
          <a:p>
            <a:pPr marL="0" indent="0" algn="ctr">
              <a:buNone/>
            </a:pPr>
            <a:r>
              <a:rPr lang="en-US" sz="1300" b="1" dirty="0">
                <a:solidFill>
                  <a:srgbClr val="FFFFFF"/>
                </a:solidFill>
              </a:rPr>
              <a:t>travel for EDUCATION</a:t>
            </a:r>
            <a:endParaRPr lang="en-US" sz="1300" dirty="0"/>
          </a:p>
        </p:txBody>
      </p:sp>
      <p:sp>
        <p:nvSpPr>
          <p:cNvPr id="8" name="Text 5"/>
          <p:cNvSpPr/>
          <p:nvPr/>
        </p:nvSpPr>
        <p:spPr>
          <a:xfrm>
            <a:off x="5029200" y="2423160"/>
            <a:ext cx="3840480" cy="274320"/>
          </a:xfrm>
          <a:prstGeom prst="rect">
            <a:avLst/>
          </a:prstGeom>
          <a:noFill/>
        </p:spPr>
        <p:txBody>
          <a:bodyPr wrap="square" rtlCol="0" anchor="ctr"/>
          <a:lstStyle/>
          <a:p>
            <a:pPr marL="0" indent="0">
              <a:buNone/>
            </a:pPr>
            <a:r>
              <a:rPr lang="en-US" sz="1200" b="1" dirty="0">
                <a:solidFill>
                  <a:srgbClr val="0D1B2A"/>
                </a:solidFill>
              </a:rPr>
              <a:t>Interpretation</a:t>
            </a:r>
            <a:endParaRPr lang="en-US" sz="1200" dirty="0"/>
          </a:p>
        </p:txBody>
      </p:sp>
      <p:sp>
        <p:nvSpPr>
          <p:cNvPr id="9" name="Text 6"/>
          <p:cNvSpPr/>
          <p:nvPr/>
        </p:nvSpPr>
        <p:spPr>
          <a:xfrm>
            <a:off x="5029200" y="2743200"/>
            <a:ext cx="3840480" cy="1554480"/>
          </a:xfrm>
          <a:prstGeom prst="rect">
            <a:avLst/>
          </a:prstGeom>
          <a:noFill/>
        </p:spPr>
        <p:txBody>
          <a:bodyPr wrap="square" rtlCol="0" anchor="ctr"/>
          <a:lstStyle/>
          <a:p>
            <a:pPr marL="0" indent="0">
              <a:buNone/>
            </a:pPr>
            <a:r>
              <a:rPr lang="en-US" sz="1050" dirty="0">
                <a:solidFill>
                  <a:srgbClr val="1E293B"/>
                </a:solidFill>
              </a:rPr>
              <a:t>63 out of 82 respondents use Nagpur Metro for educational travel. The metro route passes near several colleges and coaching institutes, making it the preferred choice for students. Any disruption during morning or afternoon slots directly affects academic schedules.</a:t>
            </a:r>
            <a:endParaRPr lang="en-US" sz="1050" dirty="0"/>
          </a:p>
        </p:txBody>
      </p:sp>
      <p:sp>
        <p:nvSpPr>
          <p:cNvPr id="10" name="Shape 7"/>
          <p:cNvSpPr/>
          <p:nvPr/>
        </p:nvSpPr>
        <p:spPr>
          <a:xfrm>
            <a:off x="0" y="4800600"/>
            <a:ext cx="9144000" cy="342900"/>
          </a:xfrm>
          <a:prstGeom prst="rect">
            <a:avLst/>
          </a:prstGeom>
          <a:solidFill>
            <a:srgbClr val="1A7FAD"/>
          </a:solidFill>
          <a:ln w="12700">
            <a:solidFill>
              <a:srgbClr val="1A7FAD"/>
            </a:solidFill>
            <a:prstDash val="solid"/>
          </a:ln>
        </p:spPr>
      </p:sp>
      <p:sp>
        <p:nvSpPr>
          <p:cNvPr id="11" name="Text 8"/>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n = 82  |  Education dominates at 76.8% — Nagpur Metro is a student-first system.</a:t>
            </a:r>
            <a:endParaRPr lang="en-US" sz="1000" dirty="0"/>
          </a:p>
        </p:txBody>
      </p:sp>
      <p:graphicFrame>
        <p:nvGraphicFramePr>
          <p:cNvPr id="12" name="Chart 11"/>
          <p:cNvGraphicFramePr/>
          <p:nvPr/>
        </p:nvGraphicFramePr>
        <p:xfrm>
          <a:off x="124991" y="1049274"/>
          <a:ext cx="4558842"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Q2 &amp; Q3. Age Group &amp; Gender of Respondents</a:t>
            </a:r>
            <a:endParaRPr lang="en-US" sz="2000" dirty="0"/>
          </a:p>
        </p:txBody>
      </p:sp>
      <p:sp>
        <p:nvSpPr>
          <p:cNvPr id="4" name="Text 2"/>
          <p:cNvSpPr/>
          <p:nvPr/>
        </p:nvSpPr>
        <p:spPr>
          <a:xfrm>
            <a:off x="274320" y="914400"/>
            <a:ext cx="4389120" cy="274320"/>
          </a:xfrm>
          <a:prstGeom prst="rect">
            <a:avLst/>
          </a:prstGeom>
          <a:noFill/>
        </p:spPr>
        <p:txBody>
          <a:bodyPr wrap="square" rtlCol="0" anchor="ctr"/>
          <a:lstStyle/>
          <a:p>
            <a:pPr marL="0" indent="0">
              <a:buNone/>
            </a:pPr>
            <a:r>
              <a:rPr lang="en-US" sz="1300" b="1" dirty="0">
                <a:solidFill>
                  <a:srgbClr val="0D1B2A"/>
                </a:solidFill>
              </a:rPr>
              <a:t>Age Distribution (n=82)</a:t>
            </a:r>
            <a:endParaRPr lang="en-US" sz="1300" dirty="0"/>
          </a:p>
        </p:txBody>
      </p:sp>
      <p:graphicFrame>
        <p:nvGraphicFramePr>
          <p:cNvPr id="5" name="Chart 0"/>
          <p:cNvGraphicFramePr/>
          <p:nvPr/>
        </p:nvGraphicFramePr>
        <p:xfrm>
          <a:off x="274320" y="1234440"/>
          <a:ext cx="4389120" cy="2834640"/>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 3"/>
          <p:cNvSpPr/>
          <p:nvPr/>
        </p:nvSpPr>
        <p:spPr>
          <a:xfrm>
            <a:off x="4937760" y="914400"/>
            <a:ext cx="3840480" cy="274320"/>
          </a:xfrm>
          <a:prstGeom prst="rect">
            <a:avLst/>
          </a:prstGeom>
          <a:noFill/>
        </p:spPr>
        <p:txBody>
          <a:bodyPr wrap="square" rtlCol="0" anchor="ctr"/>
          <a:lstStyle/>
          <a:p>
            <a:pPr marL="0" indent="0">
              <a:buNone/>
            </a:pPr>
            <a:r>
              <a:rPr lang="en-US" sz="1300" b="1" dirty="0">
                <a:solidFill>
                  <a:srgbClr val="0D1B2A"/>
                </a:solidFill>
              </a:rPr>
              <a:t>Gender Split</a:t>
            </a:r>
            <a:endParaRPr lang="en-US" sz="1300" dirty="0"/>
          </a:p>
        </p:txBody>
      </p:sp>
      <p:sp>
        <p:nvSpPr>
          <p:cNvPr id="7" name="Shape 4"/>
          <p:cNvSpPr/>
          <p:nvPr/>
        </p:nvSpPr>
        <p:spPr>
          <a:xfrm>
            <a:off x="4937760" y="1234440"/>
            <a:ext cx="3840480" cy="1005840"/>
          </a:xfrm>
          <a:prstGeom prst="rect">
            <a:avLst/>
          </a:prstGeom>
          <a:solidFill>
            <a:srgbClr val="1A7FAD"/>
          </a:solidFill>
          <a:ln w="12700">
            <a:solidFill>
              <a:srgbClr val="1A7FAD"/>
            </a:solidFill>
            <a:prstDash val="solid"/>
          </a:ln>
        </p:spPr>
      </p:sp>
      <p:sp>
        <p:nvSpPr>
          <p:cNvPr id="8" name="Text 5"/>
          <p:cNvSpPr/>
          <p:nvPr/>
        </p:nvSpPr>
        <p:spPr>
          <a:xfrm>
            <a:off x="4937760" y="1234440"/>
            <a:ext cx="2286000" cy="685800"/>
          </a:xfrm>
          <a:prstGeom prst="rect">
            <a:avLst/>
          </a:prstGeom>
          <a:noFill/>
        </p:spPr>
        <p:txBody>
          <a:bodyPr wrap="square" rtlCol="0" anchor="ctr"/>
          <a:lstStyle/>
          <a:p>
            <a:pPr marL="0" indent="0" algn="ctr">
              <a:buNone/>
            </a:pPr>
            <a:r>
              <a:rPr lang="en-US" sz="3600" b="1" dirty="0">
                <a:solidFill>
                  <a:srgbClr val="FFFFFF"/>
                </a:solidFill>
              </a:rPr>
              <a:t>86.6%</a:t>
            </a:r>
            <a:endParaRPr lang="en-US" sz="3600" dirty="0"/>
          </a:p>
        </p:txBody>
      </p:sp>
      <p:sp>
        <p:nvSpPr>
          <p:cNvPr id="9" name="Text 6"/>
          <p:cNvSpPr/>
          <p:nvPr/>
        </p:nvSpPr>
        <p:spPr>
          <a:xfrm>
            <a:off x="4937760" y="1874520"/>
            <a:ext cx="2286000" cy="292608"/>
          </a:xfrm>
          <a:prstGeom prst="rect">
            <a:avLst/>
          </a:prstGeom>
          <a:noFill/>
        </p:spPr>
        <p:txBody>
          <a:bodyPr wrap="square" rtlCol="0" anchor="ctr"/>
          <a:lstStyle/>
          <a:p>
            <a:pPr marL="0" indent="0" algn="ctr">
              <a:buNone/>
            </a:pPr>
            <a:r>
              <a:rPr lang="en-US" sz="1300" b="1" dirty="0">
                <a:solidFill>
                  <a:srgbClr val="FFFFFF"/>
                </a:solidFill>
              </a:rPr>
              <a:t>FEMALE</a:t>
            </a:r>
            <a:endParaRPr lang="en-US" sz="1300" dirty="0"/>
          </a:p>
        </p:txBody>
      </p:sp>
      <p:sp>
        <p:nvSpPr>
          <p:cNvPr id="10" name="Text 7"/>
          <p:cNvSpPr/>
          <p:nvPr/>
        </p:nvSpPr>
        <p:spPr>
          <a:xfrm>
            <a:off x="7223760" y="1463040"/>
            <a:ext cx="1554480" cy="502920"/>
          </a:xfrm>
          <a:prstGeom prst="rect">
            <a:avLst/>
          </a:prstGeom>
          <a:noFill/>
        </p:spPr>
        <p:txBody>
          <a:bodyPr wrap="square" rtlCol="0" anchor="ctr"/>
          <a:lstStyle/>
          <a:p>
            <a:pPr marL="0" indent="0" algn="ctr">
              <a:buNone/>
            </a:pPr>
            <a:r>
              <a:rPr lang="en-US" sz="1100" dirty="0">
                <a:solidFill>
                  <a:srgbClr val="FFFFFF"/>
                </a:solidFill>
              </a:rPr>
              <a:t>71 respondents</a:t>
            </a:r>
            <a:endParaRPr lang="en-US" sz="1100" dirty="0"/>
          </a:p>
        </p:txBody>
      </p:sp>
      <p:sp>
        <p:nvSpPr>
          <p:cNvPr id="11" name="Shape 8"/>
          <p:cNvSpPr/>
          <p:nvPr/>
        </p:nvSpPr>
        <p:spPr>
          <a:xfrm>
            <a:off x="4937760" y="2331720"/>
            <a:ext cx="3840480" cy="1005840"/>
          </a:xfrm>
          <a:prstGeom prst="rect">
            <a:avLst/>
          </a:prstGeom>
          <a:solidFill>
            <a:srgbClr val="1B2A4A"/>
          </a:solidFill>
          <a:ln w="12700">
            <a:solidFill>
              <a:srgbClr val="1B2A4A"/>
            </a:solidFill>
            <a:prstDash val="solid"/>
          </a:ln>
        </p:spPr>
      </p:sp>
      <p:sp>
        <p:nvSpPr>
          <p:cNvPr id="12" name="Text 9"/>
          <p:cNvSpPr/>
          <p:nvPr/>
        </p:nvSpPr>
        <p:spPr>
          <a:xfrm>
            <a:off x="4937760" y="2331720"/>
            <a:ext cx="2286000" cy="685800"/>
          </a:xfrm>
          <a:prstGeom prst="rect">
            <a:avLst/>
          </a:prstGeom>
          <a:noFill/>
        </p:spPr>
        <p:txBody>
          <a:bodyPr wrap="square" rtlCol="0" anchor="ctr"/>
          <a:lstStyle/>
          <a:p>
            <a:pPr marL="0" indent="0" algn="ctr">
              <a:buNone/>
            </a:pPr>
            <a:r>
              <a:rPr lang="en-US" sz="3600" b="1" dirty="0">
                <a:solidFill>
                  <a:srgbClr val="2EB8E6"/>
                </a:solidFill>
              </a:rPr>
              <a:t>13.4%</a:t>
            </a:r>
            <a:endParaRPr lang="en-US" sz="3600" dirty="0"/>
          </a:p>
        </p:txBody>
      </p:sp>
      <p:sp>
        <p:nvSpPr>
          <p:cNvPr id="13" name="Text 10"/>
          <p:cNvSpPr/>
          <p:nvPr/>
        </p:nvSpPr>
        <p:spPr>
          <a:xfrm>
            <a:off x="4937760" y="2971800"/>
            <a:ext cx="2286000" cy="292608"/>
          </a:xfrm>
          <a:prstGeom prst="rect">
            <a:avLst/>
          </a:prstGeom>
          <a:noFill/>
        </p:spPr>
        <p:txBody>
          <a:bodyPr wrap="square" rtlCol="0" anchor="ctr"/>
          <a:lstStyle/>
          <a:p>
            <a:pPr marL="0" indent="0" algn="ctr">
              <a:buNone/>
            </a:pPr>
            <a:r>
              <a:rPr lang="en-US" sz="1300" b="1" dirty="0">
                <a:solidFill>
                  <a:srgbClr val="FFFFFF"/>
                </a:solidFill>
              </a:rPr>
              <a:t>MALE</a:t>
            </a:r>
            <a:endParaRPr lang="en-US" sz="1300" dirty="0"/>
          </a:p>
        </p:txBody>
      </p:sp>
      <p:sp>
        <p:nvSpPr>
          <p:cNvPr id="14" name="Text 11"/>
          <p:cNvSpPr/>
          <p:nvPr/>
        </p:nvSpPr>
        <p:spPr>
          <a:xfrm>
            <a:off x="7223760" y="2560320"/>
            <a:ext cx="1554480" cy="502920"/>
          </a:xfrm>
          <a:prstGeom prst="rect">
            <a:avLst/>
          </a:prstGeom>
          <a:noFill/>
        </p:spPr>
        <p:txBody>
          <a:bodyPr wrap="square" rtlCol="0" anchor="ctr"/>
          <a:lstStyle/>
          <a:p>
            <a:pPr marL="0" indent="0" algn="ctr">
              <a:buNone/>
            </a:pPr>
            <a:r>
              <a:rPr lang="en-US" sz="1100" dirty="0">
                <a:solidFill>
                  <a:srgbClr val="94A3B8"/>
                </a:solidFill>
              </a:rPr>
              <a:t>11 respondents</a:t>
            </a:r>
            <a:endParaRPr lang="en-US" sz="1100" dirty="0"/>
          </a:p>
        </p:txBody>
      </p:sp>
      <p:sp>
        <p:nvSpPr>
          <p:cNvPr id="15" name="Text 12"/>
          <p:cNvSpPr/>
          <p:nvPr/>
        </p:nvSpPr>
        <p:spPr>
          <a:xfrm>
            <a:off x="4937760" y="3429000"/>
            <a:ext cx="3840480" cy="1005840"/>
          </a:xfrm>
          <a:prstGeom prst="rect">
            <a:avLst/>
          </a:prstGeom>
          <a:noFill/>
        </p:spPr>
        <p:txBody>
          <a:bodyPr wrap="square" rtlCol="0" anchor="ctr"/>
          <a:lstStyle/>
          <a:p>
            <a:pPr marL="0" indent="0">
              <a:buNone/>
            </a:pPr>
            <a:r>
              <a:rPr lang="en-US" sz="1050" dirty="0">
                <a:solidFill>
                  <a:srgbClr val="1E293B"/>
                </a:solidFill>
              </a:rPr>
              <a:t>Women prefer metro for its safety, cleanliness, and affordability — especially students and working women in Nagpur. 92.7% of all commuters are under 30 years old</a:t>
            </a:r>
            <a:r>
              <a:rPr lang="en-US" sz="1050" dirty="0" smtClean="0">
                <a:solidFill>
                  <a:srgbClr val="1E293B"/>
                </a:solidFill>
              </a:rPr>
              <a:t>. It confirms that metro is youth driven system.</a:t>
            </a:r>
            <a:endParaRPr lang="en-US" sz="1050" dirty="0"/>
          </a:p>
        </p:txBody>
      </p:sp>
      <p:sp>
        <p:nvSpPr>
          <p:cNvPr id="16" name="Shape 13"/>
          <p:cNvSpPr/>
          <p:nvPr/>
        </p:nvSpPr>
        <p:spPr>
          <a:xfrm>
            <a:off x="0" y="4800600"/>
            <a:ext cx="9144000" cy="342900"/>
          </a:xfrm>
          <a:prstGeom prst="rect">
            <a:avLst/>
          </a:prstGeom>
          <a:solidFill>
            <a:srgbClr val="1A7FAD"/>
          </a:solidFill>
          <a:ln w="12700">
            <a:solidFill>
              <a:srgbClr val="1A7FAD"/>
            </a:solidFill>
            <a:prstDash val="solid"/>
          </a:ln>
        </p:spPr>
      </p:sp>
      <p:sp>
        <p:nvSpPr>
          <p:cNvPr id="17" name="Text 14"/>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70.7% are aged 15–20  |  86.6% are female  |  Metro appeals strongly to young women.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Q4 &amp; Q5. Travel Frequency &amp; Peak Travel Time</a:t>
            </a:r>
            <a:endParaRPr lang="en-US" sz="2000" dirty="0"/>
          </a:p>
        </p:txBody>
      </p:sp>
      <p:sp>
        <p:nvSpPr>
          <p:cNvPr id="4" name="Text 2"/>
          <p:cNvSpPr/>
          <p:nvPr/>
        </p:nvSpPr>
        <p:spPr>
          <a:xfrm>
            <a:off x="274320" y="896112"/>
            <a:ext cx="4389120" cy="274320"/>
          </a:xfrm>
          <a:prstGeom prst="rect">
            <a:avLst/>
          </a:prstGeom>
          <a:noFill/>
        </p:spPr>
        <p:txBody>
          <a:bodyPr wrap="square" rtlCol="0" anchor="ctr"/>
          <a:lstStyle/>
          <a:p>
            <a:pPr marL="0" indent="0">
              <a:buNone/>
            </a:pPr>
            <a:r>
              <a:rPr lang="en-US" sz="1200" b="1" dirty="0">
                <a:solidFill>
                  <a:srgbClr val="0D1B2A"/>
                </a:solidFill>
              </a:rPr>
              <a:t>How Often Do Commuters Travel?</a:t>
            </a:r>
            <a:endParaRPr lang="en-US" sz="1200" dirty="0"/>
          </a:p>
        </p:txBody>
      </p:sp>
      <p:graphicFrame>
        <p:nvGraphicFramePr>
          <p:cNvPr id="5" name="Chart 0"/>
          <p:cNvGraphicFramePr/>
          <p:nvPr/>
        </p:nvGraphicFramePr>
        <p:xfrm>
          <a:off x="274320" y="1170432"/>
          <a:ext cx="4389120" cy="2834640"/>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 3"/>
          <p:cNvSpPr/>
          <p:nvPr/>
        </p:nvSpPr>
        <p:spPr>
          <a:xfrm>
            <a:off x="4846320" y="896112"/>
            <a:ext cx="4023360" cy="274320"/>
          </a:xfrm>
          <a:prstGeom prst="rect">
            <a:avLst/>
          </a:prstGeom>
          <a:noFill/>
        </p:spPr>
        <p:txBody>
          <a:bodyPr wrap="square" rtlCol="0" anchor="ctr"/>
          <a:lstStyle/>
          <a:p>
            <a:pPr marL="0" indent="0">
              <a:buNone/>
            </a:pPr>
            <a:r>
              <a:rPr lang="en-US" sz="1200" b="1" dirty="0">
                <a:solidFill>
                  <a:srgbClr val="0D1B2A"/>
                </a:solidFill>
              </a:rPr>
              <a:t>When Do They Travel?</a:t>
            </a:r>
            <a:endParaRPr lang="en-US" sz="1200" dirty="0"/>
          </a:p>
        </p:txBody>
      </p:sp>
      <p:graphicFrame>
        <p:nvGraphicFramePr>
          <p:cNvPr id="7" name="Chart 1"/>
          <p:cNvGraphicFramePr/>
          <p:nvPr/>
        </p:nvGraphicFramePr>
        <p:xfrm>
          <a:off x="4846320" y="1170432"/>
          <a:ext cx="4023360" cy="2834640"/>
        </p:xfrm>
        <a:graphic>
          <a:graphicData uri="http://schemas.openxmlformats.org/drawingml/2006/chart">
            <c:chart xmlns:c="http://schemas.openxmlformats.org/drawingml/2006/chart" xmlns:r="http://schemas.openxmlformats.org/officeDocument/2006/relationships" r:id="rId2"/>
          </a:graphicData>
        </a:graphic>
      </p:graphicFrame>
      <p:sp>
        <p:nvSpPr>
          <p:cNvPr id="8" name="Shape 4"/>
          <p:cNvSpPr/>
          <p:nvPr/>
        </p:nvSpPr>
        <p:spPr>
          <a:xfrm>
            <a:off x="0" y="4800600"/>
            <a:ext cx="9144000" cy="342900"/>
          </a:xfrm>
          <a:prstGeom prst="rect">
            <a:avLst/>
          </a:prstGeom>
          <a:solidFill>
            <a:srgbClr val="1A7FAD"/>
          </a:solidFill>
          <a:ln w="12700">
            <a:solidFill>
              <a:srgbClr val="1A7FAD"/>
            </a:solidFill>
            <a:prstDash val="solid"/>
          </a:ln>
        </p:spPr>
      </p:sp>
      <p:sp>
        <p:nvSpPr>
          <p:cNvPr id="9" name="Text 5"/>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52.5% travel at least 2–3x/week  |  Afternoon (51.2%) is the most critical operational slot.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1800" b="1" dirty="0">
                <a:solidFill>
                  <a:srgbClr val="FFFFFF"/>
                </a:solidFill>
              </a:rPr>
              <a:t>Q6. How much delay do commuters face on average?</a:t>
            </a:r>
            <a:endParaRPr lang="en-US" sz="1800" dirty="0"/>
          </a:p>
        </p:txBody>
      </p:sp>
      <p:graphicFrame>
        <p:nvGraphicFramePr>
          <p:cNvPr id="4" name="Chart 0"/>
          <p:cNvGraphicFramePr/>
          <p:nvPr/>
        </p:nvGraphicFramePr>
        <p:xfrm>
          <a:off x="274320" y="914400"/>
          <a:ext cx="5029200" cy="338328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5577840" y="914400"/>
            <a:ext cx="3291840" cy="960120"/>
          </a:xfrm>
          <a:prstGeom prst="rect">
            <a:avLst/>
          </a:prstGeom>
          <a:solidFill>
            <a:srgbClr val="C0392B"/>
          </a:solidFill>
          <a:ln w="12700">
            <a:solidFill>
              <a:srgbClr val="C0392B"/>
            </a:solidFill>
            <a:prstDash val="solid"/>
          </a:ln>
        </p:spPr>
      </p:sp>
      <p:sp>
        <p:nvSpPr>
          <p:cNvPr id="6" name="Text 3"/>
          <p:cNvSpPr/>
          <p:nvPr/>
        </p:nvSpPr>
        <p:spPr>
          <a:xfrm>
            <a:off x="5577840" y="932688"/>
            <a:ext cx="3291840" cy="566928"/>
          </a:xfrm>
          <a:prstGeom prst="rect">
            <a:avLst/>
          </a:prstGeom>
          <a:noFill/>
        </p:spPr>
        <p:txBody>
          <a:bodyPr wrap="square" rtlCol="0" anchor="ctr"/>
          <a:lstStyle/>
          <a:p>
            <a:pPr marL="0" indent="0" algn="ctr">
              <a:buNone/>
            </a:pPr>
            <a:r>
              <a:rPr lang="en-US" sz="4000" b="1" dirty="0">
                <a:solidFill>
                  <a:srgbClr val="FFFFFF"/>
                </a:solidFill>
              </a:rPr>
              <a:t>73.2%</a:t>
            </a:r>
            <a:endParaRPr lang="en-US" sz="4000" dirty="0"/>
          </a:p>
        </p:txBody>
      </p:sp>
      <p:sp>
        <p:nvSpPr>
          <p:cNvPr id="7" name="Text 4"/>
          <p:cNvSpPr/>
          <p:nvPr/>
        </p:nvSpPr>
        <p:spPr>
          <a:xfrm>
            <a:off x="5577840" y="1463040"/>
            <a:ext cx="3291840" cy="292608"/>
          </a:xfrm>
          <a:prstGeom prst="rect">
            <a:avLst/>
          </a:prstGeom>
          <a:noFill/>
        </p:spPr>
        <p:txBody>
          <a:bodyPr wrap="square" rtlCol="0" anchor="ctr"/>
          <a:lstStyle/>
          <a:p>
            <a:pPr marL="0" indent="0" algn="ctr">
              <a:buNone/>
            </a:pPr>
            <a:r>
              <a:rPr lang="en-US" sz="1200" b="1" dirty="0">
                <a:solidFill>
                  <a:srgbClr val="FFFFFF"/>
                </a:solidFill>
              </a:rPr>
              <a:t>face SOME delay</a:t>
            </a:r>
            <a:endParaRPr lang="en-US" sz="1200" dirty="0"/>
          </a:p>
        </p:txBody>
      </p:sp>
      <p:sp>
        <p:nvSpPr>
          <p:cNvPr id="8" name="Shape 5"/>
          <p:cNvSpPr/>
          <p:nvPr/>
        </p:nvSpPr>
        <p:spPr>
          <a:xfrm>
            <a:off x="5577840" y="1965960"/>
            <a:ext cx="3291840" cy="960120"/>
          </a:xfrm>
          <a:prstGeom prst="rect">
            <a:avLst/>
          </a:prstGeom>
          <a:solidFill>
            <a:srgbClr val="1A7FAD"/>
          </a:solidFill>
          <a:ln w="12700">
            <a:solidFill>
              <a:srgbClr val="1A7FAD"/>
            </a:solidFill>
            <a:prstDash val="solid"/>
          </a:ln>
        </p:spPr>
      </p:sp>
      <p:sp>
        <p:nvSpPr>
          <p:cNvPr id="9" name="Text 6"/>
          <p:cNvSpPr/>
          <p:nvPr/>
        </p:nvSpPr>
        <p:spPr>
          <a:xfrm>
            <a:off x="5577840" y="1984248"/>
            <a:ext cx="3291840" cy="566928"/>
          </a:xfrm>
          <a:prstGeom prst="rect">
            <a:avLst/>
          </a:prstGeom>
          <a:noFill/>
        </p:spPr>
        <p:txBody>
          <a:bodyPr wrap="square" rtlCol="0" anchor="ctr"/>
          <a:lstStyle/>
          <a:p>
            <a:pPr marL="0" indent="0" algn="ctr">
              <a:buNone/>
            </a:pPr>
            <a:r>
              <a:rPr lang="en-US" sz="4000" b="1" dirty="0">
                <a:solidFill>
                  <a:srgbClr val="FFFFFF"/>
                </a:solidFill>
              </a:rPr>
              <a:t>46.3%</a:t>
            </a:r>
            <a:endParaRPr lang="en-US" sz="4000" dirty="0"/>
          </a:p>
        </p:txBody>
      </p:sp>
      <p:sp>
        <p:nvSpPr>
          <p:cNvPr id="10" name="Text 7"/>
          <p:cNvSpPr/>
          <p:nvPr/>
        </p:nvSpPr>
        <p:spPr>
          <a:xfrm>
            <a:off x="5577840" y="2514600"/>
            <a:ext cx="3291840" cy="292608"/>
          </a:xfrm>
          <a:prstGeom prst="rect">
            <a:avLst/>
          </a:prstGeom>
          <a:noFill/>
        </p:spPr>
        <p:txBody>
          <a:bodyPr wrap="square" rtlCol="0" anchor="ctr"/>
          <a:lstStyle/>
          <a:p>
            <a:pPr marL="0" indent="0" algn="ctr">
              <a:buNone/>
            </a:pPr>
            <a:r>
              <a:rPr lang="en-US" sz="1200" b="1" dirty="0">
                <a:solidFill>
                  <a:srgbClr val="FFFFFF"/>
                </a:solidFill>
              </a:rPr>
              <a:t>minor 1–5 min delay</a:t>
            </a:r>
            <a:endParaRPr lang="en-US" sz="1200" dirty="0"/>
          </a:p>
        </p:txBody>
      </p:sp>
      <p:sp>
        <p:nvSpPr>
          <p:cNvPr id="11" name="Shape 8"/>
          <p:cNvSpPr/>
          <p:nvPr/>
        </p:nvSpPr>
        <p:spPr>
          <a:xfrm>
            <a:off x="5577840" y="3017520"/>
            <a:ext cx="3291840" cy="960120"/>
          </a:xfrm>
          <a:prstGeom prst="rect">
            <a:avLst/>
          </a:prstGeom>
          <a:solidFill>
            <a:srgbClr val="E8873A"/>
          </a:solidFill>
          <a:ln w="12700">
            <a:solidFill>
              <a:srgbClr val="E8873A"/>
            </a:solidFill>
            <a:prstDash val="solid"/>
          </a:ln>
        </p:spPr>
      </p:sp>
      <p:sp>
        <p:nvSpPr>
          <p:cNvPr id="12" name="Text 9"/>
          <p:cNvSpPr/>
          <p:nvPr/>
        </p:nvSpPr>
        <p:spPr>
          <a:xfrm>
            <a:off x="5577840" y="3035808"/>
            <a:ext cx="3291840" cy="566928"/>
          </a:xfrm>
          <a:prstGeom prst="rect">
            <a:avLst/>
          </a:prstGeom>
          <a:noFill/>
        </p:spPr>
        <p:txBody>
          <a:bodyPr wrap="square" rtlCol="0" anchor="ctr"/>
          <a:lstStyle/>
          <a:p>
            <a:pPr marL="0" indent="0" algn="ctr">
              <a:buNone/>
            </a:pPr>
            <a:r>
              <a:rPr lang="en-US" sz="4000" b="1" dirty="0">
                <a:solidFill>
                  <a:srgbClr val="FFFFFF"/>
                </a:solidFill>
              </a:rPr>
              <a:t>26.8%</a:t>
            </a:r>
            <a:endParaRPr lang="en-US" sz="4000" dirty="0"/>
          </a:p>
        </p:txBody>
      </p:sp>
      <p:sp>
        <p:nvSpPr>
          <p:cNvPr id="13" name="Text 10"/>
          <p:cNvSpPr/>
          <p:nvPr/>
        </p:nvSpPr>
        <p:spPr>
          <a:xfrm>
            <a:off x="5577840" y="3566160"/>
            <a:ext cx="3291840" cy="292608"/>
          </a:xfrm>
          <a:prstGeom prst="rect">
            <a:avLst/>
          </a:prstGeom>
          <a:noFill/>
        </p:spPr>
        <p:txBody>
          <a:bodyPr wrap="square" rtlCol="0" anchor="ctr"/>
          <a:lstStyle/>
          <a:p>
            <a:pPr marL="0" indent="0" algn="ctr">
              <a:buNone/>
            </a:pPr>
            <a:r>
              <a:rPr lang="en-US" sz="1200" b="1" dirty="0">
                <a:solidFill>
                  <a:srgbClr val="FFFFFF"/>
                </a:solidFill>
              </a:rPr>
              <a:t>delay of 6+ minutes</a:t>
            </a:r>
            <a:endParaRPr lang="en-US" sz="1200" dirty="0"/>
          </a:p>
        </p:txBody>
      </p:sp>
      <p:sp>
        <p:nvSpPr>
          <p:cNvPr id="14" name="Shape 11"/>
          <p:cNvSpPr/>
          <p:nvPr/>
        </p:nvSpPr>
        <p:spPr>
          <a:xfrm>
            <a:off x="0" y="4800600"/>
            <a:ext cx="9144000" cy="342900"/>
          </a:xfrm>
          <a:prstGeom prst="rect">
            <a:avLst/>
          </a:prstGeom>
          <a:solidFill>
            <a:srgbClr val="1A7FAD"/>
          </a:solidFill>
          <a:ln w="12700">
            <a:solidFill>
              <a:srgbClr val="1A7FAD"/>
            </a:solidFill>
            <a:prstDash val="solid"/>
          </a:ln>
        </p:spPr>
      </p:sp>
      <p:sp>
        <p:nvSpPr>
          <p:cNvPr id="15" name="Text 12"/>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6+ minute delays disrupt academic and work schedules — primarily affects student commuters.</a:t>
            </a:r>
            <a:endParaRPr lang="en-US" sz="1000" dirty="0"/>
          </a:p>
        </p:txBody>
      </p:sp>
      <p:graphicFrame>
        <p:nvGraphicFramePr>
          <p:cNvPr id="16" name="Chart 15"/>
          <p:cNvGraphicFramePr/>
          <p:nvPr/>
        </p:nvGraphicFramePr>
        <p:xfrm>
          <a:off x="457200" y="960120"/>
          <a:ext cx="4347029" cy="3163824"/>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Q7. Rate Metro Punctuality (Scale: 1 to 5)</a:t>
            </a:r>
            <a:endParaRPr lang="en-US" sz="2000" dirty="0"/>
          </a:p>
        </p:txBody>
      </p:sp>
      <p:sp>
        <p:nvSpPr>
          <p:cNvPr id="5" name="Shape 2"/>
          <p:cNvSpPr/>
          <p:nvPr/>
        </p:nvSpPr>
        <p:spPr>
          <a:xfrm>
            <a:off x="5669280" y="960120"/>
            <a:ext cx="3108960" cy="822960"/>
          </a:xfrm>
          <a:prstGeom prst="rect">
            <a:avLst/>
          </a:prstGeom>
          <a:solidFill>
            <a:srgbClr val="1B2A4A"/>
          </a:solidFill>
          <a:ln w="12700">
            <a:solidFill>
              <a:srgbClr val="1B2A4A"/>
            </a:solidFill>
            <a:prstDash val="solid"/>
          </a:ln>
        </p:spPr>
      </p:sp>
      <p:sp>
        <p:nvSpPr>
          <p:cNvPr id="6" name="Text 3"/>
          <p:cNvSpPr/>
          <p:nvPr/>
        </p:nvSpPr>
        <p:spPr>
          <a:xfrm>
            <a:off x="5669280" y="987552"/>
            <a:ext cx="1280160" cy="749808"/>
          </a:xfrm>
          <a:prstGeom prst="rect">
            <a:avLst/>
          </a:prstGeom>
          <a:noFill/>
        </p:spPr>
        <p:txBody>
          <a:bodyPr wrap="square" lIns="0" tIns="0" rIns="0" bIns="0" rtlCol="0" anchor="ctr"/>
          <a:lstStyle/>
          <a:p>
            <a:pPr marL="0" indent="0" algn="ctr">
              <a:buNone/>
            </a:pPr>
            <a:r>
              <a:rPr lang="en-US" sz="2800" b="1" dirty="0">
                <a:solidFill>
                  <a:srgbClr val="2EB8E6"/>
                </a:solidFill>
              </a:rPr>
              <a:t>3.83</a:t>
            </a:r>
            <a:endParaRPr lang="en-US" sz="2800" dirty="0"/>
          </a:p>
        </p:txBody>
      </p:sp>
      <p:sp>
        <p:nvSpPr>
          <p:cNvPr id="7" name="Text 4"/>
          <p:cNvSpPr/>
          <p:nvPr/>
        </p:nvSpPr>
        <p:spPr>
          <a:xfrm>
            <a:off x="6949440" y="1124712"/>
            <a:ext cx="1737360" cy="502920"/>
          </a:xfrm>
          <a:prstGeom prst="rect">
            <a:avLst/>
          </a:prstGeom>
          <a:noFill/>
        </p:spPr>
        <p:txBody>
          <a:bodyPr wrap="square" rtlCol="0" anchor="ctr"/>
          <a:lstStyle/>
          <a:p>
            <a:pPr marL="0" indent="0" algn="l">
              <a:buNone/>
            </a:pPr>
            <a:r>
              <a:rPr lang="en-US" sz="1100" dirty="0">
                <a:solidFill>
                  <a:srgbClr val="FFFFFF"/>
                </a:solidFill>
              </a:rPr>
              <a:t>Mean Score</a:t>
            </a:r>
            <a:endParaRPr lang="en-US" sz="1100" dirty="0"/>
          </a:p>
          <a:p>
            <a:pPr marL="0" indent="0" algn="l">
              <a:buNone/>
            </a:pPr>
            <a:r>
              <a:rPr lang="en-US" sz="1100" dirty="0">
                <a:solidFill>
                  <a:srgbClr val="FFFFFF"/>
                </a:solidFill>
              </a:rPr>
              <a:t>out of 5</a:t>
            </a:r>
            <a:endParaRPr lang="en-US" sz="1100" dirty="0"/>
          </a:p>
        </p:txBody>
      </p:sp>
      <p:sp>
        <p:nvSpPr>
          <p:cNvPr id="8" name="Shape 5"/>
          <p:cNvSpPr/>
          <p:nvPr/>
        </p:nvSpPr>
        <p:spPr>
          <a:xfrm>
            <a:off x="5669280" y="1965960"/>
            <a:ext cx="3108960" cy="822960"/>
          </a:xfrm>
          <a:prstGeom prst="rect">
            <a:avLst/>
          </a:prstGeom>
          <a:solidFill>
            <a:srgbClr val="1B2A4A"/>
          </a:solidFill>
          <a:ln w="12700">
            <a:solidFill>
              <a:srgbClr val="1B2A4A"/>
            </a:solidFill>
            <a:prstDash val="solid"/>
          </a:ln>
        </p:spPr>
      </p:sp>
      <p:sp>
        <p:nvSpPr>
          <p:cNvPr id="9" name="Text 6"/>
          <p:cNvSpPr/>
          <p:nvPr/>
        </p:nvSpPr>
        <p:spPr>
          <a:xfrm>
            <a:off x="5669280" y="1993392"/>
            <a:ext cx="1280160" cy="749808"/>
          </a:xfrm>
          <a:prstGeom prst="rect">
            <a:avLst/>
          </a:prstGeom>
          <a:noFill/>
        </p:spPr>
        <p:txBody>
          <a:bodyPr wrap="square" lIns="0" tIns="0" rIns="0" bIns="0" rtlCol="0" anchor="ctr"/>
          <a:lstStyle/>
          <a:p>
            <a:pPr marL="0" indent="0" algn="ctr">
              <a:buNone/>
            </a:pPr>
            <a:r>
              <a:rPr lang="en-US" sz="2800" b="1" dirty="0">
                <a:solidFill>
                  <a:srgbClr val="2EB8E6"/>
                </a:solidFill>
              </a:rPr>
              <a:t>1.12</a:t>
            </a:r>
            <a:endParaRPr lang="en-US" sz="2800" dirty="0"/>
          </a:p>
        </p:txBody>
      </p:sp>
      <p:sp>
        <p:nvSpPr>
          <p:cNvPr id="10" name="Text 7"/>
          <p:cNvSpPr/>
          <p:nvPr/>
        </p:nvSpPr>
        <p:spPr>
          <a:xfrm>
            <a:off x="6949440" y="2130552"/>
            <a:ext cx="1737360" cy="502920"/>
          </a:xfrm>
          <a:prstGeom prst="rect">
            <a:avLst/>
          </a:prstGeom>
          <a:noFill/>
        </p:spPr>
        <p:txBody>
          <a:bodyPr wrap="square" rtlCol="0" anchor="ctr"/>
          <a:lstStyle/>
          <a:p>
            <a:pPr marL="0" indent="0" algn="l">
              <a:buNone/>
            </a:pPr>
            <a:r>
              <a:rPr lang="en-US" sz="1100" dirty="0">
                <a:solidFill>
                  <a:srgbClr val="FFFFFF"/>
                </a:solidFill>
              </a:rPr>
              <a:t>Variance</a:t>
            </a:r>
            <a:endParaRPr lang="en-US" sz="1100" dirty="0"/>
          </a:p>
          <a:p>
            <a:pPr marL="0" indent="0" algn="l">
              <a:buNone/>
            </a:pPr>
            <a:r>
              <a:rPr lang="en-US" sz="1100" dirty="0">
                <a:solidFill>
                  <a:srgbClr val="FFFFFF"/>
                </a:solidFill>
              </a:rPr>
              <a:t>(σ²)</a:t>
            </a:r>
            <a:endParaRPr lang="en-US" sz="1100" dirty="0"/>
          </a:p>
        </p:txBody>
      </p:sp>
      <p:sp>
        <p:nvSpPr>
          <p:cNvPr id="11" name="Shape 8"/>
          <p:cNvSpPr/>
          <p:nvPr/>
        </p:nvSpPr>
        <p:spPr>
          <a:xfrm>
            <a:off x="5669280" y="2971800"/>
            <a:ext cx="3108960" cy="822960"/>
          </a:xfrm>
          <a:prstGeom prst="rect">
            <a:avLst/>
          </a:prstGeom>
          <a:solidFill>
            <a:srgbClr val="1A7FAD"/>
          </a:solidFill>
          <a:ln w="12700">
            <a:solidFill>
              <a:srgbClr val="1A7FAD"/>
            </a:solidFill>
            <a:prstDash val="solid"/>
          </a:ln>
        </p:spPr>
      </p:sp>
      <p:sp>
        <p:nvSpPr>
          <p:cNvPr id="12" name="Text 9"/>
          <p:cNvSpPr/>
          <p:nvPr/>
        </p:nvSpPr>
        <p:spPr>
          <a:xfrm>
            <a:off x="5669280" y="2999232"/>
            <a:ext cx="1280160" cy="749808"/>
          </a:xfrm>
          <a:prstGeom prst="rect">
            <a:avLst/>
          </a:prstGeom>
          <a:noFill/>
        </p:spPr>
        <p:txBody>
          <a:bodyPr wrap="square" lIns="0" tIns="0" rIns="0" bIns="0" rtlCol="0" anchor="ctr"/>
          <a:lstStyle/>
          <a:p>
            <a:pPr marL="0" indent="0" algn="ctr">
              <a:buNone/>
            </a:pPr>
            <a:r>
              <a:rPr lang="en-US" sz="2800" b="1" dirty="0">
                <a:solidFill>
                  <a:srgbClr val="2EB8E6"/>
                </a:solidFill>
              </a:rPr>
              <a:t>1.06</a:t>
            </a:r>
            <a:endParaRPr lang="en-US" sz="2800" dirty="0"/>
          </a:p>
        </p:txBody>
      </p:sp>
      <p:sp>
        <p:nvSpPr>
          <p:cNvPr id="13" name="Text 10"/>
          <p:cNvSpPr/>
          <p:nvPr/>
        </p:nvSpPr>
        <p:spPr>
          <a:xfrm>
            <a:off x="6949440" y="3136392"/>
            <a:ext cx="1737360" cy="502920"/>
          </a:xfrm>
          <a:prstGeom prst="rect">
            <a:avLst/>
          </a:prstGeom>
          <a:noFill/>
        </p:spPr>
        <p:txBody>
          <a:bodyPr wrap="square" rtlCol="0" anchor="ctr"/>
          <a:lstStyle/>
          <a:p>
            <a:pPr marL="0" indent="0" algn="l">
              <a:buNone/>
            </a:pPr>
            <a:r>
              <a:rPr lang="en-US" sz="1100" dirty="0">
                <a:solidFill>
                  <a:srgbClr val="FFFFFF"/>
                </a:solidFill>
              </a:rPr>
              <a:t>Std. Dev.</a:t>
            </a:r>
            <a:endParaRPr lang="en-US" sz="1100" dirty="0"/>
          </a:p>
          <a:p>
            <a:pPr marL="0" indent="0" algn="l">
              <a:buNone/>
            </a:pPr>
            <a:r>
              <a:rPr lang="en-US" sz="1100" dirty="0">
                <a:solidFill>
                  <a:srgbClr val="FFFFFF"/>
                </a:solidFill>
              </a:rPr>
              <a:t>(σ)</a:t>
            </a:r>
            <a:endParaRPr lang="en-US" sz="1100" dirty="0"/>
          </a:p>
        </p:txBody>
      </p:sp>
      <p:sp>
        <p:nvSpPr>
          <p:cNvPr id="14" name="Shape 11"/>
          <p:cNvSpPr/>
          <p:nvPr/>
        </p:nvSpPr>
        <p:spPr>
          <a:xfrm>
            <a:off x="5669280" y="3977640"/>
            <a:ext cx="3108960" cy="822960"/>
          </a:xfrm>
          <a:prstGeom prst="rect">
            <a:avLst/>
          </a:prstGeom>
          <a:solidFill>
            <a:srgbClr val="1A7FAD"/>
          </a:solidFill>
          <a:ln w="12700">
            <a:solidFill>
              <a:srgbClr val="1A7FAD"/>
            </a:solidFill>
            <a:prstDash val="solid"/>
          </a:ln>
        </p:spPr>
      </p:sp>
      <p:sp>
        <p:nvSpPr>
          <p:cNvPr id="15" name="Text 12"/>
          <p:cNvSpPr/>
          <p:nvPr/>
        </p:nvSpPr>
        <p:spPr>
          <a:xfrm>
            <a:off x="5669280" y="4005072"/>
            <a:ext cx="1280160" cy="749808"/>
          </a:xfrm>
          <a:prstGeom prst="rect">
            <a:avLst/>
          </a:prstGeom>
          <a:noFill/>
        </p:spPr>
        <p:txBody>
          <a:bodyPr wrap="square" lIns="0" tIns="0" rIns="0" bIns="0" rtlCol="0" anchor="ctr"/>
          <a:lstStyle/>
          <a:p>
            <a:pPr marL="0" indent="0" algn="ctr">
              <a:buNone/>
            </a:pPr>
            <a:r>
              <a:rPr lang="en-US" sz="2800" b="1" dirty="0">
                <a:solidFill>
                  <a:srgbClr val="2EB8E6"/>
                </a:solidFill>
              </a:rPr>
              <a:t>67.1%</a:t>
            </a:r>
            <a:endParaRPr lang="en-US" sz="2800" dirty="0"/>
          </a:p>
        </p:txBody>
      </p:sp>
      <p:sp>
        <p:nvSpPr>
          <p:cNvPr id="16" name="Text 13"/>
          <p:cNvSpPr/>
          <p:nvPr/>
        </p:nvSpPr>
        <p:spPr>
          <a:xfrm>
            <a:off x="6949440" y="4142232"/>
            <a:ext cx="1737360" cy="502920"/>
          </a:xfrm>
          <a:prstGeom prst="rect">
            <a:avLst/>
          </a:prstGeom>
          <a:noFill/>
        </p:spPr>
        <p:txBody>
          <a:bodyPr wrap="square" rtlCol="0" anchor="ctr"/>
          <a:lstStyle/>
          <a:p>
            <a:pPr marL="0" indent="0" algn="l">
              <a:buNone/>
            </a:pPr>
            <a:r>
              <a:rPr lang="en-US" sz="1100" dirty="0">
                <a:solidFill>
                  <a:srgbClr val="FFFFFF"/>
                </a:solidFill>
              </a:rPr>
              <a:t>Rated</a:t>
            </a:r>
            <a:endParaRPr lang="en-US" sz="1100" dirty="0"/>
          </a:p>
          <a:p>
            <a:pPr marL="0" indent="0" algn="l">
              <a:buNone/>
            </a:pPr>
            <a:r>
              <a:rPr lang="en-US" sz="1100" dirty="0">
                <a:solidFill>
                  <a:srgbClr val="FFFFFF"/>
                </a:solidFill>
              </a:rPr>
              <a:t>Good/Excellent</a:t>
            </a:r>
            <a:endParaRPr lang="en-US" sz="1100" dirty="0"/>
          </a:p>
        </p:txBody>
      </p:sp>
      <p:sp>
        <p:nvSpPr>
          <p:cNvPr id="17" name="Shape 14"/>
          <p:cNvSpPr/>
          <p:nvPr/>
        </p:nvSpPr>
        <p:spPr>
          <a:xfrm>
            <a:off x="0" y="4800600"/>
            <a:ext cx="9144000" cy="342900"/>
          </a:xfrm>
          <a:prstGeom prst="rect">
            <a:avLst/>
          </a:prstGeom>
          <a:solidFill>
            <a:srgbClr val="1A7FAD"/>
          </a:solidFill>
          <a:ln w="12700">
            <a:solidFill>
              <a:srgbClr val="1A7FAD"/>
            </a:solidFill>
            <a:prstDash val="solid"/>
          </a:ln>
        </p:spPr>
      </p:sp>
      <p:sp>
        <p:nvSpPr>
          <p:cNvPr id="18" name="Text 15"/>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67.1% rated Good or Excellent  |  Mean: 3.83/5  |  Most commuters tolerate minor delays and still rate positively.</a:t>
            </a:r>
            <a:endParaRPr lang="en-US" sz="1000" dirty="0"/>
          </a:p>
        </p:txBody>
      </p:sp>
      <p:sp>
        <p:nvSpPr>
          <p:cNvPr id="19" name="Title 18"/>
          <p:cNvSpPr>
            <a:spLocks noGrp="1"/>
          </p:cNvSpPr>
          <p:nvPr>
            <p:ph type="title"/>
          </p:nvPr>
        </p:nvSpPr>
        <p:spPr>
          <a:xfrm>
            <a:off x="513159" y="3365499"/>
            <a:ext cx="4849870" cy="1130300"/>
          </a:xfrm>
        </p:spPr>
        <p:txBody>
          <a:bodyPr/>
          <a:lstStyle/>
          <a:p>
            <a:endParaRPr lang="en-US" dirty="0"/>
          </a:p>
        </p:txBody>
      </p:sp>
      <p:graphicFrame>
        <p:nvGraphicFramePr>
          <p:cNvPr id="21" name="Content Placeholder 20"/>
          <p:cNvGraphicFramePr>
            <a:graphicFrameLocks noGrp="1"/>
          </p:cNvGraphicFramePr>
          <p:nvPr>
            <p:ph idx="1"/>
          </p:nvPr>
        </p:nvGraphicFramePr>
        <p:xfrm>
          <a:off x="512763" y="868680"/>
          <a:ext cx="4967059" cy="235712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000" b="1" dirty="0">
                <a:solidFill>
                  <a:srgbClr val="FFFFFF"/>
                </a:solidFill>
              </a:rPr>
              <a:t>Q8 &amp; Q9. Staff Behaviour &amp; Overall Satisfaction</a:t>
            </a:r>
            <a:endParaRPr lang="en-US" sz="2000" dirty="0"/>
          </a:p>
        </p:txBody>
      </p:sp>
      <p:sp>
        <p:nvSpPr>
          <p:cNvPr id="4" name="Text 2"/>
          <p:cNvSpPr/>
          <p:nvPr/>
        </p:nvSpPr>
        <p:spPr>
          <a:xfrm>
            <a:off x="274320" y="896112"/>
            <a:ext cx="4206240" cy="274320"/>
          </a:xfrm>
          <a:prstGeom prst="rect">
            <a:avLst/>
          </a:prstGeom>
          <a:noFill/>
        </p:spPr>
        <p:txBody>
          <a:bodyPr wrap="square" rtlCol="0" anchor="ctr"/>
          <a:lstStyle/>
          <a:p>
            <a:pPr marL="0" indent="0">
              <a:buNone/>
            </a:pPr>
            <a:r>
              <a:rPr lang="en-US" sz="1200" b="1" dirty="0">
                <a:solidFill>
                  <a:srgbClr val="0D1B2A"/>
                </a:solidFill>
              </a:rPr>
              <a:t>Staff Helpfulness Rating</a:t>
            </a:r>
            <a:endParaRPr lang="en-US" sz="1200" dirty="0"/>
          </a:p>
        </p:txBody>
      </p:sp>
      <p:graphicFrame>
        <p:nvGraphicFramePr>
          <p:cNvPr id="5" name="Chart 0"/>
          <p:cNvGraphicFramePr/>
          <p:nvPr/>
        </p:nvGraphicFramePr>
        <p:xfrm>
          <a:off x="274320" y="1170432"/>
          <a:ext cx="4206240" cy="2834640"/>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 3"/>
          <p:cNvSpPr/>
          <p:nvPr/>
        </p:nvSpPr>
        <p:spPr>
          <a:xfrm>
            <a:off x="4754880" y="896112"/>
            <a:ext cx="4114800" cy="274320"/>
          </a:xfrm>
          <a:prstGeom prst="rect">
            <a:avLst/>
          </a:prstGeom>
          <a:noFill/>
        </p:spPr>
        <p:txBody>
          <a:bodyPr wrap="square" rtlCol="0" anchor="ctr"/>
          <a:lstStyle/>
          <a:p>
            <a:pPr marL="0" indent="0">
              <a:buNone/>
            </a:pPr>
            <a:r>
              <a:rPr lang="en-US" sz="1200" b="1" dirty="0">
                <a:solidFill>
                  <a:srgbClr val="0D1B2A"/>
                </a:solidFill>
              </a:rPr>
              <a:t>Overall Satisfaction</a:t>
            </a:r>
            <a:endParaRPr lang="en-US" sz="1200" dirty="0"/>
          </a:p>
        </p:txBody>
      </p:sp>
      <p:graphicFrame>
        <p:nvGraphicFramePr>
          <p:cNvPr id="7" name="Chart 1"/>
          <p:cNvGraphicFramePr/>
          <p:nvPr/>
        </p:nvGraphicFramePr>
        <p:xfrm>
          <a:off x="4754880" y="1170432"/>
          <a:ext cx="4114800" cy="2834640"/>
        </p:xfrm>
        <a:graphic>
          <a:graphicData uri="http://schemas.openxmlformats.org/drawingml/2006/chart">
            <c:chart xmlns:c="http://schemas.openxmlformats.org/drawingml/2006/chart" xmlns:r="http://schemas.openxmlformats.org/officeDocument/2006/relationships" r:id="rId2"/>
          </a:graphicData>
        </a:graphic>
      </p:graphicFrame>
      <p:sp>
        <p:nvSpPr>
          <p:cNvPr id="8" name="Shape 4"/>
          <p:cNvSpPr/>
          <p:nvPr/>
        </p:nvSpPr>
        <p:spPr>
          <a:xfrm>
            <a:off x="0" y="4800600"/>
            <a:ext cx="9144000" cy="342900"/>
          </a:xfrm>
          <a:prstGeom prst="rect">
            <a:avLst/>
          </a:prstGeom>
          <a:solidFill>
            <a:srgbClr val="1A7FAD"/>
          </a:solidFill>
          <a:ln w="12700">
            <a:solidFill>
              <a:srgbClr val="1A7FAD"/>
            </a:solidFill>
            <a:prstDash val="solid"/>
          </a:ln>
        </p:spPr>
      </p:sp>
      <p:sp>
        <p:nvSpPr>
          <p:cNvPr id="9" name="Text 5"/>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85.4% rated staff Good/Excellent  |  Weighted satisfaction: 4.09/5  |  82.9% are Satisfied or Very Satisfied.</a:t>
            </a:r>
            <a:endParaRPr lang="en-US" sz="1000" dirty="0"/>
          </a:p>
        </p:txBody>
      </p:sp>
      <p:graphicFrame>
        <p:nvGraphicFramePr>
          <p:cNvPr id="10" name="Chart 9"/>
          <p:cNvGraphicFramePr/>
          <p:nvPr/>
        </p:nvGraphicFramePr>
        <p:xfrm>
          <a:off x="365760" y="1200150"/>
          <a:ext cx="4184469"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822960"/>
          </a:xfrm>
          <a:prstGeom prst="rect">
            <a:avLst/>
          </a:prstGeom>
          <a:solidFill>
            <a:srgbClr val="0D1B2A"/>
          </a:solidFill>
        </p:spPr>
      </p:sp>
      <p:sp>
        <p:nvSpPr>
          <p:cNvPr id="3" name="Title"/>
          <p:cNvSpPr/>
          <p:nvPr/>
        </p:nvSpPr>
        <p:spPr>
          <a:xfrm>
            <a:off x="365760" y="137160"/>
            <a:ext cx="8412480" cy="548640"/>
          </a:xfrm>
          <a:prstGeom prst="rect">
            <a:avLst/>
          </a:prstGeom>
          <a:noFill/>
        </p:spPr>
        <p:txBody>
          <a:bodyPr wrap="square" rtlCol="0" anchor="ctr"/>
          <a:lstStyle/>
          <a:p>
            <a:pPr marL="0" indent="0" algn="l">
              <a:buNone/>
            </a:pPr>
            <a:r>
              <a:rPr lang="en-US" sz="1700" b="1" dirty="0">
                <a:solidFill>
                  <a:srgbClr val="FFFFFF"/>
                </a:solidFill>
              </a:rPr>
              <a:t>Chi-Square Test — Gender vs. Purpose of Travel</a:t>
            </a:r>
            <a:endParaRPr lang="en-US" sz="1700" b="1" dirty="0">
              <a:solidFill>
                <a:srgbClr val="FFFFFF"/>
              </a:solidFill>
            </a:endParaRPr>
          </a:p>
        </p:txBody>
      </p:sp>
      <p:sp>
        <p:nvSpPr>
          <p:cNvPr id="10" name="HypBox"/>
          <p:cNvSpPr/>
          <p:nvPr/>
        </p:nvSpPr>
        <p:spPr>
          <a:xfrm>
            <a:off x="304800" y="950000"/>
            <a:ext cx="8534400" cy="600000"/>
          </a:xfrm>
          <a:prstGeom prst="rect">
            <a:avLst/>
          </a:prstGeom>
          <a:solidFill>
            <a:srgbClr val="E8EDF5"/>
          </a:solidFill>
        </p:spPr>
        <p:txBody>
          <a:bodyPr wrap="square" rtlCol="0" anchor="ctr"/>
          <a:lstStyle/>
          <a:p>
            <a:pPr marL="152400" indent="0" algn="l">
              <a:buNone/>
            </a:pPr>
            <a:r>
              <a:rPr lang="en-US" sz="1100" b="1" dirty="0">
                <a:solidFill>
                  <a:srgbClr val="0D1B2A"/>
                </a:solidFill>
              </a:rPr>
              <a:t>H₀ (Null Hypothesis):  </a:t>
            </a:r>
            <a:r>
              <a:rPr lang="en-US" sz="1100" dirty="0">
                <a:solidFill>
                  <a:srgbClr val="333333"/>
                </a:solidFill>
              </a:rPr>
              <a:t>There is no significant association between gender and purpose of metro travel.</a:t>
            </a:r>
            <a:endParaRPr lang="en-US" sz="1100" dirty="0">
              <a:solidFill>
                <a:srgbClr val="333333"/>
              </a:solidFill>
            </a:endParaRPr>
          </a:p>
          <a:p>
            <a:pPr marL="152400" indent="0" algn="l">
              <a:buNone/>
            </a:pPr>
            <a:r>
              <a:rPr lang="en-US" sz="1100" b="1" dirty="0">
                <a:solidFill>
                  <a:srgbClr val="0D1B2A"/>
                </a:solidFill>
              </a:rPr>
              <a:t>H₁ (Alt Hypothesis):  </a:t>
            </a:r>
            <a:r>
              <a:rPr lang="en-US" sz="1100" dirty="0">
                <a:solidFill>
                  <a:srgbClr val="333333"/>
                </a:solidFill>
              </a:rPr>
              <a:t>There is a significant association between gender and purpose of metro travel.</a:t>
            </a:r>
            <a:endParaRPr lang="en-US" sz="1100" dirty="0">
              <a:solidFill>
                <a:srgbClr val="333333"/>
              </a:solidFill>
            </a:endParaRPr>
          </a:p>
        </p:txBody>
      </p:sp>
      <p:sp>
        <p:nvSpPr>
          <p:cNvPr id="11" name="ObsLabel"/>
          <p:cNvSpPr/>
          <p:nvPr/>
        </p:nvSpPr>
        <p:spPr>
          <a:xfrm>
            <a:off x="304800" y="1640000"/>
            <a:ext cx="4100000" cy="350000"/>
          </a:xfrm>
          <a:prstGeom prst="rect">
            <a:avLst/>
          </a:prstGeom>
          <a:solidFill>
            <a:srgbClr val="0D1B2A"/>
          </a:solidFill>
        </p:spPr>
        <p:txBody>
          <a:bodyPr wrap="square" rtlCol="0" anchor="ctr"/>
          <a:lstStyle/>
          <a:p>
            <a:pPr algn="ctr">
              <a:buNone/>
            </a:pPr>
            <a:r>
              <a:rPr lang="en-US" sz="1150" b="1" dirty="0">
                <a:solidFill>
                  <a:srgbClr val="FFFFFF"/>
                </a:solidFill>
              </a:rPr>
              <a:t>Observed Frequency Table (O)</a:t>
            </a:r>
            <a:endParaRPr lang="en-US" sz="1150" b="1" dirty="0">
              <a:solidFill>
                <a:srgbClr val="FFFFFF"/>
              </a:solidFill>
            </a:endParaRPr>
          </a:p>
        </p:txBody>
      </p:sp>
      <p:sp>
        <p:nvSpPr>
          <p:cNvPr id="12" name="ObsTable"/>
          <p:cNvSpPr/>
          <p:nvPr/>
        </p:nvSpPr>
        <p:spPr>
          <a:xfrm>
            <a:off x="304800" y="2010000"/>
            <a:ext cx="4100000" cy="1550000"/>
          </a:xfrm>
          <a:prstGeom prst="rect">
            <a:avLst/>
          </a:prstGeom>
          <a:solidFill>
            <a:srgbClr val="FFFFFF"/>
          </a:solidFill>
        </p:spPr>
        <p:txBody>
          <a:bodyPr wrap="square" rtlCol="0" anchor="t"/>
          <a:lstStyle/>
          <a:p>
            <a:pPr marL="76200" indent="0" algn="l">
              <a:buNone/>
            </a:pPr>
            <a:r>
              <a:rPr lang="en-US" sz="1050" b="1" dirty="0">
                <a:solidFill>
                  <a:srgbClr val="0D1B2A"/>
                </a:solidFill>
              </a:rPr>
              <a:t>Purpose           Female    Male    Total</a:t>
            </a:r>
            <a:endParaRPr lang="en-US" sz="1050" b="1" dirty="0">
              <a:solidFill>
                <a:srgbClr val="0D1B2A"/>
              </a:solidFill>
            </a:endParaRPr>
          </a:p>
          <a:p>
            <a:pPr marL="76200" indent="0" algn="l">
              <a:buNone/>
            </a:pPr>
            <a:r>
              <a:rPr lang="en-US" sz="1050" dirty="0">
                <a:solidFill>
                  <a:srgbClr val="222222"/>
                </a:solidFill>
              </a:rPr>
              <a:t>Education              56          7         63</a:t>
            </a:r>
            <a:endParaRPr lang="en-US" sz="1050" dirty="0">
              <a:solidFill>
                <a:srgbClr val="222222"/>
              </a:solidFill>
            </a:endParaRPr>
          </a:p>
          <a:p>
            <a:pPr marL="76200" indent="0" algn="l">
              <a:buNone/>
            </a:pPr>
            <a:r>
              <a:rPr lang="en-US" sz="1050" dirty="0">
                <a:solidFill>
                  <a:srgbClr val="222222"/>
                </a:solidFill>
              </a:rPr>
              <a:t>Work/Office             5          2           7</a:t>
            </a:r>
            <a:endParaRPr lang="en-US" sz="1050" dirty="0">
              <a:solidFill>
                <a:srgbClr val="222222"/>
              </a:solidFill>
            </a:endParaRPr>
          </a:p>
          <a:p>
            <a:pPr marL="76200" indent="0" algn="l">
              <a:buNone/>
            </a:pPr>
            <a:r>
              <a:rPr lang="en-US" sz="1050" dirty="0">
                <a:solidFill>
                  <a:srgbClr val="222222"/>
                </a:solidFill>
              </a:rPr>
              <a:t>Leisure/Other          10          2         12</a:t>
            </a:r>
            <a:endParaRPr lang="en-US" sz="1050" dirty="0">
              <a:solidFill>
                <a:srgbClr val="222222"/>
              </a:solidFill>
            </a:endParaRPr>
          </a:p>
          <a:p>
            <a:pPr marL="76200" indent="0" algn="l">
              <a:buNone/>
            </a:pPr>
            <a:r>
              <a:rPr lang="en-US" sz="1050" b="1" dirty="0">
                <a:solidFill>
                  <a:srgbClr val="0D1B2A"/>
                </a:solidFill>
              </a:rPr>
              <a:t>Total                    71         11         82</a:t>
            </a:r>
            <a:endParaRPr lang="en-US" sz="1050" b="1" dirty="0">
              <a:solidFill>
                <a:srgbClr val="0D1B2A"/>
              </a:solidFill>
            </a:endParaRPr>
          </a:p>
        </p:txBody>
      </p:sp>
      <p:sp>
        <p:nvSpPr>
          <p:cNvPr id="13" name="Formula"/>
          <p:cNvSpPr/>
          <p:nvPr/>
        </p:nvSpPr>
        <p:spPr>
          <a:xfrm>
            <a:off x="4600000" y="1640000"/>
            <a:ext cx="4240000" cy="1920000"/>
          </a:xfrm>
          <a:prstGeom prst="rect">
            <a:avLst/>
          </a:prstGeom>
          <a:solidFill>
            <a:srgbClr val="1C3557"/>
          </a:solidFill>
        </p:spPr>
        <p:txBody>
          <a:bodyPr wrap="square" rtlCol="0" anchor="ctr"/>
          <a:lstStyle/>
          <a:p>
            <a:pPr algn="ctr">
              <a:buNone/>
            </a:pPr>
            <a:r>
              <a:rPr lang="en-US" sz="1200" b="1" dirty="0">
                <a:solidFill>
                  <a:srgbClr val="F9E795"/>
                </a:solidFill>
              </a:rPr>
              <a:t>Chi-Square Formula</a:t>
            </a:r>
            <a:endParaRPr lang="en-US" sz="1200" b="1" dirty="0">
              <a:solidFill>
                <a:srgbClr val="F9E795"/>
              </a:solidFill>
            </a:endParaRPr>
          </a:p>
          <a:p>
            <a:pPr algn="ctr">
              <a:buNone/>
            </a:pPr>
            <a:r>
              <a:rPr lang="en-US" sz="1400" b="1" dirty="0">
                <a:solidFill>
                  <a:srgbClr val="FFFFFF"/>
                </a:solidFill>
              </a:rPr>
              <a:t>χ² = Σ (O − E)² / E</a:t>
            </a:r>
            <a:endParaRPr lang="en-US" sz="1400" b="1" dirty="0">
              <a:solidFill>
                <a:srgbClr val="FFFFFF"/>
              </a:solidFill>
            </a:endParaRPr>
          </a:p>
          <a:p>
            <a:pPr algn="ctr">
              <a:buNone/>
            </a:pPr>
            <a:r>
              <a:rPr lang="en-US" sz="1050" dirty="0">
                <a:solidFill>
                  <a:srgbClr val="CADCFC"/>
                </a:solidFill>
              </a:rPr>
              <a:t>E = (Row Total × Col Total) / N</a:t>
            </a:r>
            <a:endParaRPr lang="en-US" sz="1050" dirty="0">
              <a:solidFill>
                <a:srgbClr val="CADCFC"/>
              </a:solidFill>
            </a:endParaRPr>
          </a:p>
          <a:p>
            <a:pPr algn="ctr">
              <a:buNone/>
            </a:pPr>
            <a:r>
              <a:rPr lang="en-US" sz="1050" dirty="0">
                <a:solidFill>
                  <a:srgbClr val="CADCFC"/>
                </a:solidFill>
              </a:rPr>
              <a:t>df = (r−1)(c−1) = (3−1)(2−1) = 2</a:t>
            </a:r>
            <a:endParaRPr lang="en-US" sz="1050" dirty="0">
              <a:solidFill>
                <a:srgbClr val="CADCFC"/>
              </a:solidFill>
            </a:endParaRPr>
          </a:p>
          <a:p>
            <a:pPr algn="ctr">
              <a:buNone/>
            </a:pPr>
            <a:r>
              <a:rPr lang="en-US" sz="1050" dirty="0">
                <a:solidFill>
                  <a:srgbClr val="CADCFC"/>
                </a:solidFill>
              </a:rPr>
              <a:t>Critical value (α=0.05, df=2) = 5.991</a:t>
            </a:r>
            <a:endParaRPr lang="en-US" sz="1050" dirty="0">
              <a:solidFill>
                <a:srgbClr val="CADCFC"/>
              </a:solidFill>
            </a:endParaRPr>
          </a:p>
        </p:txBody>
      </p:sp>
      <p:sp>
        <p:nvSpPr>
          <p:cNvPr id="14" name="ResultBox"/>
          <p:cNvSpPr/>
          <p:nvPr/>
        </p:nvSpPr>
        <p:spPr>
          <a:xfrm>
            <a:off x="304800" y="3680000"/>
            <a:ext cx="8534400" cy="440000"/>
          </a:xfrm>
          <a:prstGeom prst="rect">
            <a:avLst/>
          </a:prstGeom>
          <a:solidFill>
            <a:srgbClr val="0D1B2A"/>
          </a:solidFill>
        </p:spPr>
        <p:txBody>
          <a:bodyPr wrap="square" rtlCol="0" anchor="ctr"/>
          <a:lstStyle/>
          <a:p>
            <a:pPr algn="ctr">
              <a:buNone/>
            </a:pPr>
            <a:r>
              <a:rPr lang="en-US" sz="1200" b="1" dirty="0">
                <a:solidFill>
                  <a:srgbClr val="FFFFFF"/>
                </a:solidFill>
              </a:rPr>
              <a:t>Calculated χ² ≈ 1.24  |  df = 2  |  Critical Value = 5.991  (α = 0.05)</a:t>
            </a:r>
            <a:endParaRPr lang="en-US" sz="1200" b="1" dirty="0">
              <a:solidFill>
                <a:srgbClr val="FFFFFF"/>
              </a:solidFill>
            </a:endParaRPr>
          </a:p>
        </p:txBody>
      </p:sp>
      <p:sp>
        <p:nvSpPr>
          <p:cNvPr id="15" name="Conclusion"/>
          <p:cNvSpPr/>
          <p:nvPr/>
        </p:nvSpPr>
        <p:spPr>
          <a:xfrm>
            <a:off x="304800" y="4200000"/>
            <a:ext cx="8534400" cy="600000"/>
          </a:xfrm>
          <a:prstGeom prst="rect">
            <a:avLst/>
          </a:prstGeom>
          <a:solidFill>
            <a:srgbClr val="E8EDF5"/>
          </a:solidFill>
        </p:spPr>
        <p:txBody>
          <a:bodyPr wrap="square" rtlCol="0" anchor="ctr"/>
          <a:lstStyle/>
          <a:p>
            <a:pPr marL="152400" indent="0" algn="l">
              <a:buNone/>
            </a:pPr>
            <a:r>
              <a:rPr lang="en-US" sz="1200" b="1" dirty="0">
                <a:solidFill>
                  <a:srgbClr val="0D1B2A"/>
                </a:solidFill>
              </a:rPr>
              <a:t>Conclusion:  </a:t>
            </a:r>
            <a:r>
              <a:rPr lang="en-US" sz="1200" dirty="0">
                <a:solidFill>
                  <a:srgbClr val="333333"/>
                </a:solidFill>
              </a:rPr>
              <a:t>Since χ² (1.24) &lt; Critical Value (5.991), we </a:t>
            </a:r>
            <a:r>
              <a:rPr lang="en-US" sz="1200" b="1" dirty="0">
                <a:solidFill>
                  <a:srgbClr val="0D1B2A"/>
                </a:solidFill>
              </a:rPr>
              <a:t>fail to reject H₀.</a:t>
            </a:r>
            <a:endParaRPr lang="en-US" sz="1200" b="1" dirty="0">
              <a:solidFill>
                <a:srgbClr val="0D1B2A"/>
              </a:solidFill>
            </a:endParaRPr>
          </a:p>
          <a:p>
            <a:pPr marL="152400" indent="0" algn="l">
              <a:buNone/>
            </a:pPr>
            <a:r>
              <a:rPr lang="en-US" sz="1150" dirty="0">
                <a:solidFill>
                  <a:srgbClr val="333333"/>
                </a:solidFill>
              </a:rPr>
              <a:t>Gender and travel purpose are NOT significantly associated — both male and female commuters predominantly travel for education.</a:t>
            </a:r>
            <a:endParaRPr lang="en-US" sz="1150" dirty="0">
              <a:solidFill>
                <a:srgbClr val="33333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200" b="1" dirty="0">
                <a:solidFill>
                  <a:srgbClr val="FFFFFF"/>
                </a:solidFill>
              </a:rPr>
              <a:t>Overall Summary of Findings</a:t>
            </a:r>
            <a:endParaRPr lang="en-US" sz="2200" dirty="0"/>
          </a:p>
        </p:txBody>
      </p:sp>
      <p:sp>
        <p:nvSpPr>
          <p:cNvPr id="4" name="Shape 2"/>
          <p:cNvSpPr/>
          <p:nvPr/>
        </p:nvSpPr>
        <p:spPr>
          <a:xfrm>
            <a:off x="274320" y="914400"/>
            <a:ext cx="4206240" cy="868680"/>
          </a:xfrm>
          <a:prstGeom prst="rect">
            <a:avLst/>
          </a:prstGeom>
          <a:solidFill>
            <a:srgbClr val="FFFFFF"/>
          </a:solidFill>
          <a:ln w="12700">
            <a:solidFill>
              <a:srgbClr val="D6EAF8"/>
            </a:solidFill>
            <a:prstDash val="solid"/>
          </a:ln>
        </p:spPr>
      </p:sp>
      <p:sp>
        <p:nvSpPr>
          <p:cNvPr id="5" name="Shape 3"/>
          <p:cNvSpPr/>
          <p:nvPr/>
        </p:nvSpPr>
        <p:spPr>
          <a:xfrm>
            <a:off x="274320" y="914400"/>
            <a:ext cx="1463040" cy="868680"/>
          </a:xfrm>
          <a:prstGeom prst="rect">
            <a:avLst/>
          </a:prstGeom>
          <a:solidFill>
            <a:srgbClr val="1A7FAD"/>
          </a:solidFill>
          <a:ln w="12700">
            <a:solidFill>
              <a:srgbClr val="1A7FAD"/>
            </a:solidFill>
            <a:prstDash val="solid"/>
          </a:ln>
        </p:spPr>
      </p:sp>
      <p:sp>
        <p:nvSpPr>
          <p:cNvPr id="6" name="Text 4"/>
          <p:cNvSpPr/>
          <p:nvPr/>
        </p:nvSpPr>
        <p:spPr>
          <a:xfrm>
            <a:off x="274320" y="1051560"/>
            <a:ext cx="1463040" cy="594360"/>
          </a:xfrm>
          <a:prstGeom prst="rect">
            <a:avLst/>
          </a:prstGeom>
          <a:noFill/>
        </p:spPr>
        <p:txBody>
          <a:bodyPr wrap="square" lIns="0" tIns="0" rIns="0" bIns="0" rtlCol="0" anchor="ctr"/>
          <a:lstStyle/>
          <a:p>
            <a:pPr marL="0" indent="0" algn="ctr">
              <a:buNone/>
            </a:pPr>
            <a:r>
              <a:rPr lang="en-US" sz="1800" b="1" dirty="0">
                <a:solidFill>
                  <a:srgbClr val="FFFFFF"/>
                </a:solidFill>
              </a:rPr>
              <a:t>76.8%</a:t>
            </a:r>
            <a:endParaRPr lang="en-US" sz="1800" dirty="0"/>
          </a:p>
        </p:txBody>
      </p:sp>
      <p:sp>
        <p:nvSpPr>
          <p:cNvPr id="7" name="Text 5"/>
          <p:cNvSpPr/>
          <p:nvPr/>
        </p:nvSpPr>
        <p:spPr>
          <a:xfrm>
            <a:off x="1783080" y="960120"/>
            <a:ext cx="2651760" cy="292608"/>
          </a:xfrm>
          <a:prstGeom prst="rect">
            <a:avLst/>
          </a:prstGeom>
          <a:noFill/>
        </p:spPr>
        <p:txBody>
          <a:bodyPr wrap="square" rtlCol="0" anchor="ctr"/>
          <a:lstStyle/>
          <a:p>
            <a:pPr marL="0" indent="0">
              <a:buNone/>
            </a:pPr>
            <a:r>
              <a:rPr lang="en-US" sz="1100" b="1" dirty="0">
                <a:solidFill>
                  <a:srgbClr val="1E293B"/>
                </a:solidFill>
              </a:rPr>
              <a:t>travel for Education</a:t>
            </a:r>
            <a:endParaRPr lang="en-US" sz="1100" dirty="0"/>
          </a:p>
        </p:txBody>
      </p:sp>
      <p:sp>
        <p:nvSpPr>
          <p:cNvPr id="8" name="Text 6"/>
          <p:cNvSpPr/>
          <p:nvPr/>
        </p:nvSpPr>
        <p:spPr>
          <a:xfrm>
            <a:off x="1783080" y="1280160"/>
            <a:ext cx="2651760" cy="438912"/>
          </a:xfrm>
          <a:prstGeom prst="rect">
            <a:avLst/>
          </a:prstGeom>
          <a:noFill/>
        </p:spPr>
        <p:txBody>
          <a:bodyPr wrap="square" rtlCol="0" anchor="ctr"/>
          <a:lstStyle/>
          <a:p>
            <a:pPr marL="0" indent="0">
              <a:buNone/>
            </a:pPr>
            <a:r>
              <a:rPr lang="en-US" sz="950" dirty="0">
                <a:solidFill>
                  <a:srgbClr val="64748B"/>
                </a:solidFill>
              </a:rPr>
              <a:t>Students are the dominant ridership</a:t>
            </a:r>
            <a:endParaRPr lang="en-US" sz="950" dirty="0"/>
          </a:p>
        </p:txBody>
      </p:sp>
      <p:sp>
        <p:nvSpPr>
          <p:cNvPr id="9" name="Shape 7"/>
          <p:cNvSpPr/>
          <p:nvPr/>
        </p:nvSpPr>
        <p:spPr>
          <a:xfrm>
            <a:off x="4709160" y="914400"/>
            <a:ext cx="4206240" cy="868680"/>
          </a:xfrm>
          <a:prstGeom prst="rect">
            <a:avLst/>
          </a:prstGeom>
          <a:solidFill>
            <a:srgbClr val="FFFFFF"/>
          </a:solidFill>
          <a:ln w="12700">
            <a:solidFill>
              <a:srgbClr val="D6EAF8"/>
            </a:solidFill>
            <a:prstDash val="solid"/>
          </a:ln>
        </p:spPr>
      </p:sp>
      <p:sp>
        <p:nvSpPr>
          <p:cNvPr id="10" name="Shape 8"/>
          <p:cNvSpPr/>
          <p:nvPr/>
        </p:nvSpPr>
        <p:spPr>
          <a:xfrm>
            <a:off x="4709160" y="914400"/>
            <a:ext cx="1463040" cy="868680"/>
          </a:xfrm>
          <a:prstGeom prst="rect">
            <a:avLst/>
          </a:prstGeom>
          <a:solidFill>
            <a:srgbClr val="1B2A4A"/>
          </a:solidFill>
          <a:ln w="12700">
            <a:solidFill>
              <a:srgbClr val="1B2A4A"/>
            </a:solidFill>
            <a:prstDash val="solid"/>
          </a:ln>
        </p:spPr>
      </p:sp>
      <p:sp>
        <p:nvSpPr>
          <p:cNvPr id="11" name="Text 9"/>
          <p:cNvSpPr/>
          <p:nvPr/>
        </p:nvSpPr>
        <p:spPr>
          <a:xfrm>
            <a:off x="4709160" y="1051560"/>
            <a:ext cx="1463040" cy="594360"/>
          </a:xfrm>
          <a:prstGeom prst="rect">
            <a:avLst/>
          </a:prstGeom>
          <a:noFill/>
        </p:spPr>
        <p:txBody>
          <a:bodyPr wrap="square" lIns="0" tIns="0" rIns="0" bIns="0" rtlCol="0" anchor="ctr"/>
          <a:lstStyle/>
          <a:p>
            <a:pPr marL="0" indent="0" algn="ctr">
              <a:buNone/>
            </a:pPr>
            <a:r>
              <a:rPr lang="en-US" sz="1800" b="1" dirty="0">
                <a:solidFill>
                  <a:srgbClr val="FFFFFF"/>
                </a:solidFill>
              </a:rPr>
              <a:t>70.7%</a:t>
            </a:r>
            <a:endParaRPr lang="en-US" sz="1800" dirty="0"/>
          </a:p>
        </p:txBody>
      </p:sp>
      <p:sp>
        <p:nvSpPr>
          <p:cNvPr id="12" name="Text 10"/>
          <p:cNvSpPr/>
          <p:nvPr/>
        </p:nvSpPr>
        <p:spPr>
          <a:xfrm>
            <a:off x="6217920" y="960120"/>
            <a:ext cx="2651760" cy="292608"/>
          </a:xfrm>
          <a:prstGeom prst="rect">
            <a:avLst/>
          </a:prstGeom>
          <a:noFill/>
        </p:spPr>
        <p:txBody>
          <a:bodyPr wrap="square" rtlCol="0" anchor="ctr"/>
          <a:lstStyle/>
          <a:p>
            <a:pPr marL="0" indent="0">
              <a:buNone/>
            </a:pPr>
            <a:r>
              <a:rPr lang="en-US" sz="1100" b="1" dirty="0">
                <a:solidFill>
                  <a:srgbClr val="1E293B"/>
                </a:solidFill>
              </a:rPr>
              <a:t>aged 15–20 years</a:t>
            </a:r>
            <a:endParaRPr lang="en-US" sz="1100" dirty="0"/>
          </a:p>
        </p:txBody>
      </p:sp>
      <p:sp>
        <p:nvSpPr>
          <p:cNvPr id="13" name="Text 11"/>
          <p:cNvSpPr/>
          <p:nvPr/>
        </p:nvSpPr>
        <p:spPr>
          <a:xfrm>
            <a:off x="6217920" y="1280160"/>
            <a:ext cx="2651760" cy="438912"/>
          </a:xfrm>
          <a:prstGeom prst="rect">
            <a:avLst/>
          </a:prstGeom>
          <a:noFill/>
        </p:spPr>
        <p:txBody>
          <a:bodyPr wrap="square" rtlCol="0" anchor="ctr"/>
          <a:lstStyle/>
          <a:p>
            <a:pPr marL="0" indent="0">
              <a:buNone/>
            </a:pPr>
            <a:r>
              <a:rPr lang="en-US" sz="950" dirty="0">
                <a:solidFill>
                  <a:srgbClr val="64748B"/>
                </a:solidFill>
              </a:rPr>
              <a:t>Metro is primarily a youth service</a:t>
            </a:r>
            <a:endParaRPr lang="en-US" sz="950" dirty="0"/>
          </a:p>
        </p:txBody>
      </p:sp>
      <p:sp>
        <p:nvSpPr>
          <p:cNvPr id="14" name="Shape 12"/>
          <p:cNvSpPr/>
          <p:nvPr/>
        </p:nvSpPr>
        <p:spPr>
          <a:xfrm>
            <a:off x="274320" y="1920240"/>
            <a:ext cx="4206240" cy="868680"/>
          </a:xfrm>
          <a:prstGeom prst="rect">
            <a:avLst/>
          </a:prstGeom>
          <a:solidFill>
            <a:srgbClr val="FFFFFF"/>
          </a:solidFill>
          <a:ln w="12700">
            <a:solidFill>
              <a:srgbClr val="D6EAF8"/>
            </a:solidFill>
            <a:prstDash val="solid"/>
          </a:ln>
        </p:spPr>
      </p:sp>
      <p:sp>
        <p:nvSpPr>
          <p:cNvPr id="15" name="Shape 13"/>
          <p:cNvSpPr/>
          <p:nvPr/>
        </p:nvSpPr>
        <p:spPr>
          <a:xfrm>
            <a:off x="274320" y="1920240"/>
            <a:ext cx="1463040" cy="868680"/>
          </a:xfrm>
          <a:prstGeom prst="rect">
            <a:avLst/>
          </a:prstGeom>
          <a:solidFill>
            <a:srgbClr val="E8873A"/>
          </a:solidFill>
          <a:ln w="12700">
            <a:solidFill>
              <a:srgbClr val="E8873A"/>
            </a:solidFill>
            <a:prstDash val="solid"/>
          </a:ln>
        </p:spPr>
      </p:sp>
      <p:sp>
        <p:nvSpPr>
          <p:cNvPr id="16" name="Text 14"/>
          <p:cNvSpPr/>
          <p:nvPr/>
        </p:nvSpPr>
        <p:spPr>
          <a:xfrm>
            <a:off x="274320" y="2057400"/>
            <a:ext cx="1463040" cy="594360"/>
          </a:xfrm>
          <a:prstGeom prst="rect">
            <a:avLst/>
          </a:prstGeom>
          <a:noFill/>
        </p:spPr>
        <p:txBody>
          <a:bodyPr wrap="square" lIns="0" tIns="0" rIns="0" bIns="0" rtlCol="0" anchor="ctr"/>
          <a:lstStyle/>
          <a:p>
            <a:pPr marL="0" indent="0" algn="ctr">
              <a:buNone/>
            </a:pPr>
            <a:r>
              <a:rPr lang="en-US" sz="1800" b="1" dirty="0">
                <a:solidFill>
                  <a:srgbClr val="FFFFFF"/>
                </a:solidFill>
              </a:rPr>
              <a:t>86.6%</a:t>
            </a:r>
            <a:endParaRPr lang="en-US" sz="1800" dirty="0"/>
          </a:p>
        </p:txBody>
      </p:sp>
      <p:sp>
        <p:nvSpPr>
          <p:cNvPr id="17" name="Text 15"/>
          <p:cNvSpPr/>
          <p:nvPr/>
        </p:nvSpPr>
        <p:spPr>
          <a:xfrm>
            <a:off x="1783080" y="1965960"/>
            <a:ext cx="2651760" cy="292608"/>
          </a:xfrm>
          <a:prstGeom prst="rect">
            <a:avLst/>
          </a:prstGeom>
          <a:noFill/>
        </p:spPr>
        <p:txBody>
          <a:bodyPr wrap="square" rtlCol="0" anchor="ctr"/>
          <a:lstStyle/>
          <a:p>
            <a:pPr marL="0" indent="0">
              <a:buNone/>
            </a:pPr>
            <a:r>
              <a:rPr lang="en-US" sz="1100" b="1" dirty="0">
                <a:solidFill>
                  <a:srgbClr val="1E293B"/>
                </a:solidFill>
              </a:rPr>
              <a:t>female commuters</a:t>
            </a:r>
            <a:endParaRPr lang="en-US" sz="1100" dirty="0"/>
          </a:p>
        </p:txBody>
      </p:sp>
      <p:sp>
        <p:nvSpPr>
          <p:cNvPr id="18" name="Text 16"/>
          <p:cNvSpPr/>
          <p:nvPr/>
        </p:nvSpPr>
        <p:spPr>
          <a:xfrm>
            <a:off x="1783080" y="2286000"/>
            <a:ext cx="2651760" cy="438912"/>
          </a:xfrm>
          <a:prstGeom prst="rect">
            <a:avLst/>
          </a:prstGeom>
          <a:noFill/>
        </p:spPr>
        <p:txBody>
          <a:bodyPr wrap="square" rtlCol="0" anchor="ctr"/>
          <a:lstStyle/>
          <a:p>
            <a:pPr marL="0" indent="0">
              <a:buNone/>
            </a:pPr>
            <a:r>
              <a:rPr lang="en-US" sz="950" dirty="0">
                <a:solidFill>
                  <a:srgbClr val="64748B"/>
                </a:solidFill>
              </a:rPr>
              <a:t>Safety &amp; affordability attract women</a:t>
            </a:r>
            <a:endParaRPr lang="en-US" sz="950" dirty="0"/>
          </a:p>
        </p:txBody>
      </p:sp>
      <p:sp>
        <p:nvSpPr>
          <p:cNvPr id="19" name="Shape 17"/>
          <p:cNvSpPr/>
          <p:nvPr/>
        </p:nvSpPr>
        <p:spPr>
          <a:xfrm>
            <a:off x="4709160" y="1920240"/>
            <a:ext cx="4206240" cy="868680"/>
          </a:xfrm>
          <a:prstGeom prst="rect">
            <a:avLst/>
          </a:prstGeom>
          <a:solidFill>
            <a:srgbClr val="FFFFFF"/>
          </a:solidFill>
          <a:ln w="12700">
            <a:solidFill>
              <a:srgbClr val="D6EAF8"/>
            </a:solidFill>
            <a:prstDash val="solid"/>
          </a:ln>
        </p:spPr>
      </p:sp>
      <p:sp>
        <p:nvSpPr>
          <p:cNvPr id="20" name="Shape 18"/>
          <p:cNvSpPr/>
          <p:nvPr/>
        </p:nvSpPr>
        <p:spPr>
          <a:xfrm>
            <a:off x="4709160" y="1920240"/>
            <a:ext cx="1463040" cy="868680"/>
          </a:xfrm>
          <a:prstGeom prst="rect">
            <a:avLst/>
          </a:prstGeom>
          <a:solidFill>
            <a:srgbClr val="C0392B"/>
          </a:solidFill>
          <a:ln w="12700">
            <a:solidFill>
              <a:srgbClr val="C0392B"/>
            </a:solidFill>
            <a:prstDash val="solid"/>
          </a:ln>
        </p:spPr>
      </p:sp>
      <p:sp>
        <p:nvSpPr>
          <p:cNvPr id="21" name="Text 19"/>
          <p:cNvSpPr/>
          <p:nvPr/>
        </p:nvSpPr>
        <p:spPr>
          <a:xfrm>
            <a:off x="4709160" y="2057400"/>
            <a:ext cx="1463040" cy="594360"/>
          </a:xfrm>
          <a:prstGeom prst="rect">
            <a:avLst/>
          </a:prstGeom>
          <a:noFill/>
        </p:spPr>
        <p:txBody>
          <a:bodyPr wrap="square" lIns="0" tIns="0" rIns="0" bIns="0" rtlCol="0" anchor="ctr"/>
          <a:lstStyle/>
          <a:p>
            <a:pPr marL="0" indent="0" algn="ctr">
              <a:buNone/>
            </a:pPr>
            <a:r>
              <a:rPr lang="en-US" sz="1800" b="1" dirty="0">
                <a:solidFill>
                  <a:srgbClr val="FFFFFF"/>
                </a:solidFill>
              </a:rPr>
              <a:t>73.2%</a:t>
            </a:r>
            <a:endParaRPr lang="en-US" sz="1800" dirty="0"/>
          </a:p>
        </p:txBody>
      </p:sp>
      <p:sp>
        <p:nvSpPr>
          <p:cNvPr id="22" name="Text 20"/>
          <p:cNvSpPr/>
          <p:nvPr/>
        </p:nvSpPr>
        <p:spPr>
          <a:xfrm>
            <a:off x="6217920" y="1965960"/>
            <a:ext cx="2651760" cy="292608"/>
          </a:xfrm>
          <a:prstGeom prst="rect">
            <a:avLst/>
          </a:prstGeom>
          <a:noFill/>
        </p:spPr>
        <p:txBody>
          <a:bodyPr wrap="square" rtlCol="0" anchor="ctr"/>
          <a:lstStyle/>
          <a:p>
            <a:pPr marL="0" indent="0">
              <a:buNone/>
            </a:pPr>
            <a:r>
              <a:rPr lang="en-US" sz="1100" b="1" dirty="0">
                <a:solidFill>
                  <a:srgbClr val="1E293B"/>
                </a:solidFill>
              </a:rPr>
              <a:t>face some delay</a:t>
            </a:r>
            <a:endParaRPr lang="en-US" sz="1100" dirty="0"/>
          </a:p>
        </p:txBody>
      </p:sp>
      <p:sp>
        <p:nvSpPr>
          <p:cNvPr id="23" name="Text 21"/>
          <p:cNvSpPr/>
          <p:nvPr/>
        </p:nvSpPr>
        <p:spPr>
          <a:xfrm>
            <a:off x="6217920" y="2286000"/>
            <a:ext cx="2651760" cy="438912"/>
          </a:xfrm>
          <a:prstGeom prst="rect">
            <a:avLst/>
          </a:prstGeom>
          <a:noFill/>
        </p:spPr>
        <p:txBody>
          <a:bodyPr wrap="square" rtlCol="0" anchor="ctr"/>
          <a:lstStyle/>
          <a:p>
            <a:pPr marL="0" indent="0">
              <a:buNone/>
            </a:pPr>
            <a:r>
              <a:rPr lang="en-US" sz="950" dirty="0">
                <a:solidFill>
                  <a:srgbClr val="64748B"/>
                </a:solidFill>
              </a:rPr>
              <a:t>Mostly minor 1–5 min delays (46.3%)</a:t>
            </a:r>
            <a:endParaRPr lang="en-US" sz="950" dirty="0"/>
          </a:p>
        </p:txBody>
      </p:sp>
      <p:sp>
        <p:nvSpPr>
          <p:cNvPr id="24" name="Shape 22"/>
          <p:cNvSpPr/>
          <p:nvPr/>
        </p:nvSpPr>
        <p:spPr>
          <a:xfrm>
            <a:off x="274320" y="2926080"/>
            <a:ext cx="4206240" cy="868680"/>
          </a:xfrm>
          <a:prstGeom prst="rect">
            <a:avLst/>
          </a:prstGeom>
          <a:solidFill>
            <a:srgbClr val="FFFFFF"/>
          </a:solidFill>
          <a:ln w="12700">
            <a:solidFill>
              <a:srgbClr val="D6EAF8"/>
            </a:solidFill>
            <a:prstDash val="solid"/>
          </a:ln>
        </p:spPr>
      </p:sp>
      <p:sp>
        <p:nvSpPr>
          <p:cNvPr id="25" name="Shape 23"/>
          <p:cNvSpPr/>
          <p:nvPr/>
        </p:nvSpPr>
        <p:spPr>
          <a:xfrm>
            <a:off x="274320" y="2926080"/>
            <a:ext cx="1463040" cy="868680"/>
          </a:xfrm>
          <a:prstGeom prst="rect">
            <a:avLst/>
          </a:prstGeom>
          <a:solidFill>
            <a:srgbClr val="1A7FAD"/>
          </a:solidFill>
          <a:ln w="12700">
            <a:solidFill>
              <a:srgbClr val="1A7FAD"/>
            </a:solidFill>
            <a:prstDash val="solid"/>
          </a:ln>
        </p:spPr>
      </p:sp>
      <p:sp>
        <p:nvSpPr>
          <p:cNvPr id="26" name="Text 24"/>
          <p:cNvSpPr/>
          <p:nvPr/>
        </p:nvSpPr>
        <p:spPr>
          <a:xfrm>
            <a:off x="274320" y="3063240"/>
            <a:ext cx="1463040" cy="594360"/>
          </a:xfrm>
          <a:prstGeom prst="rect">
            <a:avLst/>
          </a:prstGeom>
          <a:noFill/>
        </p:spPr>
        <p:txBody>
          <a:bodyPr wrap="square" lIns="0" tIns="0" rIns="0" bIns="0" rtlCol="0" anchor="ctr"/>
          <a:lstStyle/>
          <a:p>
            <a:pPr marL="0" indent="0" algn="ctr">
              <a:buNone/>
            </a:pPr>
            <a:r>
              <a:rPr lang="en-US" sz="1800" b="1" dirty="0">
                <a:solidFill>
                  <a:srgbClr val="FFFFFF"/>
                </a:solidFill>
              </a:rPr>
              <a:t>3.83/5</a:t>
            </a:r>
            <a:endParaRPr lang="en-US" sz="1800" dirty="0"/>
          </a:p>
        </p:txBody>
      </p:sp>
      <p:sp>
        <p:nvSpPr>
          <p:cNvPr id="27" name="Text 25"/>
          <p:cNvSpPr/>
          <p:nvPr/>
        </p:nvSpPr>
        <p:spPr>
          <a:xfrm>
            <a:off x="1783080" y="2971800"/>
            <a:ext cx="2651760" cy="292608"/>
          </a:xfrm>
          <a:prstGeom prst="rect">
            <a:avLst/>
          </a:prstGeom>
          <a:noFill/>
        </p:spPr>
        <p:txBody>
          <a:bodyPr wrap="square" rtlCol="0" anchor="ctr"/>
          <a:lstStyle/>
          <a:p>
            <a:pPr marL="0" indent="0">
              <a:buNone/>
            </a:pPr>
            <a:r>
              <a:rPr lang="en-US" sz="1100" b="1" dirty="0">
                <a:solidFill>
                  <a:srgbClr val="1E293B"/>
                </a:solidFill>
              </a:rPr>
              <a:t>punctuality rating</a:t>
            </a:r>
            <a:endParaRPr lang="en-US" sz="1100" dirty="0"/>
          </a:p>
        </p:txBody>
      </p:sp>
      <p:sp>
        <p:nvSpPr>
          <p:cNvPr id="28" name="Text 26"/>
          <p:cNvSpPr/>
          <p:nvPr/>
        </p:nvSpPr>
        <p:spPr>
          <a:xfrm>
            <a:off x="1783080" y="3291840"/>
            <a:ext cx="2651760" cy="438912"/>
          </a:xfrm>
          <a:prstGeom prst="rect">
            <a:avLst/>
          </a:prstGeom>
          <a:noFill/>
        </p:spPr>
        <p:txBody>
          <a:bodyPr wrap="square" rtlCol="0" anchor="ctr"/>
          <a:lstStyle/>
          <a:p>
            <a:pPr marL="0" indent="0">
              <a:buNone/>
            </a:pPr>
            <a:r>
              <a:rPr lang="en-US" sz="950" dirty="0">
                <a:solidFill>
                  <a:srgbClr val="64748B"/>
                </a:solidFill>
              </a:rPr>
              <a:t>Variance 1.12 | Std Dev 1.06</a:t>
            </a:r>
            <a:endParaRPr lang="en-US" sz="950" dirty="0"/>
          </a:p>
        </p:txBody>
      </p:sp>
      <p:sp>
        <p:nvSpPr>
          <p:cNvPr id="29" name="Shape 27"/>
          <p:cNvSpPr/>
          <p:nvPr/>
        </p:nvSpPr>
        <p:spPr>
          <a:xfrm>
            <a:off x="4709160" y="2926080"/>
            <a:ext cx="4206240" cy="868680"/>
          </a:xfrm>
          <a:prstGeom prst="rect">
            <a:avLst/>
          </a:prstGeom>
          <a:solidFill>
            <a:srgbClr val="FFFFFF"/>
          </a:solidFill>
          <a:ln w="12700">
            <a:solidFill>
              <a:srgbClr val="D6EAF8"/>
            </a:solidFill>
            <a:prstDash val="solid"/>
          </a:ln>
        </p:spPr>
      </p:sp>
      <p:sp>
        <p:nvSpPr>
          <p:cNvPr id="30" name="Shape 28"/>
          <p:cNvSpPr/>
          <p:nvPr/>
        </p:nvSpPr>
        <p:spPr>
          <a:xfrm>
            <a:off x="4709160" y="2926080"/>
            <a:ext cx="1463040" cy="868680"/>
          </a:xfrm>
          <a:prstGeom prst="rect">
            <a:avLst/>
          </a:prstGeom>
          <a:solidFill>
            <a:srgbClr val="1B2A4A"/>
          </a:solidFill>
          <a:ln w="12700">
            <a:solidFill>
              <a:srgbClr val="1B2A4A"/>
            </a:solidFill>
            <a:prstDash val="solid"/>
          </a:ln>
        </p:spPr>
      </p:sp>
      <p:sp>
        <p:nvSpPr>
          <p:cNvPr id="31" name="Text 29"/>
          <p:cNvSpPr/>
          <p:nvPr/>
        </p:nvSpPr>
        <p:spPr>
          <a:xfrm>
            <a:off x="4709160" y="3063240"/>
            <a:ext cx="1463040" cy="594360"/>
          </a:xfrm>
          <a:prstGeom prst="rect">
            <a:avLst/>
          </a:prstGeom>
          <a:noFill/>
        </p:spPr>
        <p:txBody>
          <a:bodyPr wrap="square" lIns="0" tIns="0" rIns="0" bIns="0" rtlCol="0" anchor="ctr"/>
          <a:lstStyle/>
          <a:p>
            <a:pPr marL="0" indent="0" algn="ctr">
              <a:buNone/>
            </a:pPr>
            <a:r>
              <a:rPr lang="en-US" sz="1800" b="1" dirty="0">
                <a:solidFill>
                  <a:srgbClr val="FFFFFF"/>
                </a:solidFill>
              </a:rPr>
              <a:t>4.09/5</a:t>
            </a:r>
            <a:endParaRPr lang="en-US" sz="1800" dirty="0"/>
          </a:p>
        </p:txBody>
      </p:sp>
      <p:sp>
        <p:nvSpPr>
          <p:cNvPr id="32" name="Text 30"/>
          <p:cNvSpPr/>
          <p:nvPr/>
        </p:nvSpPr>
        <p:spPr>
          <a:xfrm>
            <a:off x="6217920" y="2971800"/>
            <a:ext cx="2651760" cy="292608"/>
          </a:xfrm>
          <a:prstGeom prst="rect">
            <a:avLst/>
          </a:prstGeom>
          <a:noFill/>
        </p:spPr>
        <p:txBody>
          <a:bodyPr wrap="square" rtlCol="0" anchor="ctr"/>
          <a:lstStyle/>
          <a:p>
            <a:pPr marL="0" indent="0">
              <a:buNone/>
            </a:pPr>
            <a:r>
              <a:rPr lang="en-US" sz="1100" b="1" dirty="0">
                <a:solidFill>
                  <a:srgbClr val="1E293B"/>
                </a:solidFill>
              </a:rPr>
              <a:t>satisfaction score</a:t>
            </a:r>
            <a:endParaRPr lang="en-US" sz="1100" dirty="0"/>
          </a:p>
        </p:txBody>
      </p:sp>
      <p:sp>
        <p:nvSpPr>
          <p:cNvPr id="33" name="Text 31"/>
          <p:cNvSpPr/>
          <p:nvPr/>
        </p:nvSpPr>
        <p:spPr>
          <a:xfrm>
            <a:off x="6217920" y="3291840"/>
            <a:ext cx="2651760" cy="438912"/>
          </a:xfrm>
          <a:prstGeom prst="rect">
            <a:avLst/>
          </a:prstGeom>
          <a:noFill/>
        </p:spPr>
        <p:txBody>
          <a:bodyPr wrap="square" rtlCol="0" anchor="ctr"/>
          <a:lstStyle/>
          <a:p>
            <a:pPr marL="0" indent="0">
              <a:buNone/>
            </a:pPr>
            <a:r>
              <a:rPr lang="en-US" sz="950" dirty="0">
                <a:solidFill>
                  <a:srgbClr val="64748B"/>
                </a:solidFill>
              </a:rPr>
              <a:t>82.9% satisfied or very satisfied</a:t>
            </a:r>
            <a:endParaRPr lang="en-US" sz="950" dirty="0"/>
          </a:p>
        </p:txBody>
      </p:sp>
      <p:sp>
        <p:nvSpPr>
          <p:cNvPr id="34" name="Shape 32"/>
          <p:cNvSpPr/>
          <p:nvPr/>
        </p:nvSpPr>
        <p:spPr>
          <a:xfrm>
            <a:off x="274320" y="3931920"/>
            <a:ext cx="4206240" cy="868680"/>
          </a:xfrm>
          <a:prstGeom prst="rect">
            <a:avLst/>
          </a:prstGeom>
          <a:solidFill>
            <a:srgbClr val="FFFFFF"/>
          </a:solidFill>
          <a:ln w="12700">
            <a:solidFill>
              <a:srgbClr val="D6EAF8"/>
            </a:solidFill>
            <a:prstDash val="solid"/>
          </a:ln>
        </p:spPr>
      </p:sp>
      <p:sp>
        <p:nvSpPr>
          <p:cNvPr id="35" name="Shape 33"/>
          <p:cNvSpPr/>
          <p:nvPr/>
        </p:nvSpPr>
        <p:spPr>
          <a:xfrm>
            <a:off x="274320" y="3931920"/>
            <a:ext cx="1463040" cy="868680"/>
          </a:xfrm>
          <a:prstGeom prst="rect">
            <a:avLst/>
          </a:prstGeom>
          <a:solidFill>
            <a:srgbClr val="E8873A"/>
          </a:solidFill>
          <a:ln w="12700">
            <a:solidFill>
              <a:srgbClr val="E8873A"/>
            </a:solidFill>
            <a:prstDash val="solid"/>
          </a:ln>
        </p:spPr>
      </p:sp>
      <p:sp>
        <p:nvSpPr>
          <p:cNvPr id="36" name="Text 34"/>
          <p:cNvSpPr/>
          <p:nvPr/>
        </p:nvSpPr>
        <p:spPr>
          <a:xfrm>
            <a:off x="274320" y="4069080"/>
            <a:ext cx="1463040" cy="594360"/>
          </a:xfrm>
          <a:prstGeom prst="rect">
            <a:avLst/>
          </a:prstGeom>
          <a:noFill/>
        </p:spPr>
        <p:txBody>
          <a:bodyPr wrap="square" lIns="0" tIns="0" rIns="0" bIns="0" rtlCol="0" anchor="ctr"/>
          <a:lstStyle/>
          <a:p>
            <a:pPr marL="0" indent="0" algn="ctr">
              <a:buNone/>
            </a:pPr>
            <a:r>
              <a:rPr lang="en-US" sz="1800" b="1" dirty="0">
                <a:solidFill>
                  <a:srgbClr val="FFFFFF"/>
                </a:solidFill>
              </a:rPr>
              <a:t>85.4%</a:t>
            </a:r>
            <a:endParaRPr lang="en-US" sz="1800" dirty="0"/>
          </a:p>
        </p:txBody>
      </p:sp>
      <p:sp>
        <p:nvSpPr>
          <p:cNvPr id="37" name="Text 35"/>
          <p:cNvSpPr/>
          <p:nvPr/>
        </p:nvSpPr>
        <p:spPr>
          <a:xfrm>
            <a:off x="1783080" y="3977640"/>
            <a:ext cx="2651760" cy="292608"/>
          </a:xfrm>
          <a:prstGeom prst="rect">
            <a:avLst/>
          </a:prstGeom>
          <a:noFill/>
        </p:spPr>
        <p:txBody>
          <a:bodyPr wrap="square" rtlCol="0" anchor="ctr"/>
          <a:lstStyle/>
          <a:p>
            <a:pPr marL="0" indent="0">
              <a:buNone/>
            </a:pPr>
            <a:r>
              <a:rPr lang="en-US" sz="1100" b="1" dirty="0">
                <a:solidFill>
                  <a:srgbClr val="1E293B"/>
                </a:solidFill>
              </a:rPr>
              <a:t>rated staff Good/Excellent</a:t>
            </a:r>
            <a:endParaRPr lang="en-US" sz="1100" dirty="0"/>
          </a:p>
        </p:txBody>
      </p:sp>
      <p:sp>
        <p:nvSpPr>
          <p:cNvPr id="38" name="Text 36"/>
          <p:cNvSpPr/>
          <p:nvPr/>
        </p:nvSpPr>
        <p:spPr>
          <a:xfrm>
            <a:off x="1783080" y="4297680"/>
            <a:ext cx="2651760" cy="438912"/>
          </a:xfrm>
          <a:prstGeom prst="rect">
            <a:avLst/>
          </a:prstGeom>
          <a:noFill/>
        </p:spPr>
        <p:txBody>
          <a:bodyPr wrap="square" rtlCol="0" anchor="ctr"/>
          <a:lstStyle/>
          <a:p>
            <a:pPr marL="0" indent="0">
              <a:buNone/>
            </a:pPr>
            <a:r>
              <a:rPr lang="en-US" sz="950" dirty="0">
                <a:solidFill>
                  <a:srgbClr val="64748B"/>
                </a:solidFill>
              </a:rPr>
              <a:t>Human service quality is a key strength</a:t>
            </a:r>
            <a:endParaRPr lang="en-US" sz="950" dirty="0"/>
          </a:p>
        </p:txBody>
      </p:sp>
      <p:sp>
        <p:nvSpPr>
          <p:cNvPr id="39" name="Shape 37"/>
          <p:cNvSpPr/>
          <p:nvPr/>
        </p:nvSpPr>
        <p:spPr>
          <a:xfrm>
            <a:off x="4709160" y="3931920"/>
            <a:ext cx="4206240" cy="868680"/>
          </a:xfrm>
          <a:prstGeom prst="rect">
            <a:avLst/>
          </a:prstGeom>
          <a:solidFill>
            <a:srgbClr val="FFFFFF"/>
          </a:solidFill>
          <a:ln w="12700">
            <a:solidFill>
              <a:srgbClr val="D6EAF8"/>
            </a:solidFill>
            <a:prstDash val="solid"/>
          </a:ln>
        </p:spPr>
      </p:sp>
      <p:sp>
        <p:nvSpPr>
          <p:cNvPr id="40" name="Shape 38"/>
          <p:cNvSpPr/>
          <p:nvPr/>
        </p:nvSpPr>
        <p:spPr>
          <a:xfrm>
            <a:off x="4709160" y="3931920"/>
            <a:ext cx="1463040" cy="868680"/>
          </a:xfrm>
          <a:prstGeom prst="rect">
            <a:avLst/>
          </a:prstGeom>
          <a:solidFill>
            <a:srgbClr val="C0392B"/>
          </a:solidFill>
          <a:ln w="12700">
            <a:solidFill>
              <a:srgbClr val="C0392B"/>
            </a:solidFill>
            <a:prstDash val="solid"/>
          </a:ln>
        </p:spPr>
      </p:sp>
      <p:sp>
        <p:nvSpPr>
          <p:cNvPr id="41" name="Text 39"/>
          <p:cNvSpPr/>
          <p:nvPr/>
        </p:nvSpPr>
        <p:spPr>
          <a:xfrm>
            <a:off x="4709160" y="4069080"/>
            <a:ext cx="1463040" cy="594360"/>
          </a:xfrm>
          <a:prstGeom prst="rect">
            <a:avLst/>
          </a:prstGeom>
          <a:noFill/>
        </p:spPr>
        <p:txBody>
          <a:bodyPr wrap="square" lIns="0" tIns="0" rIns="0" bIns="0" rtlCol="0" anchor="ctr"/>
          <a:lstStyle/>
          <a:p>
            <a:pPr marL="0" indent="0" algn="ctr">
              <a:buNone/>
            </a:pPr>
            <a:r>
              <a:rPr lang="en-US" sz="1800" b="1" dirty="0">
                <a:solidFill>
                  <a:srgbClr val="FFFFFF"/>
                </a:solidFill>
              </a:rPr>
              <a:t>90%</a:t>
            </a:r>
            <a:endParaRPr lang="en-US" sz="1800" dirty="0"/>
          </a:p>
        </p:txBody>
      </p:sp>
      <p:sp>
        <p:nvSpPr>
          <p:cNvPr id="42" name="Text 40"/>
          <p:cNvSpPr/>
          <p:nvPr/>
        </p:nvSpPr>
        <p:spPr>
          <a:xfrm>
            <a:off x="6217920" y="3977640"/>
            <a:ext cx="2651760" cy="292608"/>
          </a:xfrm>
          <a:prstGeom prst="rect">
            <a:avLst/>
          </a:prstGeom>
          <a:noFill/>
        </p:spPr>
        <p:txBody>
          <a:bodyPr wrap="square" rtlCol="0" anchor="ctr"/>
          <a:lstStyle/>
          <a:p>
            <a:pPr marL="0" indent="0">
              <a:buNone/>
            </a:pPr>
            <a:r>
              <a:rPr lang="en-US" sz="1100" b="1" dirty="0">
                <a:solidFill>
                  <a:srgbClr val="1E293B"/>
                </a:solidFill>
              </a:rPr>
              <a:t>punctuality (vs Delhi 95%)</a:t>
            </a:r>
            <a:endParaRPr lang="en-US" sz="1100" dirty="0"/>
          </a:p>
        </p:txBody>
      </p:sp>
      <p:sp>
        <p:nvSpPr>
          <p:cNvPr id="43" name="Text 41"/>
          <p:cNvSpPr/>
          <p:nvPr/>
        </p:nvSpPr>
        <p:spPr>
          <a:xfrm>
            <a:off x="6217920" y="4297680"/>
            <a:ext cx="2651760" cy="438912"/>
          </a:xfrm>
          <a:prstGeom prst="rect">
            <a:avLst/>
          </a:prstGeom>
          <a:noFill/>
        </p:spPr>
        <p:txBody>
          <a:bodyPr wrap="square" rtlCol="0" anchor="ctr"/>
          <a:lstStyle/>
          <a:p>
            <a:pPr marL="0" indent="0">
              <a:buNone/>
            </a:pPr>
            <a:r>
              <a:rPr lang="en-US" sz="950" dirty="0">
                <a:solidFill>
                  <a:srgbClr val="64748B"/>
                </a:solidFill>
              </a:rPr>
              <a:t>5–8% gap to close vs benchmarks</a:t>
            </a:r>
            <a:endParaRPr lang="en-US" sz="950" dirty="0"/>
          </a:p>
        </p:txBody>
      </p:sp>
      <p:sp>
        <p:nvSpPr>
          <p:cNvPr id="44" name="Shape 42"/>
          <p:cNvSpPr/>
          <p:nvPr/>
        </p:nvSpPr>
        <p:spPr>
          <a:xfrm>
            <a:off x="0" y="4800600"/>
            <a:ext cx="9144000" cy="342900"/>
          </a:xfrm>
          <a:prstGeom prst="rect">
            <a:avLst/>
          </a:prstGeom>
          <a:solidFill>
            <a:srgbClr val="1A7FAD"/>
          </a:solidFill>
          <a:ln w="12700">
            <a:solidFill>
              <a:srgbClr val="1A7FAD"/>
            </a:solidFill>
            <a:prstDash val="solid"/>
          </a:ln>
        </p:spPr>
      </p:sp>
      <p:sp>
        <p:nvSpPr>
          <p:cNvPr id="45" name="Text 43"/>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Strong start for a Tier-2 city — but addressing delays in peak hours is the next priority.</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200" b="1" dirty="0">
                <a:solidFill>
                  <a:srgbClr val="FFFFFF"/>
                </a:solidFill>
              </a:rPr>
              <a:t>CHAPTER 6 — Conclusions</a:t>
            </a:r>
            <a:endParaRPr lang="en-US" sz="2200" dirty="0"/>
          </a:p>
        </p:txBody>
      </p:sp>
      <p:sp>
        <p:nvSpPr>
          <p:cNvPr id="4" name="Shape 2"/>
          <p:cNvSpPr/>
          <p:nvPr/>
        </p:nvSpPr>
        <p:spPr>
          <a:xfrm>
            <a:off x="320040" y="914400"/>
            <a:ext cx="8503920" cy="713232"/>
          </a:xfrm>
          <a:prstGeom prst="rect">
            <a:avLst/>
          </a:prstGeom>
          <a:solidFill>
            <a:srgbClr val="FFFFFF"/>
          </a:solidFill>
          <a:ln w="12700">
            <a:solidFill>
              <a:srgbClr val="D6EAF8"/>
            </a:solidFill>
            <a:prstDash val="solid"/>
          </a:ln>
        </p:spPr>
      </p:sp>
      <p:sp>
        <p:nvSpPr>
          <p:cNvPr id="5" name="Shape 3"/>
          <p:cNvSpPr/>
          <p:nvPr/>
        </p:nvSpPr>
        <p:spPr>
          <a:xfrm>
            <a:off x="320040" y="914400"/>
            <a:ext cx="411480" cy="713232"/>
          </a:xfrm>
          <a:prstGeom prst="rect">
            <a:avLst/>
          </a:prstGeom>
          <a:solidFill>
            <a:srgbClr val="1A7FAD"/>
          </a:solidFill>
          <a:ln w="12700">
            <a:solidFill>
              <a:srgbClr val="1A7FAD"/>
            </a:solidFill>
            <a:prstDash val="solid"/>
          </a:ln>
        </p:spPr>
      </p:sp>
      <p:sp>
        <p:nvSpPr>
          <p:cNvPr id="6" name="Text 4"/>
          <p:cNvSpPr/>
          <p:nvPr/>
        </p:nvSpPr>
        <p:spPr>
          <a:xfrm>
            <a:off x="320040" y="1097280"/>
            <a:ext cx="411480" cy="347472"/>
          </a:xfrm>
          <a:prstGeom prst="rect">
            <a:avLst/>
          </a:prstGeom>
          <a:noFill/>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822960" y="950976"/>
            <a:ext cx="7909560" cy="274320"/>
          </a:xfrm>
          <a:prstGeom prst="rect">
            <a:avLst/>
          </a:prstGeom>
          <a:noFill/>
        </p:spPr>
        <p:txBody>
          <a:bodyPr wrap="square" rtlCol="0" anchor="ctr"/>
          <a:lstStyle/>
          <a:p>
            <a:pPr marL="0" indent="0">
              <a:buNone/>
            </a:pPr>
            <a:r>
              <a:rPr lang="en-US" sz="1150" b="1" dirty="0">
                <a:solidFill>
                  <a:srgbClr val="0D1B2A"/>
                </a:solidFill>
              </a:rPr>
              <a:t>Nagpur Metro is working well for students</a:t>
            </a:r>
            <a:endParaRPr lang="en-US" sz="1150" dirty="0"/>
          </a:p>
        </p:txBody>
      </p:sp>
      <p:sp>
        <p:nvSpPr>
          <p:cNvPr id="8" name="Text 6"/>
          <p:cNvSpPr/>
          <p:nvPr/>
        </p:nvSpPr>
        <p:spPr>
          <a:xfrm>
            <a:off x="822960" y="1261872"/>
            <a:ext cx="7909560" cy="320040"/>
          </a:xfrm>
          <a:prstGeom prst="rect">
            <a:avLst/>
          </a:prstGeom>
          <a:noFill/>
        </p:spPr>
        <p:txBody>
          <a:bodyPr wrap="square" rtlCol="0" anchor="ctr"/>
          <a:lstStyle/>
          <a:p>
            <a:pPr marL="0" indent="0">
              <a:buNone/>
            </a:pPr>
            <a:r>
              <a:rPr lang="en-US" sz="1000" dirty="0">
                <a:solidFill>
                  <a:srgbClr val="1E293B"/>
                </a:solidFill>
              </a:rPr>
              <a:t>People use it because it's affordable, safe, and clean. These three things came up consistently across all 82 responses.</a:t>
            </a:r>
            <a:endParaRPr lang="en-US" sz="1000" dirty="0"/>
          </a:p>
        </p:txBody>
      </p:sp>
      <p:sp>
        <p:nvSpPr>
          <p:cNvPr id="9" name="Shape 7"/>
          <p:cNvSpPr/>
          <p:nvPr/>
        </p:nvSpPr>
        <p:spPr>
          <a:xfrm>
            <a:off x="320040" y="1728216"/>
            <a:ext cx="8503920" cy="713232"/>
          </a:xfrm>
          <a:prstGeom prst="rect">
            <a:avLst/>
          </a:prstGeom>
          <a:solidFill>
            <a:srgbClr val="FFFFFF"/>
          </a:solidFill>
          <a:ln w="12700">
            <a:solidFill>
              <a:srgbClr val="D6EAF8"/>
            </a:solidFill>
            <a:prstDash val="solid"/>
          </a:ln>
        </p:spPr>
      </p:sp>
      <p:sp>
        <p:nvSpPr>
          <p:cNvPr id="10" name="Shape 8"/>
          <p:cNvSpPr/>
          <p:nvPr/>
        </p:nvSpPr>
        <p:spPr>
          <a:xfrm>
            <a:off x="320040" y="1728216"/>
            <a:ext cx="411480" cy="713232"/>
          </a:xfrm>
          <a:prstGeom prst="rect">
            <a:avLst/>
          </a:prstGeom>
          <a:solidFill>
            <a:srgbClr val="E8873A"/>
          </a:solidFill>
          <a:ln w="12700">
            <a:solidFill>
              <a:srgbClr val="E8873A"/>
            </a:solidFill>
            <a:prstDash val="solid"/>
          </a:ln>
        </p:spPr>
      </p:sp>
      <p:sp>
        <p:nvSpPr>
          <p:cNvPr id="11" name="Text 9"/>
          <p:cNvSpPr/>
          <p:nvPr/>
        </p:nvSpPr>
        <p:spPr>
          <a:xfrm>
            <a:off x="320040" y="1911096"/>
            <a:ext cx="411480" cy="347472"/>
          </a:xfrm>
          <a:prstGeom prst="rect">
            <a:avLst/>
          </a:prstGeom>
          <a:noFill/>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2" name="Text 10"/>
          <p:cNvSpPr/>
          <p:nvPr/>
        </p:nvSpPr>
        <p:spPr>
          <a:xfrm>
            <a:off x="822960" y="1764792"/>
            <a:ext cx="7909560" cy="274320"/>
          </a:xfrm>
          <a:prstGeom prst="rect">
            <a:avLst/>
          </a:prstGeom>
          <a:noFill/>
        </p:spPr>
        <p:txBody>
          <a:bodyPr wrap="square" rtlCol="0" anchor="ctr"/>
          <a:lstStyle/>
          <a:p>
            <a:pPr marL="0" indent="0">
              <a:buNone/>
            </a:pPr>
            <a:r>
              <a:rPr lang="en-US" sz="1150" b="1" dirty="0">
                <a:solidFill>
                  <a:srgbClr val="0D1B2A"/>
                </a:solidFill>
              </a:rPr>
              <a:t>73.2% face delays — but still rate it 4.09/5</a:t>
            </a:r>
            <a:endParaRPr lang="en-US" sz="1150" dirty="0"/>
          </a:p>
        </p:txBody>
      </p:sp>
      <p:sp>
        <p:nvSpPr>
          <p:cNvPr id="13" name="Text 11"/>
          <p:cNvSpPr/>
          <p:nvPr/>
        </p:nvSpPr>
        <p:spPr>
          <a:xfrm>
            <a:off x="822960" y="2075688"/>
            <a:ext cx="7909560" cy="320040"/>
          </a:xfrm>
          <a:prstGeom prst="rect">
            <a:avLst/>
          </a:prstGeom>
          <a:noFill/>
        </p:spPr>
        <p:txBody>
          <a:bodyPr wrap="square" rtlCol="0" anchor="ctr"/>
          <a:lstStyle/>
          <a:p>
            <a:pPr marL="0" indent="0">
              <a:buNone/>
            </a:pPr>
            <a:r>
              <a:rPr lang="en-US" sz="1000" dirty="0">
                <a:solidFill>
                  <a:srgbClr val="1E293B"/>
                </a:solidFill>
              </a:rPr>
              <a:t>This is a well-known pattern called 'tolerance absorption' in transport research. Minor delays are accepted as long as the overall service feels reliable.</a:t>
            </a:r>
            <a:endParaRPr lang="en-US" sz="1000" dirty="0"/>
          </a:p>
        </p:txBody>
      </p:sp>
      <p:sp>
        <p:nvSpPr>
          <p:cNvPr id="14" name="Shape 12"/>
          <p:cNvSpPr/>
          <p:nvPr/>
        </p:nvSpPr>
        <p:spPr>
          <a:xfrm>
            <a:off x="320040" y="2542032"/>
            <a:ext cx="8503920" cy="713232"/>
          </a:xfrm>
          <a:prstGeom prst="rect">
            <a:avLst/>
          </a:prstGeom>
          <a:solidFill>
            <a:srgbClr val="FFFFFF"/>
          </a:solidFill>
          <a:ln w="12700">
            <a:solidFill>
              <a:srgbClr val="D6EAF8"/>
            </a:solidFill>
            <a:prstDash val="solid"/>
          </a:ln>
        </p:spPr>
      </p:sp>
      <p:sp>
        <p:nvSpPr>
          <p:cNvPr id="15" name="Shape 13"/>
          <p:cNvSpPr/>
          <p:nvPr/>
        </p:nvSpPr>
        <p:spPr>
          <a:xfrm>
            <a:off x="320040" y="2542032"/>
            <a:ext cx="411480" cy="713232"/>
          </a:xfrm>
          <a:prstGeom prst="rect">
            <a:avLst/>
          </a:prstGeom>
          <a:solidFill>
            <a:srgbClr val="1A7FAD"/>
          </a:solidFill>
          <a:ln w="12700">
            <a:solidFill>
              <a:srgbClr val="1A7FAD"/>
            </a:solidFill>
            <a:prstDash val="solid"/>
          </a:ln>
        </p:spPr>
      </p:sp>
      <p:sp>
        <p:nvSpPr>
          <p:cNvPr id="16" name="Text 14"/>
          <p:cNvSpPr/>
          <p:nvPr/>
        </p:nvSpPr>
        <p:spPr>
          <a:xfrm>
            <a:off x="320040" y="2724912"/>
            <a:ext cx="411480" cy="347472"/>
          </a:xfrm>
          <a:prstGeom prst="rect">
            <a:avLst/>
          </a:prstGeom>
          <a:noFill/>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Text 15"/>
          <p:cNvSpPr/>
          <p:nvPr/>
        </p:nvSpPr>
        <p:spPr>
          <a:xfrm>
            <a:off x="822960" y="2578608"/>
            <a:ext cx="7909560" cy="274320"/>
          </a:xfrm>
          <a:prstGeom prst="rect">
            <a:avLst/>
          </a:prstGeom>
          <a:noFill/>
        </p:spPr>
        <p:txBody>
          <a:bodyPr wrap="square" rtlCol="0" anchor="ctr"/>
          <a:lstStyle/>
          <a:p>
            <a:pPr marL="0" indent="0">
              <a:buNone/>
            </a:pPr>
            <a:r>
              <a:rPr lang="en-US" sz="1150" b="1" dirty="0">
                <a:solidFill>
                  <a:srgbClr val="0D1B2A"/>
                </a:solidFill>
              </a:rPr>
              <a:t>Afternoon slot (10AM–4PM) is critical</a:t>
            </a:r>
            <a:endParaRPr lang="en-US" sz="1150" dirty="0"/>
          </a:p>
        </p:txBody>
      </p:sp>
      <p:sp>
        <p:nvSpPr>
          <p:cNvPr id="18" name="Text 16"/>
          <p:cNvSpPr/>
          <p:nvPr/>
        </p:nvSpPr>
        <p:spPr>
          <a:xfrm>
            <a:off x="822960" y="2889504"/>
            <a:ext cx="7909560" cy="320040"/>
          </a:xfrm>
          <a:prstGeom prst="rect">
            <a:avLst/>
          </a:prstGeom>
          <a:noFill/>
        </p:spPr>
        <p:txBody>
          <a:bodyPr wrap="square" rtlCol="0" anchor="ctr"/>
          <a:lstStyle/>
          <a:p>
            <a:pPr marL="0" indent="0">
              <a:buNone/>
            </a:pPr>
            <a:r>
              <a:rPr lang="en-US" sz="1000" dirty="0">
                <a:solidFill>
                  <a:srgbClr val="1E293B"/>
                </a:solidFill>
              </a:rPr>
              <a:t>51.2% of all travel happens in this window. Any delay during this time hits the maximum number of commuters, mostly students heading home from college.</a:t>
            </a:r>
            <a:endParaRPr lang="en-US" sz="1000" dirty="0"/>
          </a:p>
        </p:txBody>
      </p:sp>
      <p:sp>
        <p:nvSpPr>
          <p:cNvPr id="19" name="Shape 17"/>
          <p:cNvSpPr/>
          <p:nvPr/>
        </p:nvSpPr>
        <p:spPr>
          <a:xfrm>
            <a:off x="320040" y="3355848"/>
            <a:ext cx="8503920" cy="713232"/>
          </a:xfrm>
          <a:prstGeom prst="rect">
            <a:avLst/>
          </a:prstGeom>
          <a:solidFill>
            <a:srgbClr val="FFFFFF"/>
          </a:solidFill>
          <a:ln w="12700">
            <a:solidFill>
              <a:srgbClr val="D6EAF8"/>
            </a:solidFill>
            <a:prstDash val="solid"/>
          </a:ln>
        </p:spPr>
      </p:sp>
      <p:sp>
        <p:nvSpPr>
          <p:cNvPr id="20" name="Shape 18"/>
          <p:cNvSpPr/>
          <p:nvPr/>
        </p:nvSpPr>
        <p:spPr>
          <a:xfrm>
            <a:off x="320040" y="3355848"/>
            <a:ext cx="411480" cy="713232"/>
          </a:xfrm>
          <a:prstGeom prst="rect">
            <a:avLst/>
          </a:prstGeom>
          <a:solidFill>
            <a:srgbClr val="E8873A"/>
          </a:solidFill>
          <a:ln w="12700">
            <a:solidFill>
              <a:srgbClr val="E8873A"/>
            </a:solidFill>
            <a:prstDash val="solid"/>
          </a:ln>
        </p:spPr>
      </p:sp>
      <p:sp>
        <p:nvSpPr>
          <p:cNvPr id="21" name="Text 19"/>
          <p:cNvSpPr/>
          <p:nvPr/>
        </p:nvSpPr>
        <p:spPr>
          <a:xfrm>
            <a:off x="320040" y="3538728"/>
            <a:ext cx="411480" cy="347472"/>
          </a:xfrm>
          <a:prstGeom prst="rect">
            <a:avLst/>
          </a:prstGeom>
          <a:noFill/>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p:nvPr/>
        </p:nvSpPr>
        <p:spPr>
          <a:xfrm>
            <a:off x="822960" y="3392424"/>
            <a:ext cx="7909560" cy="274320"/>
          </a:xfrm>
          <a:prstGeom prst="rect">
            <a:avLst/>
          </a:prstGeom>
          <a:noFill/>
        </p:spPr>
        <p:txBody>
          <a:bodyPr wrap="square" rtlCol="0" anchor="ctr"/>
          <a:lstStyle/>
          <a:p>
            <a:pPr marL="0" indent="0">
              <a:buNone/>
            </a:pPr>
            <a:r>
              <a:rPr lang="en-US" sz="1150" b="1" dirty="0">
                <a:solidFill>
                  <a:srgbClr val="0D1B2A"/>
                </a:solidFill>
              </a:rPr>
              <a:t>Staff behaviour is a real strength</a:t>
            </a:r>
            <a:endParaRPr lang="en-US" sz="1150" dirty="0"/>
          </a:p>
        </p:txBody>
      </p:sp>
      <p:sp>
        <p:nvSpPr>
          <p:cNvPr id="23" name="Text 21"/>
          <p:cNvSpPr/>
          <p:nvPr/>
        </p:nvSpPr>
        <p:spPr>
          <a:xfrm>
            <a:off x="822960" y="3703320"/>
            <a:ext cx="7909560" cy="320040"/>
          </a:xfrm>
          <a:prstGeom prst="rect">
            <a:avLst/>
          </a:prstGeom>
          <a:noFill/>
        </p:spPr>
        <p:txBody>
          <a:bodyPr wrap="square" rtlCol="0" anchor="ctr"/>
          <a:lstStyle/>
          <a:p>
            <a:pPr marL="0" indent="0">
              <a:buNone/>
            </a:pPr>
            <a:r>
              <a:rPr lang="en-US" sz="1000" dirty="0">
                <a:solidFill>
                  <a:srgbClr val="1E293B"/>
                </a:solidFill>
              </a:rPr>
              <a:t>85.4% rated staff Good or Excellent. Good staff interaction reduces frustration when delays occur — and Nagpur Metro is doing this right.</a:t>
            </a:r>
            <a:endParaRPr lang="en-US" sz="1000" dirty="0"/>
          </a:p>
        </p:txBody>
      </p:sp>
      <p:sp>
        <p:nvSpPr>
          <p:cNvPr id="24" name="Shape 22"/>
          <p:cNvSpPr/>
          <p:nvPr/>
        </p:nvSpPr>
        <p:spPr>
          <a:xfrm>
            <a:off x="320040" y="4169664"/>
            <a:ext cx="8503920" cy="713232"/>
          </a:xfrm>
          <a:prstGeom prst="rect">
            <a:avLst/>
          </a:prstGeom>
          <a:solidFill>
            <a:srgbClr val="FFFFFF"/>
          </a:solidFill>
          <a:ln w="12700">
            <a:solidFill>
              <a:srgbClr val="D6EAF8"/>
            </a:solidFill>
            <a:prstDash val="solid"/>
          </a:ln>
        </p:spPr>
      </p:sp>
      <p:sp>
        <p:nvSpPr>
          <p:cNvPr id="25" name="Shape 23"/>
          <p:cNvSpPr/>
          <p:nvPr/>
        </p:nvSpPr>
        <p:spPr>
          <a:xfrm>
            <a:off x="320040" y="4169664"/>
            <a:ext cx="411480" cy="713232"/>
          </a:xfrm>
          <a:prstGeom prst="rect">
            <a:avLst/>
          </a:prstGeom>
          <a:solidFill>
            <a:srgbClr val="1A7FAD"/>
          </a:solidFill>
          <a:ln w="12700">
            <a:solidFill>
              <a:srgbClr val="1A7FAD"/>
            </a:solidFill>
            <a:prstDash val="solid"/>
          </a:ln>
        </p:spPr>
      </p:sp>
      <p:sp>
        <p:nvSpPr>
          <p:cNvPr id="26" name="Text 24"/>
          <p:cNvSpPr/>
          <p:nvPr/>
        </p:nvSpPr>
        <p:spPr>
          <a:xfrm>
            <a:off x="320040" y="4352544"/>
            <a:ext cx="411480" cy="347472"/>
          </a:xfrm>
          <a:prstGeom prst="rect">
            <a:avLst/>
          </a:prstGeom>
          <a:noFill/>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7" name="Text 25"/>
          <p:cNvSpPr/>
          <p:nvPr/>
        </p:nvSpPr>
        <p:spPr>
          <a:xfrm>
            <a:off x="822960" y="4206240"/>
            <a:ext cx="7909560" cy="274320"/>
          </a:xfrm>
          <a:prstGeom prst="rect">
            <a:avLst/>
          </a:prstGeom>
          <a:noFill/>
        </p:spPr>
        <p:txBody>
          <a:bodyPr wrap="square" rtlCol="0" anchor="ctr"/>
          <a:lstStyle/>
          <a:p>
            <a:pPr marL="0" indent="0">
              <a:buNone/>
            </a:pPr>
            <a:r>
              <a:rPr lang="en-US" sz="1150" b="1" dirty="0">
                <a:solidFill>
                  <a:srgbClr val="0D1B2A"/>
                </a:solidFill>
              </a:rPr>
              <a:t>90% punctuality is good but not enough</a:t>
            </a:r>
            <a:endParaRPr lang="en-US" sz="1150" dirty="0"/>
          </a:p>
        </p:txBody>
      </p:sp>
      <p:sp>
        <p:nvSpPr>
          <p:cNvPr id="28" name="Text 26"/>
          <p:cNvSpPr/>
          <p:nvPr/>
        </p:nvSpPr>
        <p:spPr>
          <a:xfrm>
            <a:off x="822960" y="4517136"/>
            <a:ext cx="7909560" cy="320040"/>
          </a:xfrm>
          <a:prstGeom prst="rect">
            <a:avLst/>
          </a:prstGeom>
          <a:noFill/>
        </p:spPr>
        <p:txBody>
          <a:bodyPr wrap="square" rtlCol="0" anchor="ctr"/>
          <a:lstStyle/>
          <a:p>
            <a:pPr marL="0" indent="0">
              <a:buNone/>
            </a:pPr>
            <a:r>
              <a:rPr lang="en-US" sz="1000" dirty="0">
                <a:solidFill>
                  <a:srgbClr val="1E293B"/>
                </a:solidFill>
              </a:rPr>
              <a:t>Tokyo runs at 98%, Delhi at 95%. Nagpur has a 5–8% gap to close. This is a strategic priority for MahaMetro going forward.</a:t>
            </a:r>
            <a:endParaRPr lang="en-US" sz="1000" dirty="0"/>
          </a:p>
        </p:txBody>
      </p:sp>
      <p:sp>
        <p:nvSpPr>
          <p:cNvPr id="29" name="Shape 27"/>
          <p:cNvSpPr/>
          <p:nvPr/>
        </p:nvSpPr>
        <p:spPr>
          <a:xfrm>
            <a:off x="0" y="4800600"/>
            <a:ext cx="9144000" cy="342900"/>
          </a:xfrm>
          <a:prstGeom prst="rect">
            <a:avLst/>
          </a:prstGeom>
          <a:solidFill>
            <a:srgbClr val="1A7FAD"/>
          </a:solidFill>
          <a:ln w="12700">
            <a:solidFill>
              <a:srgbClr val="1A7FAD"/>
            </a:solidFill>
            <a:prstDash val="solid"/>
          </a:ln>
        </p:spPr>
      </p:sp>
      <p:sp>
        <p:nvSpPr>
          <p:cNvPr id="30" name="Text 28"/>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Nagpur Metro has changed urban mobility in a Tier-2 city — and the data backs it up.</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2200" b="1" dirty="0">
                <a:solidFill>
                  <a:srgbClr val="FFFFFF"/>
                </a:solidFill>
              </a:rPr>
              <a:t>CHAPTER 7 — Recommendations</a:t>
            </a:r>
            <a:endParaRPr lang="en-US" sz="2200" dirty="0"/>
          </a:p>
        </p:txBody>
      </p:sp>
      <p:sp>
        <p:nvSpPr>
          <p:cNvPr id="4" name="Shape 2"/>
          <p:cNvSpPr/>
          <p:nvPr/>
        </p:nvSpPr>
        <p:spPr>
          <a:xfrm>
            <a:off x="274320" y="914400"/>
            <a:ext cx="2788920" cy="3977640"/>
          </a:xfrm>
          <a:prstGeom prst="rect">
            <a:avLst/>
          </a:prstGeom>
          <a:solidFill>
            <a:srgbClr val="FFFFFF"/>
          </a:solidFill>
          <a:ln w="12700">
            <a:solidFill>
              <a:srgbClr val="D6EAF8"/>
            </a:solidFill>
            <a:prstDash val="solid"/>
          </a:ln>
        </p:spPr>
      </p:sp>
      <p:sp>
        <p:nvSpPr>
          <p:cNvPr id="5" name="Shape 3"/>
          <p:cNvSpPr/>
          <p:nvPr/>
        </p:nvSpPr>
        <p:spPr>
          <a:xfrm>
            <a:off x="274320" y="914400"/>
            <a:ext cx="2788920" cy="384048"/>
          </a:xfrm>
          <a:prstGeom prst="rect">
            <a:avLst/>
          </a:prstGeom>
          <a:solidFill>
            <a:srgbClr val="1A7FAD"/>
          </a:solidFill>
          <a:ln w="12700">
            <a:solidFill>
              <a:srgbClr val="1A7FAD"/>
            </a:solidFill>
            <a:prstDash val="solid"/>
          </a:ln>
        </p:spPr>
      </p:sp>
      <p:sp>
        <p:nvSpPr>
          <p:cNvPr id="6" name="Text 4"/>
          <p:cNvSpPr/>
          <p:nvPr/>
        </p:nvSpPr>
        <p:spPr>
          <a:xfrm>
            <a:off x="365760" y="932688"/>
            <a:ext cx="2606040" cy="329184"/>
          </a:xfrm>
          <a:prstGeom prst="rect">
            <a:avLst/>
          </a:prstGeom>
          <a:noFill/>
        </p:spPr>
        <p:txBody>
          <a:bodyPr wrap="square" rtlCol="0" anchor="ctr"/>
          <a:lstStyle/>
          <a:p>
            <a:pPr marL="0" indent="0">
              <a:buNone/>
            </a:pPr>
            <a:r>
              <a:rPr lang="en-US" sz="1200" b="1" dirty="0">
                <a:solidFill>
                  <a:srgbClr val="FFFFFF"/>
                </a:solidFill>
              </a:rPr>
              <a:t>Operations</a:t>
            </a:r>
            <a:endParaRPr lang="en-US" sz="1200" dirty="0"/>
          </a:p>
        </p:txBody>
      </p:sp>
      <p:sp>
        <p:nvSpPr>
          <p:cNvPr id="7" name="Shape 5"/>
          <p:cNvSpPr/>
          <p:nvPr/>
        </p:nvSpPr>
        <p:spPr>
          <a:xfrm>
            <a:off x="365760" y="1453896"/>
            <a:ext cx="256032" cy="256032"/>
          </a:xfrm>
          <a:prstGeom prst="ellipse">
            <a:avLst/>
          </a:prstGeom>
          <a:solidFill>
            <a:srgbClr val="1A7FAD"/>
          </a:solidFill>
          <a:ln w="12700">
            <a:solidFill>
              <a:srgbClr val="1A7FAD"/>
            </a:solidFill>
            <a:prstDash val="solid"/>
          </a:ln>
        </p:spPr>
      </p:sp>
      <p:sp>
        <p:nvSpPr>
          <p:cNvPr id="8" name="Text 6"/>
          <p:cNvSpPr/>
          <p:nvPr/>
        </p:nvSpPr>
        <p:spPr>
          <a:xfrm>
            <a:off x="685800" y="1417320"/>
            <a:ext cx="2286000" cy="868680"/>
          </a:xfrm>
          <a:prstGeom prst="rect">
            <a:avLst/>
          </a:prstGeom>
          <a:noFill/>
        </p:spPr>
        <p:txBody>
          <a:bodyPr wrap="square" rtlCol="0" anchor="ctr"/>
          <a:lstStyle/>
          <a:p>
            <a:pPr marL="0" indent="0">
              <a:buNone/>
            </a:pPr>
            <a:r>
              <a:rPr lang="en-US" sz="1000" dirty="0">
                <a:solidFill>
                  <a:srgbClr val="1E293B"/>
                </a:solidFill>
              </a:rPr>
              <a:t>Increase train frequency during 10AM–4PM (51.2% of travel is here)</a:t>
            </a:r>
            <a:endParaRPr lang="en-US" sz="1000" dirty="0"/>
          </a:p>
        </p:txBody>
      </p:sp>
      <p:sp>
        <p:nvSpPr>
          <p:cNvPr id="9" name="Shape 7"/>
          <p:cNvSpPr/>
          <p:nvPr/>
        </p:nvSpPr>
        <p:spPr>
          <a:xfrm>
            <a:off x="365760" y="2459736"/>
            <a:ext cx="256032" cy="256032"/>
          </a:xfrm>
          <a:prstGeom prst="ellipse">
            <a:avLst/>
          </a:prstGeom>
          <a:solidFill>
            <a:srgbClr val="1A7FAD"/>
          </a:solidFill>
          <a:ln w="12700">
            <a:solidFill>
              <a:srgbClr val="1A7FAD"/>
            </a:solidFill>
            <a:prstDash val="solid"/>
          </a:ln>
        </p:spPr>
      </p:sp>
      <p:sp>
        <p:nvSpPr>
          <p:cNvPr id="10" name="Text 8"/>
          <p:cNvSpPr/>
          <p:nvPr/>
        </p:nvSpPr>
        <p:spPr>
          <a:xfrm>
            <a:off x="685800" y="2423160"/>
            <a:ext cx="2286000" cy="868680"/>
          </a:xfrm>
          <a:prstGeom prst="rect">
            <a:avLst/>
          </a:prstGeom>
          <a:noFill/>
        </p:spPr>
        <p:txBody>
          <a:bodyPr wrap="square" rtlCol="0" anchor="ctr"/>
          <a:lstStyle/>
          <a:p>
            <a:pPr marL="0" indent="0">
              <a:buNone/>
            </a:pPr>
            <a:r>
              <a:rPr lang="en-US" sz="1000" dirty="0">
                <a:solidFill>
                  <a:srgbClr val="1E293B"/>
                </a:solidFill>
              </a:rPr>
              <a:t>Reduce headways to 5–7 min during morning &amp; afternoon peak</a:t>
            </a:r>
            <a:endParaRPr lang="en-US" sz="1000" dirty="0"/>
          </a:p>
        </p:txBody>
      </p:sp>
      <p:sp>
        <p:nvSpPr>
          <p:cNvPr id="11" name="Shape 9"/>
          <p:cNvSpPr/>
          <p:nvPr/>
        </p:nvSpPr>
        <p:spPr>
          <a:xfrm>
            <a:off x="365760" y="3465576"/>
            <a:ext cx="256032" cy="256032"/>
          </a:xfrm>
          <a:prstGeom prst="ellipse">
            <a:avLst/>
          </a:prstGeom>
          <a:solidFill>
            <a:srgbClr val="1A7FAD"/>
          </a:solidFill>
          <a:ln w="12700">
            <a:solidFill>
              <a:srgbClr val="1A7FAD"/>
            </a:solidFill>
            <a:prstDash val="solid"/>
          </a:ln>
        </p:spPr>
      </p:sp>
      <p:sp>
        <p:nvSpPr>
          <p:cNvPr id="12" name="Text 10"/>
          <p:cNvSpPr/>
          <p:nvPr/>
        </p:nvSpPr>
        <p:spPr>
          <a:xfrm>
            <a:off x="685800" y="3429000"/>
            <a:ext cx="2286000" cy="868680"/>
          </a:xfrm>
          <a:prstGeom prst="rect">
            <a:avLst/>
          </a:prstGeom>
          <a:noFill/>
        </p:spPr>
        <p:txBody>
          <a:bodyPr wrap="square" rtlCol="0" anchor="ctr"/>
          <a:lstStyle/>
          <a:p>
            <a:pPr marL="0" indent="0">
              <a:buNone/>
            </a:pPr>
            <a:r>
              <a:rPr lang="en-US" sz="1000" dirty="0">
                <a:solidFill>
                  <a:srgbClr val="1E293B"/>
                </a:solidFill>
              </a:rPr>
              <a:t>Adopt AI-based predictive maintenance (benchmark: Delhi Metro)</a:t>
            </a:r>
            <a:endParaRPr lang="en-US" sz="1000" dirty="0"/>
          </a:p>
        </p:txBody>
      </p:sp>
      <p:sp>
        <p:nvSpPr>
          <p:cNvPr id="13" name="Shape 11"/>
          <p:cNvSpPr/>
          <p:nvPr/>
        </p:nvSpPr>
        <p:spPr>
          <a:xfrm>
            <a:off x="3200400" y="914400"/>
            <a:ext cx="2788920" cy="3977640"/>
          </a:xfrm>
          <a:prstGeom prst="rect">
            <a:avLst/>
          </a:prstGeom>
          <a:solidFill>
            <a:srgbClr val="FFFFFF"/>
          </a:solidFill>
          <a:ln w="12700">
            <a:solidFill>
              <a:srgbClr val="D6EAF8"/>
            </a:solidFill>
            <a:prstDash val="solid"/>
          </a:ln>
        </p:spPr>
      </p:sp>
      <p:sp>
        <p:nvSpPr>
          <p:cNvPr id="14" name="Shape 12"/>
          <p:cNvSpPr/>
          <p:nvPr/>
        </p:nvSpPr>
        <p:spPr>
          <a:xfrm>
            <a:off x="3200400" y="914400"/>
            <a:ext cx="2788920" cy="384048"/>
          </a:xfrm>
          <a:prstGeom prst="rect">
            <a:avLst/>
          </a:prstGeom>
          <a:solidFill>
            <a:srgbClr val="1B2A4A"/>
          </a:solidFill>
          <a:ln w="12700">
            <a:solidFill>
              <a:srgbClr val="1B2A4A"/>
            </a:solidFill>
            <a:prstDash val="solid"/>
          </a:ln>
        </p:spPr>
      </p:sp>
      <p:sp>
        <p:nvSpPr>
          <p:cNvPr id="15" name="Text 13"/>
          <p:cNvSpPr/>
          <p:nvPr/>
        </p:nvSpPr>
        <p:spPr>
          <a:xfrm>
            <a:off x="3291840" y="932688"/>
            <a:ext cx="2606040" cy="329184"/>
          </a:xfrm>
          <a:prstGeom prst="rect">
            <a:avLst/>
          </a:prstGeom>
          <a:noFill/>
        </p:spPr>
        <p:txBody>
          <a:bodyPr wrap="square" rtlCol="0" anchor="ctr"/>
          <a:lstStyle/>
          <a:p>
            <a:pPr marL="0" indent="0">
              <a:buNone/>
            </a:pPr>
            <a:r>
              <a:rPr lang="en-US" sz="1200" b="1" dirty="0">
                <a:solidFill>
                  <a:srgbClr val="FFFFFF"/>
                </a:solidFill>
              </a:rPr>
              <a:t>Technology</a:t>
            </a:r>
            <a:endParaRPr lang="en-US" sz="1200" dirty="0"/>
          </a:p>
        </p:txBody>
      </p:sp>
      <p:sp>
        <p:nvSpPr>
          <p:cNvPr id="16" name="Shape 14"/>
          <p:cNvSpPr/>
          <p:nvPr/>
        </p:nvSpPr>
        <p:spPr>
          <a:xfrm>
            <a:off x="3291840" y="1453896"/>
            <a:ext cx="256032" cy="256032"/>
          </a:xfrm>
          <a:prstGeom prst="ellipse">
            <a:avLst/>
          </a:prstGeom>
          <a:solidFill>
            <a:srgbClr val="1B2A4A"/>
          </a:solidFill>
          <a:ln w="12700">
            <a:solidFill>
              <a:srgbClr val="1B2A4A"/>
            </a:solidFill>
            <a:prstDash val="solid"/>
          </a:ln>
        </p:spPr>
      </p:sp>
      <p:sp>
        <p:nvSpPr>
          <p:cNvPr id="17" name="Text 15"/>
          <p:cNvSpPr/>
          <p:nvPr/>
        </p:nvSpPr>
        <p:spPr>
          <a:xfrm>
            <a:off x="3611880" y="1417320"/>
            <a:ext cx="2286000" cy="868680"/>
          </a:xfrm>
          <a:prstGeom prst="rect">
            <a:avLst/>
          </a:prstGeom>
          <a:noFill/>
        </p:spPr>
        <p:txBody>
          <a:bodyPr wrap="square" rtlCol="0" anchor="ctr"/>
          <a:lstStyle/>
          <a:p>
            <a:pPr marL="0" indent="0">
              <a:buNone/>
            </a:pPr>
            <a:r>
              <a:rPr lang="en-US" sz="1000" dirty="0">
                <a:solidFill>
                  <a:srgbClr val="1E293B"/>
                </a:solidFill>
              </a:rPr>
              <a:t>Launch live train tracking on MahaMetro app + station display boards</a:t>
            </a:r>
            <a:endParaRPr lang="en-US" sz="1000" dirty="0"/>
          </a:p>
        </p:txBody>
      </p:sp>
      <p:sp>
        <p:nvSpPr>
          <p:cNvPr id="18" name="Shape 16"/>
          <p:cNvSpPr/>
          <p:nvPr/>
        </p:nvSpPr>
        <p:spPr>
          <a:xfrm>
            <a:off x="3291840" y="2459736"/>
            <a:ext cx="256032" cy="256032"/>
          </a:xfrm>
          <a:prstGeom prst="ellipse">
            <a:avLst/>
          </a:prstGeom>
          <a:solidFill>
            <a:srgbClr val="1B2A4A"/>
          </a:solidFill>
          <a:ln w="12700">
            <a:solidFill>
              <a:srgbClr val="1B2A4A"/>
            </a:solidFill>
            <a:prstDash val="solid"/>
          </a:ln>
        </p:spPr>
      </p:sp>
      <p:sp>
        <p:nvSpPr>
          <p:cNvPr id="19" name="Text 17"/>
          <p:cNvSpPr/>
          <p:nvPr/>
        </p:nvSpPr>
        <p:spPr>
          <a:xfrm>
            <a:off x="3611880" y="2423160"/>
            <a:ext cx="2286000" cy="868680"/>
          </a:xfrm>
          <a:prstGeom prst="rect">
            <a:avLst/>
          </a:prstGeom>
          <a:noFill/>
        </p:spPr>
        <p:txBody>
          <a:bodyPr wrap="square" rtlCol="0" anchor="ctr"/>
          <a:lstStyle/>
          <a:p>
            <a:pPr marL="0" indent="0">
              <a:buNone/>
            </a:pPr>
            <a:r>
              <a:rPr lang="en-US" sz="1000" dirty="0">
                <a:solidFill>
                  <a:srgbClr val="1E293B"/>
                </a:solidFill>
              </a:rPr>
              <a:t>Real-time delay notifications — reduces frustration even when delays happen</a:t>
            </a:r>
            <a:endParaRPr lang="en-US" sz="1000" dirty="0"/>
          </a:p>
        </p:txBody>
      </p:sp>
      <p:sp>
        <p:nvSpPr>
          <p:cNvPr id="20" name="Shape 18"/>
          <p:cNvSpPr/>
          <p:nvPr/>
        </p:nvSpPr>
        <p:spPr>
          <a:xfrm>
            <a:off x="3291840" y="3465576"/>
            <a:ext cx="256032" cy="256032"/>
          </a:xfrm>
          <a:prstGeom prst="ellipse">
            <a:avLst/>
          </a:prstGeom>
          <a:solidFill>
            <a:srgbClr val="1B2A4A"/>
          </a:solidFill>
          <a:ln w="12700">
            <a:solidFill>
              <a:srgbClr val="1B2A4A"/>
            </a:solidFill>
            <a:prstDash val="solid"/>
          </a:ln>
        </p:spPr>
      </p:sp>
      <p:sp>
        <p:nvSpPr>
          <p:cNvPr id="21" name="Text 19"/>
          <p:cNvSpPr/>
          <p:nvPr/>
        </p:nvSpPr>
        <p:spPr>
          <a:xfrm>
            <a:off x="3611880" y="3429000"/>
            <a:ext cx="2286000" cy="868680"/>
          </a:xfrm>
          <a:prstGeom prst="rect">
            <a:avLst/>
          </a:prstGeom>
          <a:noFill/>
        </p:spPr>
        <p:txBody>
          <a:bodyPr wrap="square" rtlCol="0" anchor="ctr"/>
          <a:lstStyle/>
          <a:p>
            <a:pPr marL="0" indent="0">
              <a:buNone/>
            </a:pPr>
            <a:r>
              <a:rPr lang="en-US" sz="1000" dirty="0">
                <a:solidFill>
                  <a:srgbClr val="1E293B"/>
                </a:solidFill>
              </a:rPr>
              <a:t>Use dashboards (Python/Excel) for ridership &amp; delay pattern monitoring</a:t>
            </a:r>
            <a:endParaRPr lang="en-US" sz="1000" dirty="0"/>
          </a:p>
        </p:txBody>
      </p:sp>
      <p:sp>
        <p:nvSpPr>
          <p:cNvPr id="22" name="Shape 20"/>
          <p:cNvSpPr/>
          <p:nvPr/>
        </p:nvSpPr>
        <p:spPr>
          <a:xfrm>
            <a:off x="6126480" y="914400"/>
            <a:ext cx="2788920" cy="3977640"/>
          </a:xfrm>
          <a:prstGeom prst="rect">
            <a:avLst/>
          </a:prstGeom>
          <a:solidFill>
            <a:srgbClr val="FFFFFF"/>
          </a:solidFill>
          <a:ln w="12700">
            <a:solidFill>
              <a:srgbClr val="D6EAF8"/>
            </a:solidFill>
            <a:prstDash val="solid"/>
          </a:ln>
        </p:spPr>
      </p:sp>
      <p:sp>
        <p:nvSpPr>
          <p:cNvPr id="23" name="Shape 21"/>
          <p:cNvSpPr/>
          <p:nvPr/>
        </p:nvSpPr>
        <p:spPr>
          <a:xfrm>
            <a:off x="6126480" y="914400"/>
            <a:ext cx="2788920" cy="384048"/>
          </a:xfrm>
          <a:prstGeom prst="rect">
            <a:avLst/>
          </a:prstGeom>
          <a:solidFill>
            <a:srgbClr val="E8873A"/>
          </a:solidFill>
          <a:ln w="12700">
            <a:solidFill>
              <a:srgbClr val="E8873A"/>
            </a:solidFill>
            <a:prstDash val="solid"/>
          </a:ln>
        </p:spPr>
      </p:sp>
      <p:sp>
        <p:nvSpPr>
          <p:cNvPr id="24" name="Text 22"/>
          <p:cNvSpPr/>
          <p:nvPr/>
        </p:nvSpPr>
        <p:spPr>
          <a:xfrm>
            <a:off x="6217920" y="932688"/>
            <a:ext cx="2606040" cy="329184"/>
          </a:xfrm>
          <a:prstGeom prst="rect">
            <a:avLst/>
          </a:prstGeom>
          <a:noFill/>
        </p:spPr>
        <p:txBody>
          <a:bodyPr wrap="square" rtlCol="0" anchor="ctr"/>
          <a:lstStyle/>
          <a:p>
            <a:pPr marL="0" indent="0">
              <a:buNone/>
            </a:pPr>
            <a:r>
              <a:rPr lang="en-US" sz="1200" b="1" dirty="0">
                <a:solidFill>
                  <a:srgbClr val="FFFFFF"/>
                </a:solidFill>
              </a:rPr>
              <a:t>Ridership</a:t>
            </a:r>
            <a:endParaRPr lang="en-US" sz="1200" dirty="0"/>
          </a:p>
        </p:txBody>
      </p:sp>
      <p:sp>
        <p:nvSpPr>
          <p:cNvPr id="25" name="Shape 23"/>
          <p:cNvSpPr/>
          <p:nvPr/>
        </p:nvSpPr>
        <p:spPr>
          <a:xfrm>
            <a:off x="6217920" y="1453896"/>
            <a:ext cx="256032" cy="256032"/>
          </a:xfrm>
          <a:prstGeom prst="ellipse">
            <a:avLst/>
          </a:prstGeom>
          <a:solidFill>
            <a:srgbClr val="E8873A"/>
          </a:solidFill>
          <a:ln w="12700">
            <a:solidFill>
              <a:srgbClr val="E8873A"/>
            </a:solidFill>
            <a:prstDash val="solid"/>
          </a:ln>
        </p:spPr>
      </p:sp>
      <p:sp>
        <p:nvSpPr>
          <p:cNvPr id="26" name="Text 24"/>
          <p:cNvSpPr/>
          <p:nvPr/>
        </p:nvSpPr>
        <p:spPr>
          <a:xfrm>
            <a:off x="6537960" y="1417320"/>
            <a:ext cx="2286000" cy="868680"/>
          </a:xfrm>
          <a:prstGeom prst="rect">
            <a:avLst/>
          </a:prstGeom>
          <a:noFill/>
        </p:spPr>
        <p:txBody>
          <a:bodyPr wrap="square" rtlCol="0" anchor="ctr"/>
          <a:lstStyle/>
          <a:p>
            <a:pPr marL="0" indent="0">
              <a:buNone/>
            </a:pPr>
            <a:r>
              <a:rPr lang="en-US" sz="1000" dirty="0">
                <a:solidFill>
                  <a:srgbClr val="1E293B"/>
                </a:solidFill>
              </a:rPr>
              <a:t>Corporate tie-ups &amp; monthly pass incentives to attract working professionals</a:t>
            </a:r>
            <a:endParaRPr lang="en-US" sz="1000" dirty="0"/>
          </a:p>
        </p:txBody>
      </p:sp>
      <p:sp>
        <p:nvSpPr>
          <p:cNvPr id="27" name="Shape 25"/>
          <p:cNvSpPr/>
          <p:nvPr/>
        </p:nvSpPr>
        <p:spPr>
          <a:xfrm>
            <a:off x="6217920" y="2459736"/>
            <a:ext cx="256032" cy="256032"/>
          </a:xfrm>
          <a:prstGeom prst="ellipse">
            <a:avLst/>
          </a:prstGeom>
          <a:solidFill>
            <a:srgbClr val="E8873A"/>
          </a:solidFill>
          <a:ln w="12700">
            <a:solidFill>
              <a:srgbClr val="E8873A"/>
            </a:solidFill>
            <a:prstDash val="solid"/>
          </a:ln>
        </p:spPr>
      </p:sp>
      <p:sp>
        <p:nvSpPr>
          <p:cNvPr id="28" name="Text 26"/>
          <p:cNvSpPr/>
          <p:nvPr/>
        </p:nvSpPr>
        <p:spPr>
          <a:xfrm>
            <a:off x="6537960" y="2423160"/>
            <a:ext cx="2286000" cy="868680"/>
          </a:xfrm>
          <a:prstGeom prst="rect">
            <a:avLst/>
          </a:prstGeom>
          <a:noFill/>
        </p:spPr>
        <p:txBody>
          <a:bodyPr wrap="square" rtlCol="0" anchor="ctr"/>
          <a:lstStyle/>
          <a:p>
            <a:pPr marL="0" indent="0">
              <a:buNone/>
            </a:pPr>
            <a:r>
              <a:rPr lang="en-US" sz="1000" dirty="0">
                <a:solidFill>
                  <a:srgbClr val="1E293B"/>
                </a:solidFill>
              </a:rPr>
              <a:t>Feeder buses + e-rickshaw integration to fix last-mile connectivity</a:t>
            </a:r>
            <a:endParaRPr lang="en-US" sz="1000" dirty="0"/>
          </a:p>
        </p:txBody>
      </p:sp>
      <p:sp>
        <p:nvSpPr>
          <p:cNvPr id="29" name="Shape 27"/>
          <p:cNvSpPr/>
          <p:nvPr/>
        </p:nvSpPr>
        <p:spPr>
          <a:xfrm>
            <a:off x="6217920" y="3465576"/>
            <a:ext cx="256032" cy="256032"/>
          </a:xfrm>
          <a:prstGeom prst="ellipse">
            <a:avLst/>
          </a:prstGeom>
          <a:solidFill>
            <a:srgbClr val="E8873A"/>
          </a:solidFill>
          <a:ln w="12700">
            <a:solidFill>
              <a:srgbClr val="E8873A"/>
            </a:solidFill>
            <a:prstDash val="solid"/>
          </a:ln>
        </p:spPr>
      </p:sp>
      <p:sp>
        <p:nvSpPr>
          <p:cNvPr id="30" name="Text 28"/>
          <p:cNvSpPr/>
          <p:nvPr/>
        </p:nvSpPr>
        <p:spPr>
          <a:xfrm>
            <a:off x="6537960" y="3429000"/>
            <a:ext cx="2286000" cy="868680"/>
          </a:xfrm>
          <a:prstGeom prst="rect">
            <a:avLst/>
          </a:prstGeom>
          <a:noFill/>
        </p:spPr>
        <p:txBody>
          <a:bodyPr wrap="square" rtlCol="0" anchor="ctr"/>
          <a:lstStyle/>
          <a:p>
            <a:pPr marL="0" indent="0">
              <a:buNone/>
            </a:pPr>
            <a:r>
              <a:rPr lang="en-US" sz="1000" dirty="0">
                <a:solidFill>
                  <a:srgbClr val="1E293B"/>
                </a:solidFill>
              </a:rPr>
              <a:t>Better ramps, lifts &amp; assistance for senior citizens &amp; differently-abled commuters</a:t>
            </a:r>
            <a:endParaRPr lang="en-US" sz="1000" dirty="0"/>
          </a:p>
        </p:txBody>
      </p:sp>
      <p:sp>
        <p:nvSpPr>
          <p:cNvPr id="31" name="Shape 29"/>
          <p:cNvSpPr/>
          <p:nvPr/>
        </p:nvSpPr>
        <p:spPr>
          <a:xfrm>
            <a:off x="0" y="4800600"/>
            <a:ext cx="9144000" cy="342900"/>
          </a:xfrm>
          <a:prstGeom prst="rect">
            <a:avLst/>
          </a:prstGeom>
          <a:solidFill>
            <a:srgbClr val="1A7FAD"/>
          </a:solidFill>
          <a:ln w="12700">
            <a:solidFill>
              <a:srgbClr val="1A7FAD"/>
            </a:solidFill>
            <a:prstDash val="solid"/>
          </a:ln>
        </p:spPr>
      </p:sp>
      <p:sp>
        <p:nvSpPr>
          <p:cNvPr id="32" name="Text 30"/>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Survey commuters every 6 months to track whether improvements are working.</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137160"/>
            <a:ext cx="8412480" cy="548640"/>
          </a:xfrm>
          <a:prstGeom prst="rect">
            <a:avLst/>
          </a:prstGeom>
          <a:noFill/>
        </p:spPr>
        <p:txBody>
          <a:bodyPr wrap="square" rtlCol="0" anchor="ctr"/>
          <a:lstStyle/>
          <a:p>
            <a:pPr marL="0" indent="0" algn="l">
              <a:buNone/>
            </a:pPr>
            <a:r>
              <a:rPr lang="en-US" sz="1800" b="1" dirty="0">
                <a:solidFill>
                  <a:srgbClr val="FFFFFF"/>
                </a:solidFill>
              </a:rPr>
              <a:t>Chapter 8 — Limitations &amp; Scope for Further Research</a:t>
            </a:r>
            <a:endParaRPr lang="en-US" sz="1800" dirty="0"/>
          </a:p>
        </p:txBody>
      </p:sp>
      <p:sp>
        <p:nvSpPr>
          <p:cNvPr id="4" name="Text 2"/>
          <p:cNvSpPr/>
          <p:nvPr/>
        </p:nvSpPr>
        <p:spPr>
          <a:xfrm>
            <a:off x="365760" y="914400"/>
            <a:ext cx="4206240" cy="320040"/>
          </a:xfrm>
          <a:prstGeom prst="rect">
            <a:avLst/>
          </a:prstGeom>
          <a:noFill/>
        </p:spPr>
        <p:txBody>
          <a:bodyPr wrap="square" rtlCol="0" anchor="ctr"/>
          <a:lstStyle/>
          <a:p>
            <a:pPr marL="0" indent="0">
              <a:buNone/>
            </a:pPr>
            <a:r>
              <a:rPr lang="en-US" sz="1300" b="1" dirty="0">
                <a:solidFill>
                  <a:srgbClr val="0D1B2A"/>
                </a:solidFill>
              </a:rPr>
              <a:t>What This Study Couldn't Cover</a:t>
            </a:r>
            <a:endParaRPr lang="en-US" sz="1300" dirty="0"/>
          </a:p>
        </p:txBody>
      </p:sp>
      <p:sp>
        <p:nvSpPr>
          <p:cNvPr id="5" name="Shape 3"/>
          <p:cNvSpPr/>
          <p:nvPr/>
        </p:nvSpPr>
        <p:spPr>
          <a:xfrm>
            <a:off x="365760" y="1298448"/>
            <a:ext cx="4206240" cy="457200"/>
          </a:xfrm>
          <a:prstGeom prst="rect">
            <a:avLst/>
          </a:prstGeom>
          <a:solidFill>
            <a:srgbClr val="FFFFFF"/>
          </a:solidFill>
          <a:ln w="12700">
            <a:solidFill>
              <a:srgbClr val="D6EAF8"/>
            </a:solidFill>
            <a:prstDash val="solid"/>
          </a:ln>
        </p:spPr>
      </p:sp>
      <p:sp>
        <p:nvSpPr>
          <p:cNvPr id="6" name="Text 4"/>
          <p:cNvSpPr/>
          <p:nvPr/>
        </p:nvSpPr>
        <p:spPr>
          <a:xfrm>
            <a:off x="457200" y="1316736"/>
            <a:ext cx="4069080" cy="402336"/>
          </a:xfrm>
          <a:prstGeom prst="rect">
            <a:avLst/>
          </a:prstGeom>
          <a:noFill/>
        </p:spPr>
        <p:txBody>
          <a:bodyPr wrap="square" rtlCol="0" anchor="ctr"/>
          <a:lstStyle/>
          <a:p>
            <a:pPr marL="0" indent="0">
              <a:buNone/>
            </a:pPr>
            <a:r>
              <a:rPr lang="en-US" sz="1000" dirty="0">
                <a:solidFill>
                  <a:srgbClr val="1E293B"/>
                </a:solidFill>
              </a:rPr>
              <a:t>1. 82 responses is reasonable for a student study, but small against thousands of daily passengers</a:t>
            </a:r>
            <a:endParaRPr lang="en-US" sz="1000" dirty="0"/>
          </a:p>
        </p:txBody>
      </p:sp>
      <p:sp>
        <p:nvSpPr>
          <p:cNvPr id="7" name="Shape 5"/>
          <p:cNvSpPr/>
          <p:nvPr/>
        </p:nvSpPr>
        <p:spPr>
          <a:xfrm>
            <a:off x="365760" y="1828800"/>
            <a:ext cx="4206240" cy="457200"/>
          </a:xfrm>
          <a:prstGeom prst="rect">
            <a:avLst/>
          </a:prstGeom>
          <a:solidFill>
            <a:srgbClr val="FFFFFF"/>
          </a:solidFill>
          <a:ln w="12700">
            <a:solidFill>
              <a:srgbClr val="D6EAF8"/>
            </a:solidFill>
            <a:prstDash val="solid"/>
          </a:ln>
        </p:spPr>
      </p:sp>
      <p:sp>
        <p:nvSpPr>
          <p:cNvPr id="8" name="Text 6"/>
          <p:cNvSpPr/>
          <p:nvPr/>
        </p:nvSpPr>
        <p:spPr>
          <a:xfrm>
            <a:off x="457200" y="1847088"/>
            <a:ext cx="4069080" cy="402336"/>
          </a:xfrm>
          <a:prstGeom prst="rect">
            <a:avLst/>
          </a:prstGeom>
          <a:noFill/>
        </p:spPr>
        <p:txBody>
          <a:bodyPr wrap="square" rtlCol="0" anchor="ctr"/>
          <a:lstStyle/>
          <a:p>
            <a:pPr marL="0" indent="0">
              <a:buNone/>
            </a:pPr>
            <a:r>
              <a:rPr lang="en-US" sz="1000" dirty="0">
                <a:solidFill>
                  <a:srgbClr val="1E293B"/>
                </a:solidFill>
              </a:rPr>
              <a:t>2. All data is self-reported — not based on MahaMetro's operational records</a:t>
            </a:r>
            <a:endParaRPr lang="en-US" sz="1000" dirty="0"/>
          </a:p>
        </p:txBody>
      </p:sp>
      <p:sp>
        <p:nvSpPr>
          <p:cNvPr id="9" name="Shape 7"/>
          <p:cNvSpPr/>
          <p:nvPr/>
        </p:nvSpPr>
        <p:spPr>
          <a:xfrm>
            <a:off x="365760" y="2359152"/>
            <a:ext cx="4206240" cy="457200"/>
          </a:xfrm>
          <a:prstGeom prst="rect">
            <a:avLst/>
          </a:prstGeom>
          <a:solidFill>
            <a:srgbClr val="FFFFFF"/>
          </a:solidFill>
          <a:ln w="12700">
            <a:solidFill>
              <a:srgbClr val="D6EAF8"/>
            </a:solidFill>
            <a:prstDash val="solid"/>
          </a:ln>
        </p:spPr>
      </p:sp>
      <p:sp>
        <p:nvSpPr>
          <p:cNvPr id="10" name="Text 8"/>
          <p:cNvSpPr/>
          <p:nvPr/>
        </p:nvSpPr>
        <p:spPr>
          <a:xfrm>
            <a:off x="457200" y="2377440"/>
            <a:ext cx="4069080" cy="402336"/>
          </a:xfrm>
          <a:prstGeom prst="rect">
            <a:avLst/>
          </a:prstGeom>
          <a:noFill/>
        </p:spPr>
        <p:txBody>
          <a:bodyPr wrap="square" rtlCol="0" anchor="ctr"/>
          <a:lstStyle/>
          <a:p>
            <a:pPr marL="0" indent="0">
              <a:buNone/>
            </a:pPr>
            <a:r>
              <a:rPr lang="en-US" sz="1000" dirty="0">
                <a:solidFill>
                  <a:srgbClr val="1E293B"/>
                </a:solidFill>
              </a:rPr>
              <a:t>3. 88% of respondents are below 30 — we missed senior citizens &amp; differently-abled commuters</a:t>
            </a:r>
            <a:endParaRPr lang="en-US" sz="1000" dirty="0"/>
          </a:p>
        </p:txBody>
      </p:sp>
      <p:sp>
        <p:nvSpPr>
          <p:cNvPr id="11" name="Shape 9"/>
          <p:cNvSpPr/>
          <p:nvPr/>
        </p:nvSpPr>
        <p:spPr>
          <a:xfrm>
            <a:off x="365760" y="2889504"/>
            <a:ext cx="4206240" cy="457200"/>
          </a:xfrm>
          <a:prstGeom prst="rect">
            <a:avLst/>
          </a:prstGeom>
          <a:solidFill>
            <a:srgbClr val="FFFFFF"/>
          </a:solidFill>
          <a:ln w="12700">
            <a:solidFill>
              <a:srgbClr val="D6EAF8"/>
            </a:solidFill>
            <a:prstDash val="solid"/>
          </a:ln>
        </p:spPr>
      </p:sp>
      <p:sp>
        <p:nvSpPr>
          <p:cNvPr id="12" name="Text 10"/>
          <p:cNvSpPr/>
          <p:nvPr/>
        </p:nvSpPr>
        <p:spPr>
          <a:xfrm>
            <a:off x="457200" y="2907792"/>
            <a:ext cx="4069080" cy="402336"/>
          </a:xfrm>
          <a:prstGeom prst="rect">
            <a:avLst/>
          </a:prstGeom>
          <a:noFill/>
        </p:spPr>
        <p:txBody>
          <a:bodyPr wrap="square" rtlCol="0" anchor="ctr"/>
          <a:lstStyle/>
          <a:p>
            <a:pPr marL="0" indent="0">
              <a:buNone/>
            </a:pPr>
            <a:r>
              <a:rPr lang="en-US" sz="1000" dirty="0">
                <a:solidFill>
                  <a:srgbClr val="1E293B"/>
                </a:solidFill>
              </a:rPr>
              <a:t>4. Only covers 2025–26; no seasonal variation or Phase 3 construction disruption captured</a:t>
            </a:r>
            <a:endParaRPr lang="en-US" sz="1000" dirty="0"/>
          </a:p>
        </p:txBody>
      </p:sp>
      <p:sp>
        <p:nvSpPr>
          <p:cNvPr id="13" name="Shape 11"/>
          <p:cNvSpPr/>
          <p:nvPr/>
        </p:nvSpPr>
        <p:spPr>
          <a:xfrm>
            <a:off x="365760" y="3419856"/>
            <a:ext cx="4206240" cy="457200"/>
          </a:xfrm>
          <a:prstGeom prst="rect">
            <a:avLst/>
          </a:prstGeom>
          <a:solidFill>
            <a:srgbClr val="FFFFFF"/>
          </a:solidFill>
          <a:ln w="12700">
            <a:solidFill>
              <a:srgbClr val="D6EAF8"/>
            </a:solidFill>
            <a:prstDash val="solid"/>
          </a:ln>
        </p:spPr>
      </p:sp>
      <p:sp>
        <p:nvSpPr>
          <p:cNvPr id="14" name="Text 12"/>
          <p:cNvSpPr/>
          <p:nvPr/>
        </p:nvSpPr>
        <p:spPr>
          <a:xfrm>
            <a:off x="457200" y="3438144"/>
            <a:ext cx="4069080" cy="402336"/>
          </a:xfrm>
          <a:prstGeom prst="rect">
            <a:avLst/>
          </a:prstGeom>
          <a:noFill/>
        </p:spPr>
        <p:txBody>
          <a:bodyPr wrap="square" rtlCol="0" anchor="ctr"/>
          <a:lstStyle/>
          <a:p>
            <a:pPr marL="0" indent="0">
              <a:buNone/>
            </a:pPr>
            <a:r>
              <a:rPr lang="en-US" sz="1000" dirty="0">
                <a:solidFill>
                  <a:srgbClr val="1E293B"/>
                </a:solidFill>
              </a:rPr>
              <a:t>5. No access to internal GPS or delay logs from MahaMetro</a:t>
            </a:r>
            <a:endParaRPr lang="en-US" sz="1000" dirty="0"/>
          </a:p>
        </p:txBody>
      </p:sp>
      <p:sp>
        <p:nvSpPr>
          <p:cNvPr id="15" name="Text 13"/>
          <p:cNvSpPr/>
          <p:nvPr/>
        </p:nvSpPr>
        <p:spPr>
          <a:xfrm>
            <a:off x="4846320" y="914400"/>
            <a:ext cx="3931920" cy="320040"/>
          </a:xfrm>
          <a:prstGeom prst="rect">
            <a:avLst/>
          </a:prstGeom>
          <a:noFill/>
        </p:spPr>
        <p:txBody>
          <a:bodyPr wrap="square" rtlCol="0" anchor="ctr"/>
          <a:lstStyle/>
          <a:p>
            <a:pPr marL="0" indent="0">
              <a:buNone/>
            </a:pPr>
            <a:r>
              <a:rPr lang="en-US" sz="1300" b="1" dirty="0">
                <a:solidFill>
                  <a:srgbClr val="0D1B2A"/>
                </a:solidFill>
              </a:rPr>
              <a:t>Where To Take This Research Next</a:t>
            </a:r>
            <a:endParaRPr lang="en-US" sz="1300" dirty="0"/>
          </a:p>
        </p:txBody>
      </p:sp>
      <p:sp>
        <p:nvSpPr>
          <p:cNvPr id="16" name="Shape 14"/>
          <p:cNvSpPr/>
          <p:nvPr/>
        </p:nvSpPr>
        <p:spPr>
          <a:xfrm>
            <a:off x="4846320" y="1298448"/>
            <a:ext cx="3931920" cy="713232"/>
          </a:xfrm>
          <a:prstGeom prst="rect">
            <a:avLst/>
          </a:prstGeom>
          <a:solidFill>
            <a:srgbClr val="FFFFFF"/>
          </a:solidFill>
          <a:ln w="12700">
            <a:solidFill>
              <a:srgbClr val="D6EAF8"/>
            </a:solidFill>
            <a:prstDash val="solid"/>
          </a:ln>
        </p:spPr>
      </p:sp>
      <p:sp>
        <p:nvSpPr>
          <p:cNvPr id="17" name="Text 15"/>
          <p:cNvSpPr/>
          <p:nvPr/>
        </p:nvSpPr>
        <p:spPr>
          <a:xfrm>
            <a:off x="4937760" y="1325880"/>
            <a:ext cx="3749040" cy="274320"/>
          </a:xfrm>
          <a:prstGeom prst="rect">
            <a:avLst/>
          </a:prstGeom>
          <a:noFill/>
        </p:spPr>
        <p:txBody>
          <a:bodyPr wrap="square" rtlCol="0" anchor="ctr"/>
          <a:lstStyle/>
          <a:p>
            <a:pPr marL="0" indent="0">
              <a:buNone/>
            </a:pPr>
            <a:r>
              <a:rPr lang="en-US" sz="1100" b="1" dirty="0">
                <a:solidFill>
                  <a:srgbClr val="1A7FAD"/>
                </a:solidFill>
              </a:rPr>
              <a:t>Longitudinal Study</a:t>
            </a:r>
            <a:endParaRPr lang="en-US" sz="1100" dirty="0"/>
          </a:p>
        </p:txBody>
      </p:sp>
      <p:sp>
        <p:nvSpPr>
          <p:cNvPr id="18" name="Text 16"/>
          <p:cNvSpPr/>
          <p:nvPr/>
        </p:nvSpPr>
        <p:spPr>
          <a:xfrm>
            <a:off x="4937760" y="1618488"/>
            <a:ext cx="3749040" cy="347472"/>
          </a:xfrm>
          <a:prstGeom prst="rect">
            <a:avLst/>
          </a:prstGeom>
          <a:noFill/>
        </p:spPr>
        <p:txBody>
          <a:bodyPr wrap="square" rtlCol="0" anchor="ctr"/>
          <a:lstStyle/>
          <a:p>
            <a:pPr marL="0" indent="0">
              <a:buNone/>
            </a:pPr>
            <a:r>
              <a:rPr lang="en-US" sz="1000" dirty="0">
                <a:solidFill>
                  <a:srgbClr val="1E293B"/>
                </a:solidFill>
              </a:rPr>
              <a:t>Track same commuters over 2–3 years to measure improvement with Phase 3 expansion</a:t>
            </a:r>
            <a:endParaRPr lang="en-US" sz="1000" dirty="0"/>
          </a:p>
        </p:txBody>
      </p:sp>
      <p:sp>
        <p:nvSpPr>
          <p:cNvPr id="19" name="Shape 17"/>
          <p:cNvSpPr/>
          <p:nvPr/>
        </p:nvSpPr>
        <p:spPr>
          <a:xfrm>
            <a:off x="4846320" y="2121408"/>
            <a:ext cx="3931920" cy="713232"/>
          </a:xfrm>
          <a:prstGeom prst="rect">
            <a:avLst/>
          </a:prstGeom>
          <a:solidFill>
            <a:srgbClr val="FFFFFF"/>
          </a:solidFill>
          <a:ln w="12700">
            <a:solidFill>
              <a:srgbClr val="D6EAF8"/>
            </a:solidFill>
            <a:prstDash val="solid"/>
          </a:ln>
        </p:spPr>
      </p:sp>
      <p:sp>
        <p:nvSpPr>
          <p:cNvPr id="20" name="Text 18"/>
          <p:cNvSpPr/>
          <p:nvPr/>
        </p:nvSpPr>
        <p:spPr>
          <a:xfrm>
            <a:off x="4937760" y="2148840"/>
            <a:ext cx="3749040" cy="274320"/>
          </a:xfrm>
          <a:prstGeom prst="rect">
            <a:avLst/>
          </a:prstGeom>
          <a:noFill/>
        </p:spPr>
        <p:txBody>
          <a:bodyPr wrap="square" rtlCol="0" anchor="ctr"/>
          <a:lstStyle/>
          <a:p>
            <a:pPr marL="0" indent="0">
              <a:buNone/>
            </a:pPr>
            <a:r>
              <a:rPr lang="en-US" sz="1100" b="1" dirty="0">
                <a:solidFill>
                  <a:srgbClr val="1A7FAD"/>
                </a:solidFill>
              </a:rPr>
              <a:t>Multi-City Comparison</a:t>
            </a:r>
            <a:endParaRPr lang="en-US" sz="1100" dirty="0"/>
          </a:p>
        </p:txBody>
      </p:sp>
      <p:sp>
        <p:nvSpPr>
          <p:cNvPr id="21" name="Text 19"/>
          <p:cNvSpPr/>
          <p:nvPr/>
        </p:nvSpPr>
        <p:spPr>
          <a:xfrm>
            <a:off x="4937760" y="2441448"/>
            <a:ext cx="3749040" cy="347472"/>
          </a:xfrm>
          <a:prstGeom prst="rect">
            <a:avLst/>
          </a:prstGeom>
          <a:noFill/>
        </p:spPr>
        <p:txBody>
          <a:bodyPr wrap="square" rtlCol="0" anchor="ctr"/>
          <a:lstStyle/>
          <a:p>
            <a:pPr marL="0" indent="0">
              <a:buNone/>
            </a:pPr>
            <a:r>
              <a:rPr lang="en-US" sz="1000" dirty="0">
                <a:solidFill>
                  <a:srgbClr val="1E293B"/>
                </a:solidFill>
              </a:rPr>
              <a:t>Compare Nagpur with Pune, Lucknow &amp; Bhopal — identify best practices across Tier-2 metros</a:t>
            </a:r>
            <a:endParaRPr lang="en-US" sz="1000" dirty="0"/>
          </a:p>
        </p:txBody>
      </p:sp>
      <p:sp>
        <p:nvSpPr>
          <p:cNvPr id="22" name="Shape 20"/>
          <p:cNvSpPr/>
          <p:nvPr/>
        </p:nvSpPr>
        <p:spPr>
          <a:xfrm>
            <a:off x="4846320" y="2944368"/>
            <a:ext cx="3931920" cy="713232"/>
          </a:xfrm>
          <a:prstGeom prst="rect">
            <a:avLst/>
          </a:prstGeom>
          <a:solidFill>
            <a:srgbClr val="FFFFFF"/>
          </a:solidFill>
          <a:ln w="12700">
            <a:solidFill>
              <a:srgbClr val="D6EAF8"/>
            </a:solidFill>
            <a:prstDash val="solid"/>
          </a:ln>
        </p:spPr>
      </p:sp>
      <p:sp>
        <p:nvSpPr>
          <p:cNvPr id="23" name="Text 21"/>
          <p:cNvSpPr/>
          <p:nvPr/>
        </p:nvSpPr>
        <p:spPr>
          <a:xfrm>
            <a:off x="4937760" y="2971800"/>
            <a:ext cx="3749040" cy="274320"/>
          </a:xfrm>
          <a:prstGeom prst="rect">
            <a:avLst/>
          </a:prstGeom>
          <a:noFill/>
        </p:spPr>
        <p:txBody>
          <a:bodyPr wrap="square" rtlCol="0" anchor="ctr"/>
          <a:lstStyle/>
          <a:p>
            <a:pPr marL="0" indent="0">
              <a:buNone/>
            </a:pPr>
            <a:r>
              <a:rPr lang="en-US" sz="1100" b="1" dirty="0">
                <a:solidFill>
                  <a:srgbClr val="1A7FAD"/>
                </a:solidFill>
              </a:rPr>
              <a:t>Regression Analysis</a:t>
            </a:r>
            <a:endParaRPr lang="en-US" sz="1100" dirty="0"/>
          </a:p>
        </p:txBody>
      </p:sp>
      <p:sp>
        <p:nvSpPr>
          <p:cNvPr id="24" name="Text 22"/>
          <p:cNvSpPr/>
          <p:nvPr/>
        </p:nvSpPr>
        <p:spPr>
          <a:xfrm>
            <a:off x="4937760" y="3264408"/>
            <a:ext cx="3749040" cy="347472"/>
          </a:xfrm>
          <a:prstGeom prst="rect">
            <a:avLst/>
          </a:prstGeom>
          <a:noFill/>
        </p:spPr>
        <p:txBody>
          <a:bodyPr wrap="square" rtlCol="0" anchor="ctr"/>
          <a:lstStyle/>
          <a:p>
            <a:pPr marL="0" indent="0">
              <a:buNone/>
            </a:pPr>
            <a:r>
              <a:rPr lang="en-US" sz="1000" dirty="0">
                <a:solidFill>
                  <a:srgbClr val="1E293B"/>
                </a:solidFill>
              </a:rPr>
              <a:t>Find which factor drives satisfaction most — punctuality, staff, cleanliness, or fare?</a:t>
            </a:r>
            <a:endParaRPr lang="en-US" sz="1000" dirty="0"/>
          </a:p>
        </p:txBody>
      </p:sp>
      <p:sp>
        <p:nvSpPr>
          <p:cNvPr id="25" name="Shape 23"/>
          <p:cNvSpPr/>
          <p:nvPr/>
        </p:nvSpPr>
        <p:spPr>
          <a:xfrm>
            <a:off x="4846320" y="3767328"/>
            <a:ext cx="3931920" cy="713232"/>
          </a:xfrm>
          <a:prstGeom prst="rect">
            <a:avLst/>
          </a:prstGeom>
          <a:solidFill>
            <a:srgbClr val="FFFFFF"/>
          </a:solidFill>
          <a:ln w="12700">
            <a:solidFill>
              <a:srgbClr val="D6EAF8"/>
            </a:solidFill>
            <a:prstDash val="solid"/>
          </a:ln>
        </p:spPr>
      </p:sp>
      <p:sp>
        <p:nvSpPr>
          <p:cNvPr id="26" name="Text 24"/>
          <p:cNvSpPr/>
          <p:nvPr/>
        </p:nvSpPr>
        <p:spPr>
          <a:xfrm>
            <a:off x="4937760" y="3794760"/>
            <a:ext cx="3749040" cy="274320"/>
          </a:xfrm>
          <a:prstGeom prst="rect">
            <a:avLst/>
          </a:prstGeom>
          <a:noFill/>
        </p:spPr>
        <p:txBody>
          <a:bodyPr wrap="square" rtlCol="0" anchor="ctr"/>
          <a:lstStyle/>
          <a:p>
            <a:pPr marL="0" indent="0">
              <a:buNone/>
            </a:pPr>
            <a:r>
              <a:rPr lang="en-US" sz="1100" b="1" dirty="0">
                <a:solidFill>
                  <a:srgbClr val="1A7FAD"/>
                </a:solidFill>
              </a:rPr>
              <a:t>ML Delay Prediction</a:t>
            </a:r>
            <a:endParaRPr lang="en-US" sz="1100" dirty="0"/>
          </a:p>
        </p:txBody>
      </p:sp>
      <p:sp>
        <p:nvSpPr>
          <p:cNvPr id="27" name="Text 25"/>
          <p:cNvSpPr/>
          <p:nvPr/>
        </p:nvSpPr>
        <p:spPr>
          <a:xfrm>
            <a:off x="4937760" y="4087368"/>
            <a:ext cx="3749040" cy="347472"/>
          </a:xfrm>
          <a:prstGeom prst="rect">
            <a:avLst/>
          </a:prstGeom>
          <a:noFill/>
        </p:spPr>
        <p:txBody>
          <a:bodyPr wrap="square" rtlCol="0" anchor="ctr"/>
          <a:lstStyle/>
          <a:p>
            <a:pPr marL="0" indent="0">
              <a:buNone/>
            </a:pPr>
            <a:r>
              <a:rPr lang="en-US" sz="1000" dirty="0">
                <a:solidFill>
                  <a:srgbClr val="1E293B"/>
                </a:solidFill>
              </a:rPr>
              <a:t>Machine learning models to predict delays using historical data, weather &amp; event triggers</a:t>
            </a:r>
            <a:endParaRPr lang="en-US" sz="1000" dirty="0"/>
          </a:p>
        </p:txBody>
      </p:sp>
      <p:sp>
        <p:nvSpPr>
          <p:cNvPr id="28" name="Shape 26"/>
          <p:cNvSpPr/>
          <p:nvPr/>
        </p:nvSpPr>
        <p:spPr>
          <a:xfrm>
            <a:off x="0" y="4800600"/>
            <a:ext cx="9144000" cy="342900"/>
          </a:xfrm>
          <a:prstGeom prst="rect">
            <a:avLst/>
          </a:prstGeom>
          <a:solidFill>
            <a:srgbClr val="1A7FAD"/>
          </a:solidFill>
          <a:ln w="12700">
            <a:solidFill>
              <a:srgbClr val="1A7FAD"/>
            </a:solidFill>
            <a:prstDash val="solid"/>
          </a:ln>
        </p:spPr>
      </p:sp>
      <p:sp>
        <p:nvSpPr>
          <p:cNvPr id="29" name="Text 27"/>
          <p:cNvSpPr/>
          <p:nvPr/>
        </p:nvSpPr>
        <p:spPr>
          <a:xfrm>
            <a:off x="365760" y="4828032"/>
            <a:ext cx="8412480" cy="274320"/>
          </a:xfrm>
          <a:prstGeom prst="rect">
            <a:avLst/>
          </a:prstGeom>
          <a:noFill/>
        </p:spPr>
        <p:txBody>
          <a:bodyPr wrap="square" rtlCol="0" anchor="ctr"/>
          <a:lstStyle/>
          <a:p>
            <a:pPr marL="0" indent="0" algn="l">
              <a:buNone/>
            </a:pPr>
            <a:r>
              <a:rPr lang="en-US" sz="1000" dirty="0">
                <a:solidFill>
                  <a:srgbClr val="FFFFFF"/>
                </a:solidFill>
              </a:rPr>
              <a:t>This study is a starting point — not the final word on Nagpur Metro.</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7FAD"/>
          </a:solidFill>
          <a:ln w="12700">
            <a:solidFill>
              <a:srgbClr val="1A7FAD"/>
            </a:solidFill>
            <a:prstDash val="solid"/>
          </a:ln>
        </p:spPr>
      </p:sp>
      <p:sp>
        <p:nvSpPr>
          <p:cNvPr id="3" name="Shape 1"/>
          <p:cNvSpPr/>
          <p:nvPr/>
        </p:nvSpPr>
        <p:spPr>
          <a:xfrm>
            <a:off x="0" y="4114800"/>
            <a:ext cx="9144000" cy="1028700"/>
          </a:xfrm>
          <a:prstGeom prst="rect">
            <a:avLst/>
          </a:prstGeom>
          <a:solidFill>
            <a:srgbClr val="1B2A4A"/>
          </a:solidFill>
          <a:ln w="12700">
            <a:solidFill>
              <a:srgbClr val="1B2A4A"/>
            </a:solidFill>
            <a:prstDash val="solid"/>
          </a:ln>
        </p:spPr>
      </p:sp>
      <p:sp>
        <p:nvSpPr>
          <p:cNvPr id="4" name="Text 2"/>
          <p:cNvSpPr/>
          <p:nvPr/>
        </p:nvSpPr>
        <p:spPr>
          <a:xfrm>
            <a:off x="457200" y="640080"/>
            <a:ext cx="8229600" cy="1097280"/>
          </a:xfrm>
          <a:prstGeom prst="rect">
            <a:avLst/>
          </a:prstGeom>
          <a:noFill/>
        </p:spPr>
        <p:txBody>
          <a:bodyPr wrap="square" rtlCol="0" anchor="ctr"/>
          <a:lstStyle/>
          <a:p>
            <a:pPr marL="0" indent="0" algn="l">
              <a:buNone/>
            </a:pPr>
            <a:r>
              <a:rPr lang="en-US" sz="5600" b="1" dirty="0">
                <a:solidFill>
                  <a:srgbClr val="FFFFFF"/>
                </a:solidFill>
              </a:rPr>
              <a:t>Thank You</a:t>
            </a:r>
            <a:endParaRPr lang="en-US" sz="5600" dirty="0"/>
          </a:p>
        </p:txBody>
      </p:sp>
      <p:sp>
        <p:nvSpPr>
          <p:cNvPr id="5" name="Text 3"/>
          <p:cNvSpPr/>
          <p:nvPr/>
        </p:nvSpPr>
        <p:spPr>
          <a:xfrm>
            <a:off x="457200" y="1691640"/>
            <a:ext cx="8229600" cy="411480"/>
          </a:xfrm>
          <a:prstGeom prst="rect">
            <a:avLst/>
          </a:prstGeom>
          <a:noFill/>
        </p:spPr>
        <p:txBody>
          <a:bodyPr wrap="square" rtlCol="0" anchor="ctr"/>
          <a:lstStyle/>
          <a:p>
            <a:pPr marL="0" indent="0" algn="l">
              <a:buNone/>
            </a:pPr>
            <a:r>
              <a:rPr lang="en-US" sz="1400" dirty="0">
                <a:solidFill>
                  <a:srgbClr val="2EB8E6"/>
                </a:solidFill>
              </a:rPr>
              <a:t>A Study on Punctuality, Commuter Perception &amp; Urban Mobility</a:t>
            </a:r>
            <a:endParaRPr lang="en-US" sz="1400" dirty="0"/>
          </a:p>
        </p:txBody>
      </p:sp>
      <p:sp>
        <p:nvSpPr>
          <p:cNvPr id="6" name="Text 4"/>
          <p:cNvSpPr/>
          <p:nvPr/>
        </p:nvSpPr>
        <p:spPr>
          <a:xfrm>
            <a:off x="457200" y="2103120"/>
            <a:ext cx="4572000" cy="320040"/>
          </a:xfrm>
          <a:prstGeom prst="rect">
            <a:avLst/>
          </a:prstGeom>
          <a:noFill/>
        </p:spPr>
        <p:txBody>
          <a:bodyPr wrap="square" rtlCol="0" anchor="ctr"/>
          <a:lstStyle/>
          <a:p>
            <a:pPr marL="0" indent="0" algn="l">
              <a:buNone/>
            </a:pPr>
            <a:r>
              <a:rPr lang="en-US" sz="1300" b="1" dirty="0">
                <a:solidFill>
                  <a:srgbClr val="E8873A"/>
                </a:solidFill>
              </a:rPr>
              <a:t>Focus: Nagpur Metro Rail</a:t>
            </a:r>
            <a:endParaRPr lang="en-US" sz="1300" dirty="0"/>
          </a:p>
        </p:txBody>
      </p:sp>
      <p:sp>
        <p:nvSpPr>
          <p:cNvPr id="7" name="Text 5"/>
          <p:cNvSpPr/>
          <p:nvPr/>
        </p:nvSpPr>
        <p:spPr>
          <a:xfrm>
            <a:off x="457200" y="2697480"/>
            <a:ext cx="8229600" cy="320040"/>
          </a:xfrm>
          <a:prstGeom prst="rect">
            <a:avLst/>
          </a:prstGeom>
          <a:noFill/>
        </p:spPr>
        <p:txBody>
          <a:bodyPr wrap="square" rtlCol="0" anchor="ctr"/>
          <a:lstStyle/>
          <a:p>
            <a:pPr marL="0" indent="0" algn="l">
              <a:buNone/>
            </a:pPr>
            <a:r>
              <a:rPr lang="en-US" sz="1200" dirty="0">
                <a:solidFill>
                  <a:srgbClr val="FFFFFF"/>
                </a:solidFill>
              </a:rPr>
              <a:t>  Farhin Baig  </a:t>
            </a:r>
            <a:endParaRPr lang="en-US" sz="1200" dirty="0"/>
          </a:p>
        </p:txBody>
      </p:sp>
      <p:sp>
        <p:nvSpPr>
          <p:cNvPr id="8" name="Text 6"/>
          <p:cNvSpPr/>
          <p:nvPr/>
        </p:nvSpPr>
        <p:spPr>
          <a:xfrm>
            <a:off x="457200" y="3017520"/>
            <a:ext cx="8229600" cy="274320"/>
          </a:xfrm>
          <a:prstGeom prst="rect">
            <a:avLst/>
          </a:prstGeom>
          <a:noFill/>
        </p:spPr>
        <p:txBody>
          <a:bodyPr wrap="square" rtlCol="0" anchor="ctr"/>
          <a:lstStyle/>
          <a:p>
            <a:pPr marL="0" indent="0" algn="l">
              <a:buNone/>
            </a:pPr>
            <a:r>
              <a:rPr lang="en-US" sz="1100" dirty="0">
                <a:solidFill>
                  <a:srgbClr val="94A3B8"/>
                </a:solidFill>
              </a:rPr>
              <a:t>B.Sc. Statistics — Semester IV  |  Guide: Dr. Preeti Singh</a:t>
            </a:r>
            <a:endParaRPr lang="en-US" sz="1100" dirty="0"/>
          </a:p>
        </p:txBody>
      </p:sp>
      <p:sp>
        <p:nvSpPr>
          <p:cNvPr id="9" name="Text 7"/>
          <p:cNvSpPr/>
          <p:nvPr/>
        </p:nvSpPr>
        <p:spPr>
          <a:xfrm>
            <a:off x="457200" y="4160520"/>
            <a:ext cx="8229600" cy="274320"/>
          </a:xfrm>
          <a:prstGeom prst="rect">
            <a:avLst/>
          </a:prstGeom>
          <a:noFill/>
        </p:spPr>
        <p:txBody>
          <a:bodyPr wrap="square" rtlCol="0" anchor="ctr"/>
          <a:lstStyle/>
          <a:p>
            <a:pPr marL="0" indent="0" algn="l">
              <a:buNone/>
            </a:pPr>
            <a:r>
              <a:rPr lang="en-US" sz="1000" dirty="0">
                <a:solidFill>
                  <a:srgbClr val="94A3B8"/>
                </a:solidFill>
              </a:rPr>
              <a:t>Department of Statistics  |  Institute of Science, Nagpur  |  2025–26</a:t>
            </a:r>
            <a:endParaRPr lang="en-US" sz="1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12149</Words>
  <Application>WPS Presentation</Application>
  <PresentationFormat>On-screen Show (16:9)</PresentationFormat>
  <Paragraphs>525</Paragraphs>
  <Slides>24</Slides>
  <Notes>19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Arial</vt:lpstr>
      <vt:lpstr>SimSun</vt:lpstr>
      <vt:lpstr>Wingdings</vt:lpstr>
      <vt:lpstr>Tw Cen MT</vt:lpstr>
      <vt:lpstr>Wingdings 3</vt:lpstr>
      <vt:lpstr>Microsoft YaHei</vt:lpstr>
      <vt:lpstr>Arial Unicode MS</vt:lpstr>
      <vt:lpstr>Tw Cen MT Condensed</vt:lpstr>
      <vt:lpstr>Calibri</vt:lpstr>
      <vt:lpstr>Arial</vt:lpstr>
      <vt:lpstr>MS PGothic</vt:lpstr>
      <vt:lpstr>Integral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Data analysis</vt:lpstr>
      <vt:lpstr>PowerPoint 演示文稿</vt:lpstr>
      <vt:lpstr>INTERPRETATION: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 Punctuality Study - Nagpur Metro</dc:title>
  <dc:creator>PptxGenJS</dc:creator>
  <dc:subject>PptxGenJS Presentation</dc:subject>
  <cp:lastModifiedBy>faizan baig</cp:lastModifiedBy>
  <cp:revision>21</cp:revision>
  <dcterms:created xsi:type="dcterms:W3CDTF">2026-04-10T12:52:00Z</dcterms:created>
  <dcterms:modified xsi:type="dcterms:W3CDTF">2026-05-11T06:24:31Z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55C14BCCA83D43C989A5F4E015EA3776_12</vt:lpwstr>
  </property>
  <property fmtid="{D5CDD505-2E9C-101B-9397-08002B2CF9AE}" pid="3" name="KSOProductBuildVer">
    <vt:lpwstr>1033-12.1.0.25862</vt:lpwstr>
  </property>
</Properties>
</file>